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4.svg" ContentType="image/svg+xml"/>
  <Override PartName="/ppt/media/image18.svg" ContentType="image/svg+xml"/>
  <Override PartName="/ppt/media/image19.svg" ContentType="image/svg+xml"/>
  <Override PartName="/ppt/media/image2.jpg" ContentType="image/jpg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  <p:sldMasterId id="2147483662" r:id="rId2"/>
    <p:sldMasterId id="2147483660" r:id="rId3"/>
    <p:sldMasterId id="2147483664" r:id="rId4"/>
  </p:sldMasterIdLst>
  <p:notesMasterIdLst>
    <p:notesMasterId r:id="rId22"/>
  </p:notesMasterIdLst>
  <p:sldIdLst>
    <p:sldId id="256" r:id="rId5"/>
    <p:sldId id="585" r:id="rId6"/>
    <p:sldId id="273" r:id="rId7"/>
    <p:sldId id="275" r:id="rId8"/>
    <p:sldId id="590" r:id="rId9"/>
    <p:sldId id="586" r:id="rId10"/>
    <p:sldId id="587" r:id="rId11"/>
    <p:sldId id="588" r:id="rId12"/>
    <p:sldId id="596" r:id="rId13"/>
    <p:sldId id="2147477798" r:id="rId15"/>
    <p:sldId id="2147477797" r:id="rId16"/>
    <p:sldId id="2147477791" r:id="rId17"/>
    <p:sldId id="592" r:id="rId19"/>
    <p:sldId id="597" r:id="rId20"/>
    <p:sldId id="598" r:id="rId21"/>
    <p:sldId id="593" r:id="rId14"/>
  </p:sldIdLst>
  <p:sldSz cx="9144000" cy="6858000" type="screen4x3"/>
  <p:notesSz cx="9939338" cy="6807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6600"/>
    <a:srgbClr val="FF00FF"/>
    <a:srgbClr val="FF99FF"/>
    <a:srgbClr val="00FFFF"/>
    <a:srgbClr val="CCFFFF"/>
    <a:srgbClr val="FFFFCC"/>
    <a:srgbClr val="D2F0FE"/>
    <a:srgbClr val="D2EDFE"/>
    <a:srgbClr val="D2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8E2CC8-D62D-4D4E-9DC4-473ED4718860}" v="3" dt="2024-05-16T05:02:35.677"/>
  </p1510:revLst>
</p1510:revInfo>
</file>

<file path=ppt/tableStyles.xml><?xml version="1.0" encoding="utf-8"?>
<a:tblStyleLst xmlns:a="http://schemas.openxmlformats.org/drawingml/2006/main" def="{4E55AC6E-E69D-46E7-A35D-C3CB255F394D}">
  <a:tblStyle styleId="{4E55AC6E-E69D-46E7-A35D-C3CB255F394D}" styleName="Table_0"/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04" autoAdjust="0"/>
    <p:restoredTop sz="87192" autoAdjust="0"/>
  </p:normalViewPr>
  <p:slideViewPr>
    <p:cSldViewPr>
      <p:cViewPr varScale="1">
        <p:scale>
          <a:sx n="110" d="100"/>
          <a:sy n="110" d="100"/>
        </p:scale>
        <p:origin x="201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0" d="100"/>
          <a:sy n="130" d="100"/>
        </p:scale>
        <p:origin x="236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博人 武内" userId="ddc9036651f7ec6c" providerId="LiveId" clId="{9A007108-162D-4DFA-B7AE-55180EFA1112}"/>
    <pc:docChg chg="custSel modSld">
      <pc:chgData name="博人 武内" userId="ddc9036651f7ec6c" providerId="LiveId" clId="{9A007108-162D-4DFA-B7AE-55180EFA1112}" dt="2024-04-02T23:25:27.674" v="18" actId="465"/>
      <pc:docMkLst>
        <pc:docMk/>
      </pc:docMkLst>
      <pc:sldChg chg="delSp modSp mod">
        <pc:chgData name="博人 武内" userId="ddc9036651f7ec6c" providerId="LiveId" clId="{9A007108-162D-4DFA-B7AE-55180EFA1112}" dt="2024-04-02T23:25:27.674" v="18" actId="465"/>
        <pc:sldMkLst>
          <pc:docMk/>
          <pc:sldMk cId="397167448" sldId="487"/>
        </pc:sldMkLst>
        <pc:spChg chg="del">
          <ac:chgData name="博人 武内" userId="ddc9036651f7ec6c" providerId="LiveId" clId="{9A007108-162D-4DFA-B7AE-55180EFA1112}" dt="2024-04-02T23:24:43.311" v="9" actId="478"/>
          <ac:spMkLst>
            <pc:docMk/>
            <pc:sldMk cId="397167448" sldId="487"/>
            <ac:spMk id="2" creationId="{F05D6A01-2038-4DB9-A462-11D9D2EAA445}"/>
          </ac:spMkLst>
        </pc:spChg>
        <pc:spChg chg="mod">
          <ac:chgData name="博人 武内" userId="ddc9036651f7ec6c" providerId="LiveId" clId="{9A007108-162D-4DFA-B7AE-55180EFA1112}" dt="2024-04-02T23:25:02.206" v="16" actId="1036"/>
          <ac:spMkLst>
            <pc:docMk/>
            <pc:sldMk cId="397167448" sldId="487"/>
            <ac:spMk id="3" creationId="{D88F96D0-B75F-257F-8CEA-0B044C064ECB}"/>
          </ac:spMkLst>
        </pc:spChg>
        <pc:spChg chg="mod">
          <ac:chgData name="博人 武内" userId="ddc9036651f7ec6c" providerId="LiveId" clId="{9A007108-162D-4DFA-B7AE-55180EFA1112}" dt="2024-04-02T23:25:21.594" v="17" actId="465"/>
          <ac:spMkLst>
            <pc:docMk/>
            <pc:sldMk cId="397167448" sldId="487"/>
            <ac:spMk id="4" creationId="{1977BF0B-DC5F-C26D-BEE7-DBDCA9362779}"/>
          </ac:spMkLst>
        </pc:spChg>
        <pc:spChg chg="mod">
          <ac:chgData name="博人 武内" userId="ddc9036651f7ec6c" providerId="LiveId" clId="{9A007108-162D-4DFA-B7AE-55180EFA1112}" dt="2024-04-02T23:25:21.594" v="17" actId="465"/>
          <ac:spMkLst>
            <pc:docMk/>
            <pc:sldMk cId="397167448" sldId="487"/>
            <ac:spMk id="7" creationId="{00000000-0000-0000-0000-000000000000}"/>
          </ac:spMkLst>
        </pc:spChg>
        <pc:spChg chg="mod">
          <ac:chgData name="博人 武内" userId="ddc9036651f7ec6c" providerId="LiveId" clId="{9A007108-162D-4DFA-B7AE-55180EFA1112}" dt="2024-04-02T23:25:21.594" v="17" actId="465"/>
          <ac:spMkLst>
            <pc:docMk/>
            <pc:sldMk cId="397167448" sldId="487"/>
            <ac:spMk id="8" creationId="{00000000-0000-0000-0000-000000000000}"/>
          </ac:spMkLst>
        </pc:spChg>
        <pc:spChg chg="mod">
          <ac:chgData name="博人 武内" userId="ddc9036651f7ec6c" providerId="LiveId" clId="{9A007108-162D-4DFA-B7AE-55180EFA1112}" dt="2024-04-02T23:25:02.206" v="16" actId="1036"/>
          <ac:spMkLst>
            <pc:docMk/>
            <pc:sldMk cId="397167448" sldId="487"/>
            <ac:spMk id="9" creationId="{00000000-0000-0000-0000-000000000000}"/>
          </ac:spMkLst>
        </pc:spChg>
        <pc:spChg chg="del">
          <ac:chgData name="博人 武内" userId="ddc9036651f7ec6c" providerId="LiveId" clId="{9A007108-162D-4DFA-B7AE-55180EFA1112}" dt="2024-04-02T23:24:47.146" v="10" actId="478"/>
          <ac:spMkLst>
            <pc:docMk/>
            <pc:sldMk cId="397167448" sldId="487"/>
            <ac:spMk id="10" creationId="{85D80113-0BE7-A8A0-E2F6-3E8BFD0619D3}"/>
          </ac:spMkLst>
        </pc:spChg>
        <pc:spChg chg="mod">
          <ac:chgData name="博人 武内" userId="ddc9036651f7ec6c" providerId="LiveId" clId="{9A007108-162D-4DFA-B7AE-55180EFA1112}" dt="2024-04-02T23:25:27.674" v="18" actId="465"/>
          <ac:spMkLst>
            <pc:docMk/>
            <pc:sldMk cId="397167448" sldId="487"/>
            <ac:spMk id="12" creationId="{00000000-0000-0000-0000-000000000000}"/>
          </ac:spMkLst>
        </pc:spChg>
        <pc:spChg chg="mod">
          <ac:chgData name="博人 武内" userId="ddc9036651f7ec6c" providerId="LiveId" clId="{9A007108-162D-4DFA-B7AE-55180EFA1112}" dt="2024-04-02T23:25:27.674" v="18" actId="465"/>
          <ac:spMkLst>
            <pc:docMk/>
            <pc:sldMk cId="397167448" sldId="487"/>
            <ac:spMk id="13" creationId="{00000000-0000-0000-0000-000000000000}"/>
          </ac:spMkLst>
        </pc:spChg>
        <pc:spChg chg="mod">
          <ac:chgData name="博人 武内" userId="ddc9036651f7ec6c" providerId="LiveId" clId="{9A007108-162D-4DFA-B7AE-55180EFA1112}" dt="2024-04-02T23:25:27.674" v="18" actId="465"/>
          <ac:spMkLst>
            <pc:docMk/>
            <pc:sldMk cId="397167448" sldId="487"/>
            <ac:spMk id="14" creationId="{00000000-0000-0000-0000-000000000000}"/>
          </ac:spMkLst>
        </pc:spChg>
      </pc:sldChg>
    </pc:docChg>
  </pc:docChgLst>
  <pc:docChgLst>
    <pc:chgData name="博人 武内" userId="ddc9036651f7ec6c" providerId="LiveId" clId="{C5B2D186-E378-4B60-A6FB-A3C6FDF7366A}"/>
    <pc:docChg chg="modSld">
      <pc:chgData name="博人 武内" userId="ddc9036651f7ec6c" providerId="LiveId" clId="{C5B2D186-E378-4B60-A6FB-A3C6FDF7366A}" dt="2024-04-11T22:45:23.491" v="2" actId="20577"/>
      <pc:docMkLst>
        <pc:docMk/>
      </pc:docMkLst>
      <pc:sldChg chg="modSp mod">
        <pc:chgData name="博人 武内" userId="ddc9036651f7ec6c" providerId="LiveId" clId="{C5B2D186-E378-4B60-A6FB-A3C6FDF7366A}" dt="2024-04-11T22:45:23.491" v="2" actId="20577"/>
        <pc:sldMkLst>
          <pc:docMk/>
          <pc:sldMk cId="3567826674" sldId="504"/>
        </pc:sldMkLst>
        <pc:spChg chg="mod">
          <ac:chgData name="博人 武内" userId="ddc9036651f7ec6c" providerId="LiveId" clId="{C5B2D186-E378-4B60-A6FB-A3C6FDF7366A}" dt="2024-04-11T22:45:23.491" v="2" actId="20577"/>
          <ac:spMkLst>
            <pc:docMk/>
            <pc:sldMk cId="3567826674" sldId="504"/>
            <ac:spMk id="3" creationId="{00000000-0000-0000-0000-000000000000}"/>
          </ac:spMkLst>
        </pc:spChg>
      </pc:sldChg>
    </pc:docChg>
  </pc:docChgLst>
  <pc:docChgLst>
    <pc:chgData name="博人 武内" userId="ddc9036651f7ec6c" providerId="LiveId" clId="{24D506B8-97FD-4B68-96F2-E284FA93C354}"/>
    <pc:docChg chg="undo custSel addSld delSld modSld sldOrd">
      <pc:chgData name="博人 武内" userId="ddc9036651f7ec6c" providerId="LiveId" clId="{24D506B8-97FD-4B68-96F2-E284FA93C354}" dt="2024-04-01T06:00:45.821" v="1342" actId="20577"/>
      <pc:docMkLst>
        <pc:docMk/>
      </pc:docMkLst>
      <pc:sldChg chg="add">
        <pc:chgData name="博人 武内" userId="ddc9036651f7ec6c" providerId="LiveId" clId="{24D506B8-97FD-4B68-96F2-E284FA93C354}" dt="2024-04-01T01:16:22.471" v="0"/>
        <pc:sldMkLst>
          <pc:docMk/>
          <pc:sldMk cId="274705559" sldId="266"/>
        </pc:sldMkLst>
      </pc:sldChg>
      <pc:sldChg chg="add">
        <pc:chgData name="博人 武内" userId="ddc9036651f7ec6c" providerId="LiveId" clId="{24D506B8-97FD-4B68-96F2-E284FA93C354}" dt="2024-04-01T01:16:22.471" v="0"/>
        <pc:sldMkLst>
          <pc:docMk/>
          <pc:sldMk cId="1812304109" sldId="440"/>
        </pc:sldMkLst>
      </pc:sldChg>
      <pc:sldChg chg="add">
        <pc:chgData name="博人 武内" userId="ddc9036651f7ec6c" providerId="LiveId" clId="{24D506B8-97FD-4B68-96F2-E284FA93C354}" dt="2024-04-01T01:16:22.471" v="0"/>
        <pc:sldMkLst>
          <pc:docMk/>
          <pc:sldMk cId="192769433" sldId="441"/>
        </pc:sldMkLst>
      </pc:sldChg>
      <pc:sldChg chg="del">
        <pc:chgData name="博人 武内" userId="ddc9036651f7ec6c" providerId="LiveId" clId="{24D506B8-97FD-4B68-96F2-E284FA93C354}" dt="2024-04-01T05:48:07.024" v="1067" actId="47"/>
        <pc:sldMkLst>
          <pc:docMk/>
          <pc:sldMk cId="4163154950" sldId="443"/>
        </pc:sldMkLst>
      </pc:sldChg>
      <pc:sldChg chg="add">
        <pc:chgData name="博人 武内" userId="ddc9036651f7ec6c" providerId="LiveId" clId="{24D506B8-97FD-4B68-96F2-E284FA93C354}" dt="2024-04-01T01:16:22.471" v="0"/>
        <pc:sldMkLst>
          <pc:docMk/>
          <pc:sldMk cId="2067038893" sldId="445"/>
        </pc:sldMkLst>
      </pc:sldChg>
      <pc:sldChg chg="add ord">
        <pc:chgData name="博人 武内" userId="ddc9036651f7ec6c" providerId="LiveId" clId="{24D506B8-97FD-4B68-96F2-E284FA93C354}" dt="2024-04-01T05:47:07.248" v="1043"/>
        <pc:sldMkLst>
          <pc:docMk/>
          <pc:sldMk cId="1363475005" sldId="446"/>
        </pc:sldMkLst>
      </pc:sldChg>
      <pc:sldChg chg="add ord">
        <pc:chgData name="博人 武内" userId="ddc9036651f7ec6c" providerId="LiveId" clId="{24D506B8-97FD-4B68-96F2-E284FA93C354}" dt="2024-04-01T05:47:07.248" v="1043"/>
        <pc:sldMkLst>
          <pc:docMk/>
          <pc:sldMk cId="2459836672" sldId="447"/>
        </pc:sldMkLst>
      </pc:sldChg>
      <pc:sldChg chg="delSp modSp add mod">
        <pc:chgData name="博人 武内" userId="ddc9036651f7ec6c" providerId="LiveId" clId="{24D506B8-97FD-4B68-96F2-E284FA93C354}" dt="2024-04-01T02:01:29.376" v="833" actId="1076"/>
        <pc:sldMkLst>
          <pc:docMk/>
          <pc:sldMk cId="3043918628" sldId="462"/>
        </pc:sldMkLst>
        <pc:spChg chg="del">
          <ac:chgData name="博人 武内" userId="ddc9036651f7ec6c" providerId="LiveId" clId="{24D506B8-97FD-4B68-96F2-E284FA93C354}" dt="2024-04-01T01:24:36.886" v="1" actId="478"/>
          <ac:spMkLst>
            <pc:docMk/>
            <pc:sldMk cId="3043918628" sldId="462"/>
            <ac:spMk id="4" creationId="{73EAA742-230C-1627-F1B2-E776C115026E}"/>
          </ac:spMkLst>
        </pc:spChg>
        <pc:picChg chg="mod">
          <ac:chgData name="博人 武内" userId="ddc9036651f7ec6c" providerId="LiveId" clId="{24D506B8-97FD-4B68-96F2-E284FA93C354}" dt="2024-04-01T02:01:29.376" v="833" actId="1076"/>
          <ac:picMkLst>
            <pc:docMk/>
            <pc:sldMk cId="3043918628" sldId="462"/>
            <ac:picMk id="3" creationId="{00000000-0000-0000-0000-000000000000}"/>
          </ac:picMkLst>
        </pc:picChg>
      </pc:sldChg>
      <pc:sldChg chg="delSp add mod">
        <pc:chgData name="博人 武内" userId="ddc9036651f7ec6c" providerId="LiveId" clId="{24D506B8-97FD-4B68-96F2-E284FA93C354}" dt="2024-04-01T01:24:42.892" v="2" actId="478"/>
        <pc:sldMkLst>
          <pc:docMk/>
          <pc:sldMk cId="530840927" sldId="463"/>
        </pc:sldMkLst>
        <pc:spChg chg="del">
          <ac:chgData name="博人 武内" userId="ddc9036651f7ec6c" providerId="LiveId" clId="{24D506B8-97FD-4B68-96F2-E284FA93C354}" dt="2024-04-01T01:24:42.892" v="2" actId="478"/>
          <ac:spMkLst>
            <pc:docMk/>
            <pc:sldMk cId="530840927" sldId="463"/>
            <ac:spMk id="5" creationId="{00000000-0000-0000-0000-000000000000}"/>
          </ac:spMkLst>
        </pc:spChg>
      </pc:sldChg>
      <pc:sldChg chg="add">
        <pc:chgData name="博人 武内" userId="ddc9036651f7ec6c" providerId="LiveId" clId="{24D506B8-97FD-4B68-96F2-E284FA93C354}" dt="2024-04-01T01:16:22.471" v="0"/>
        <pc:sldMkLst>
          <pc:docMk/>
          <pc:sldMk cId="749288056" sldId="464"/>
        </pc:sldMkLst>
      </pc:sldChg>
      <pc:sldChg chg="addSp modSp add mod ord">
        <pc:chgData name="博人 武内" userId="ddc9036651f7ec6c" providerId="LiveId" clId="{24D506B8-97FD-4B68-96F2-E284FA93C354}" dt="2024-04-01T05:48:30.836" v="1071"/>
        <pc:sldMkLst>
          <pc:docMk/>
          <pc:sldMk cId="3970863527" sldId="465"/>
        </pc:sldMkLst>
        <pc:spChg chg="add mod">
          <ac:chgData name="博人 武内" userId="ddc9036651f7ec6c" providerId="LiveId" clId="{24D506B8-97FD-4B68-96F2-E284FA93C354}" dt="2024-04-01T02:02:57.224" v="838" actId="1076"/>
          <ac:spMkLst>
            <pc:docMk/>
            <pc:sldMk cId="3970863527" sldId="465"/>
            <ac:spMk id="3" creationId="{987EB429-BC6A-DB5C-9287-ABB4D323313B}"/>
          </ac:spMkLst>
        </pc:spChg>
      </pc:sldChg>
      <pc:sldChg chg="add">
        <pc:chgData name="博人 武内" userId="ddc9036651f7ec6c" providerId="LiveId" clId="{24D506B8-97FD-4B68-96F2-E284FA93C354}" dt="2024-04-01T01:16:22.471" v="0"/>
        <pc:sldMkLst>
          <pc:docMk/>
          <pc:sldMk cId="1630778423" sldId="471"/>
        </pc:sldMkLst>
      </pc:sldChg>
      <pc:sldChg chg="addSp delSp modSp add mod ord">
        <pc:chgData name="博人 武内" userId="ddc9036651f7ec6c" providerId="LiveId" clId="{24D506B8-97FD-4B68-96F2-E284FA93C354}" dt="2024-04-01T02:06:11.199" v="846" actId="1076"/>
        <pc:sldMkLst>
          <pc:docMk/>
          <pc:sldMk cId="3668664415" sldId="476"/>
        </pc:sldMkLst>
        <pc:spChg chg="add mod">
          <ac:chgData name="博人 武内" userId="ddc9036651f7ec6c" providerId="LiveId" clId="{24D506B8-97FD-4B68-96F2-E284FA93C354}" dt="2024-04-01T02:06:11.199" v="846" actId="1076"/>
          <ac:spMkLst>
            <pc:docMk/>
            <pc:sldMk cId="3668664415" sldId="476"/>
            <ac:spMk id="3" creationId="{0E2EDC82-C11A-DDCD-9C7B-1756F61D03D3}"/>
          </ac:spMkLst>
        </pc:spChg>
        <pc:spChg chg="mod">
          <ac:chgData name="博人 武内" userId="ddc9036651f7ec6c" providerId="LiveId" clId="{24D506B8-97FD-4B68-96F2-E284FA93C354}" dt="2024-04-01T01:47:11.860" v="626" actId="207"/>
          <ac:spMkLst>
            <pc:docMk/>
            <pc:sldMk cId="3668664415" sldId="476"/>
            <ac:spMk id="4" creationId="{00000000-0000-0000-0000-000000000000}"/>
          </ac:spMkLst>
        </pc:spChg>
        <pc:spChg chg="add mod">
          <ac:chgData name="博人 武内" userId="ddc9036651f7ec6c" providerId="LiveId" clId="{24D506B8-97FD-4B68-96F2-E284FA93C354}" dt="2024-04-01T01:50:08.919" v="830" actId="1036"/>
          <ac:spMkLst>
            <pc:docMk/>
            <pc:sldMk cId="3668664415" sldId="476"/>
            <ac:spMk id="6" creationId="{E3762E4D-9498-6E40-4A95-0C4D8A5326A7}"/>
          </ac:spMkLst>
        </pc:spChg>
        <pc:spChg chg="add mod">
          <ac:chgData name="博人 武内" userId="ddc9036651f7ec6c" providerId="LiveId" clId="{24D506B8-97FD-4B68-96F2-E284FA93C354}" dt="2024-04-01T01:50:08.919" v="830" actId="1036"/>
          <ac:spMkLst>
            <pc:docMk/>
            <pc:sldMk cId="3668664415" sldId="476"/>
            <ac:spMk id="7" creationId="{683694BF-F8FD-E0C5-D070-B7CA699212D5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14" creationId="{00000000-0000-0000-0000-000000000000}"/>
          </ac:spMkLst>
        </pc:spChg>
        <pc:spChg chg="del">
          <ac:chgData name="博人 武内" userId="ddc9036651f7ec6c" providerId="LiveId" clId="{24D506B8-97FD-4B68-96F2-E284FA93C354}" dt="2024-04-01T02:04:40.076" v="839" actId="478"/>
          <ac:spMkLst>
            <pc:docMk/>
            <pc:sldMk cId="3668664415" sldId="476"/>
            <ac:spMk id="15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16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17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18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19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20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21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22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23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24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25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26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27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28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29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30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31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32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33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37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40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41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42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43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44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1:39:34.152" v="431" actId="1036"/>
          <ac:spMkLst>
            <pc:docMk/>
            <pc:sldMk cId="3668664415" sldId="476"/>
            <ac:spMk id="45" creationId="{00000000-0000-0000-0000-000000000000}"/>
          </ac:spMkLst>
        </pc:spChg>
      </pc:sldChg>
      <pc:sldChg chg="delSp add mod ord">
        <pc:chgData name="博人 武内" userId="ddc9036651f7ec6c" providerId="LiveId" clId="{24D506B8-97FD-4B68-96F2-E284FA93C354}" dt="2024-04-01T02:04:47.490" v="840" actId="478"/>
        <pc:sldMkLst>
          <pc:docMk/>
          <pc:sldMk cId="3991614317" sldId="479"/>
        </pc:sldMkLst>
        <pc:spChg chg="del">
          <ac:chgData name="博人 武内" userId="ddc9036651f7ec6c" providerId="LiveId" clId="{24D506B8-97FD-4B68-96F2-E284FA93C354}" dt="2024-04-01T02:04:47.490" v="840" actId="478"/>
          <ac:spMkLst>
            <pc:docMk/>
            <pc:sldMk cId="3991614317" sldId="479"/>
            <ac:spMk id="15" creationId="{00000000-0000-0000-0000-000000000000}"/>
          </ac:spMkLst>
        </pc:spChg>
      </pc:sldChg>
      <pc:sldChg chg="addSp modSp add mod">
        <pc:chgData name="博人 武内" userId="ddc9036651f7ec6c" providerId="LiveId" clId="{24D506B8-97FD-4B68-96F2-E284FA93C354}" dt="2024-04-01T06:00:45.821" v="1342" actId="20577"/>
        <pc:sldMkLst>
          <pc:docMk/>
          <pc:sldMk cId="397167448" sldId="487"/>
        </pc:sldMkLst>
        <pc:spChg chg="add mod">
          <ac:chgData name="博人 武内" userId="ddc9036651f7ec6c" providerId="LiveId" clId="{24D506B8-97FD-4B68-96F2-E284FA93C354}" dt="2024-04-01T05:57:03.131" v="1185" actId="1076"/>
          <ac:spMkLst>
            <pc:docMk/>
            <pc:sldMk cId="397167448" sldId="487"/>
            <ac:spMk id="2" creationId="{F05D6A01-2038-4DB9-A462-11D9D2EAA445}"/>
          </ac:spMkLst>
        </pc:spChg>
        <pc:spChg chg="add mod">
          <ac:chgData name="博人 武内" userId="ddc9036651f7ec6c" providerId="LiveId" clId="{24D506B8-97FD-4B68-96F2-E284FA93C354}" dt="2024-04-01T06:00:23.399" v="1340" actId="20577"/>
          <ac:spMkLst>
            <pc:docMk/>
            <pc:sldMk cId="397167448" sldId="487"/>
            <ac:spMk id="3" creationId="{D88F96D0-B75F-257F-8CEA-0B044C064ECB}"/>
          </ac:spMkLst>
        </pc:spChg>
        <pc:spChg chg="add mod">
          <ac:chgData name="博人 武内" userId="ddc9036651f7ec6c" providerId="LiveId" clId="{24D506B8-97FD-4B68-96F2-E284FA93C354}" dt="2024-04-01T05:57:11.170" v="1186" actId="465"/>
          <ac:spMkLst>
            <pc:docMk/>
            <pc:sldMk cId="397167448" sldId="487"/>
            <ac:spMk id="4" creationId="{1977BF0B-DC5F-C26D-BEE7-DBDCA9362779}"/>
          </ac:spMkLst>
        </pc:spChg>
        <pc:spChg chg="mod">
          <ac:chgData name="博人 武内" userId="ddc9036651f7ec6c" providerId="LiveId" clId="{24D506B8-97FD-4B68-96F2-E284FA93C354}" dt="2024-04-01T05:57:03.131" v="1185" actId="1076"/>
          <ac:spMkLst>
            <pc:docMk/>
            <pc:sldMk cId="397167448" sldId="487"/>
            <ac:spMk id="6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5:57:11.170" v="1186" actId="465"/>
          <ac:spMkLst>
            <pc:docMk/>
            <pc:sldMk cId="397167448" sldId="487"/>
            <ac:spMk id="7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5:57:11.170" v="1186" actId="465"/>
          <ac:spMkLst>
            <pc:docMk/>
            <pc:sldMk cId="397167448" sldId="487"/>
            <ac:spMk id="8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5:57:11.170" v="1186" actId="465"/>
          <ac:spMkLst>
            <pc:docMk/>
            <pc:sldMk cId="397167448" sldId="487"/>
            <ac:spMk id="9" creationId="{00000000-0000-0000-0000-000000000000}"/>
          </ac:spMkLst>
        </pc:spChg>
        <pc:spChg chg="add mod">
          <ac:chgData name="博人 武内" userId="ddc9036651f7ec6c" providerId="LiveId" clId="{24D506B8-97FD-4B68-96F2-E284FA93C354}" dt="2024-04-01T06:00:45.821" v="1342" actId="20577"/>
          <ac:spMkLst>
            <pc:docMk/>
            <pc:sldMk cId="397167448" sldId="487"/>
            <ac:spMk id="10" creationId="{85D80113-0BE7-A8A0-E2F6-3E8BFD0619D3}"/>
          </ac:spMkLst>
        </pc:spChg>
        <pc:spChg chg="mod">
          <ac:chgData name="博人 武内" userId="ddc9036651f7ec6c" providerId="LiveId" clId="{24D506B8-97FD-4B68-96F2-E284FA93C354}" dt="2024-04-01T05:56:16.630" v="1180" actId="465"/>
          <ac:spMkLst>
            <pc:docMk/>
            <pc:sldMk cId="397167448" sldId="487"/>
            <ac:spMk id="12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5:56:16.630" v="1180" actId="465"/>
          <ac:spMkLst>
            <pc:docMk/>
            <pc:sldMk cId="397167448" sldId="487"/>
            <ac:spMk id="13" creationId="{00000000-0000-0000-0000-000000000000}"/>
          </ac:spMkLst>
        </pc:spChg>
        <pc:spChg chg="mod">
          <ac:chgData name="博人 武内" userId="ddc9036651f7ec6c" providerId="LiveId" clId="{24D506B8-97FD-4B68-96F2-E284FA93C354}" dt="2024-04-01T05:56:16.630" v="1180" actId="465"/>
          <ac:spMkLst>
            <pc:docMk/>
            <pc:sldMk cId="397167448" sldId="487"/>
            <ac:spMk id="14" creationId="{00000000-0000-0000-0000-000000000000}"/>
          </ac:spMkLst>
        </pc:spChg>
      </pc:sldChg>
      <pc:sldChg chg="add ord">
        <pc:chgData name="博人 武内" userId="ddc9036651f7ec6c" providerId="LiveId" clId="{24D506B8-97FD-4B68-96F2-E284FA93C354}" dt="2024-04-01T05:47:31.367" v="1047"/>
        <pc:sldMkLst>
          <pc:docMk/>
          <pc:sldMk cId="4194319805" sldId="490"/>
        </pc:sldMkLst>
      </pc:sldChg>
      <pc:sldChg chg="add ord">
        <pc:chgData name="博人 武内" userId="ddc9036651f7ec6c" providerId="LiveId" clId="{24D506B8-97FD-4B68-96F2-E284FA93C354}" dt="2024-04-01T05:47:07.248" v="1043"/>
        <pc:sldMkLst>
          <pc:docMk/>
          <pc:sldMk cId="843740388" sldId="491"/>
        </pc:sldMkLst>
      </pc:sldChg>
      <pc:sldChg chg="add">
        <pc:chgData name="博人 武内" userId="ddc9036651f7ec6c" providerId="LiveId" clId="{24D506B8-97FD-4B68-96F2-E284FA93C354}" dt="2024-04-01T01:16:22.471" v="0"/>
        <pc:sldMkLst>
          <pc:docMk/>
          <pc:sldMk cId="2202410500" sldId="493"/>
        </pc:sldMkLst>
      </pc:sldChg>
      <pc:sldChg chg="add">
        <pc:chgData name="博人 武内" userId="ddc9036651f7ec6c" providerId="LiveId" clId="{24D506B8-97FD-4B68-96F2-E284FA93C354}" dt="2024-04-01T01:16:22.471" v="0"/>
        <pc:sldMkLst>
          <pc:docMk/>
          <pc:sldMk cId="2321890018" sldId="494"/>
        </pc:sldMkLst>
      </pc:sldChg>
      <pc:sldChg chg="add">
        <pc:chgData name="博人 武内" userId="ddc9036651f7ec6c" providerId="LiveId" clId="{24D506B8-97FD-4B68-96F2-E284FA93C354}" dt="2024-04-01T01:16:22.471" v="0"/>
        <pc:sldMkLst>
          <pc:docMk/>
          <pc:sldMk cId="1573136316" sldId="495"/>
        </pc:sldMkLst>
      </pc:sldChg>
      <pc:sldChg chg="addSp modSp mod ord">
        <pc:chgData name="博人 武内" userId="ddc9036651f7ec6c" providerId="LiveId" clId="{24D506B8-97FD-4B68-96F2-E284FA93C354}" dt="2024-04-01T05:48:30.836" v="1071"/>
        <pc:sldMkLst>
          <pc:docMk/>
          <pc:sldMk cId="3481101876" sldId="496"/>
        </pc:sldMkLst>
        <pc:spChg chg="add mod">
          <ac:chgData name="博人 武内" userId="ddc9036651f7ec6c" providerId="LiveId" clId="{24D506B8-97FD-4B68-96F2-E284FA93C354}" dt="2024-04-01T02:02:42.923" v="836" actId="14100"/>
          <ac:spMkLst>
            <pc:docMk/>
            <pc:sldMk cId="3481101876" sldId="496"/>
            <ac:spMk id="14" creationId="{3286B9A6-CC67-BA2A-4F6D-F1C5D8B49758}"/>
          </ac:spMkLst>
        </pc:spChg>
      </pc:sldChg>
      <pc:sldChg chg="addSp modSp mod ord">
        <pc:chgData name="博人 武内" userId="ddc9036651f7ec6c" providerId="LiveId" clId="{24D506B8-97FD-4B68-96F2-E284FA93C354}" dt="2024-04-01T01:31:53.757" v="253" actId="1076"/>
        <pc:sldMkLst>
          <pc:docMk/>
          <pc:sldMk cId="3768861967" sldId="499"/>
        </pc:sldMkLst>
        <pc:spChg chg="add mod">
          <ac:chgData name="博人 武内" userId="ddc9036651f7ec6c" providerId="LiveId" clId="{24D506B8-97FD-4B68-96F2-E284FA93C354}" dt="2024-04-01T01:31:53.757" v="253" actId="1076"/>
          <ac:spMkLst>
            <pc:docMk/>
            <pc:sldMk cId="3768861967" sldId="499"/>
            <ac:spMk id="12" creationId="{2185192E-B6EE-9B3A-27FD-F1BC558AF067}"/>
          </ac:spMkLst>
        </pc:spChg>
      </pc:sldChg>
      <pc:sldChg chg="addSp modSp mod ord">
        <pc:chgData name="博人 武内" userId="ddc9036651f7ec6c" providerId="LiveId" clId="{24D506B8-97FD-4B68-96F2-E284FA93C354}" dt="2024-04-01T05:34:25.883" v="939" actId="20577"/>
        <pc:sldMkLst>
          <pc:docMk/>
          <pc:sldMk cId="988903461" sldId="502"/>
        </pc:sldMkLst>
        <pc:spChg chg="add mod">
          <ac:chgData name="博人 武内" userId="ddc9036651f7ec6c" providerId="LiveId" clId="{24D506B8-97FD-4B68-96F2-E284FA93C354}" dt="2024-04-01T05:34:25.883" v="939" actId="20577"/>
          <ac:spMkLst>
            <pc:docMk/>
            <pc:sldMk cId="988903461" sldId="502"/>
            <ac:spMk id="3" creationId="{5DC6E157-AAF5-7E83-9669-ECD22F5B928E}"/>
          </ac:spMkLst>
        </pc:spChg>
      </pc:sldChg>
      <pc:sldChg chg="addSp modSp ord">
        <pc:chgData name="博人 武内" userId="ddc9036651f7ec6c" providerId="LiveId" clId="{24D506B8-97FD-4B68-96F2-E284FA93C354}" dt="2024-04-01T05:36:24.969" v="940"/>
        <pc:sldMkLst>
          <pc:docMk/>
          <pc:sldMk cId="1807073039" sldId="503"/>
        </pc:sldMkLst>
        <pc:spChg chg="add mod">
          <ac:chgData name="博人 武内" userId="ddc9036651f7ec6c" providerId="LiveId" clId="{24D506B8-97FD-4B68-96F2-E284FA93C354}" dt="2024-04-01T05:36:24.969" v="940"/>
          <ac:spMkLst>
            <pc:docMk/>
            <pc:sldMk cId="1807073039" sldId="503"/>
            <ac:spMk id="3" creationId="{759BA213-E190-A97C-E936-CD6EAABCF403}"/>
          </ac:spMkLst>
        </pc:spChg>
      </pc:sldChg>
      <pc:sldChg chg="add">
        <pc:chgData name="博人 武内" userId="ddc9036651f7ec6c" providerId="LiveId" clId="{24D506B8-97FD-4B68-96F2-E284FA93C354}" dt="2024-04-01T01:16:22.471" v="0"/>
        <pc:sldMkLst>
          <pc:docMk/>
          <pc:sldMk cId="3567826674" sldId="504"/>
        </pc:sldMkLst>
      </pc:sldChg>
      <pc:sldChg chg="add">
        <pc:chgData name="博人 武内" userId="ddc9036651f7ec6c" providerId="LiveId" clId="{24D506B8-97FD-4B68-96F2-E284FA93C354}" dt="2024-04-01T01:16:22.471" v="0"/>
        <pc:sldMkLst>
          <pc:docMk/>
          <pc:sldMk cId="2707153866" sldId="505"/>
        </pc:sldMkLst>
      </pc:sldChg>
      <pc:sldChg chg="modSp add mod">
        <pc:chgData name="博人 武内" userId="ddc9036651f7ec6c" providerId="LiveId" clId="{24D506B8-97FD-4B68-96F2-E284FA93C354}" dt="2024-04-01T05:48:03.766" v="1066" actId="6549"/>
        <pc:sldMkLst>
          <pc:docMk/>
          <pc:sldMk cId="807368260" sldId="506"/>
        </pc:sldMkLst>
        <pc:spChg chg="mod">
          <ac:chgData name="博人 武内" userId="ddc9036651f7ec6c" providerId="LiveId" clId="{24D506B8-97FD-4B68-96F2-E284FA93C354}" dt="2024-04-01T05:48:03.766" v="1066" actId="6549"/>
          <ac:spMkLst>
            <pc:docMk/>
            <pc:sldMk cId="807368260" sldId="506"/>
            <ac:spMk id="4" creationId="{00000000-0000-0000-0000-000000000000}"/>
          </ac:spMkLst>
        </pc:spChg>
      </pc:sldChg>
      <pc:sldChg chg="modSp add mod">
        <pc:chgData name="博人 武内" userId="ddc9036651f7ec6c" providerId="LiveId" clId="{24D506B8-97FD-4B68-96F2-E284FA93C354}" dt="2024-04-01T05:58:23.131" v="1234" actId="20577"/>
        <pc:sldMkLst>
          <pc:docMk/>
          <pc:sldMk cId="1600311873" sldId="507"/>
        </pc:sldMkLst>
        <pc:spChg chg="mod">
          <ac:chgData name="博人 武内" userId="ddc9036651f7ec6c" providerId="LiveId" clId="{24D506B8-97FD-4B68-96F2-E284FA93C354}" dt="2024-04-01T05:58:23.131" v="1234" actId="20577"/>
          <ac:spMkLst>
            <pc:docMk/>
            <pc:sldMk cId="1600311873" sldId="507"/>
            <ac:spMk id="4" creationId="{00000000-0000-0000-0000-000000000000}"/>
          </ac:spMkLst>
        </pc:spChg>
      </pc:sldChg>
      <pc:sldChg chg="addSp delSp modSp add mod">
        <pc:chgData name="博人 武内" userId="ddc9036651f7ec6c" providerId="LiveId" clId="{24D506B8-97FD-4B68-96F2-E284FA93C354}" dt="2024-04-01T05:59:50.142" v="1338" actId="14100"/>
        <pc:sldMkLst>
          <pc:docMk/>
          <pc:sldMk cId="2553067286" sldId="508"/>
        </pc:sldMkLst>
        <pc:spChg chg="add mod">
          <ac:chgData name="博人 武内" userId="ddc9036651f7ec6c" providerId="LiveId" clId="{24D506B8-97FD-4B68-96F2-E284FA93C354}" dt="2024-04-01T05:59:50.142" v="1338" actId="14100"/>
          <ac:spMkLst>
            <pc:docMk/>
            <pc:sldMk cId="2553067286" sldId="508"/>
            <ac:spMk id="2" creationId="{DFA0528D-80D4-4078-8FED-708214EB3C27}"/>
          </ac:spMkLst>
        </pc:spChg>
        <pc:spChg chg="del">
          <ac:chgData name="博人 武内" userId="ddc9036651f7ec6c" providerId="LiveId" clId="{24D506B8-97FD-4B68-96F2-E284FA93C354}" dt="2024-04-01T05:58:32.917" v="1236" actId="478"/>
          <ac:spMkLst>
            <pc:docMk/>
            <pc:sldMk cId="2553067286" sldId="508"/>
            <ac:spMk id="4" creationId="{00000000-0000-0000-0000-000000000000}"/>
          </ac:spMkLst>
        </pc:spChg>
        <pc:cxnChg chg="del">
          <ac:chgData name="博人 武内" userId="ddc9036651f7ec6c" providerId="LiveId" clId="{24D506B8-97FD-4B68-96F2-E284FA93C354}" dt="2024-04-01T05:58:35.166" v="1237" actId="478"/>
          <ac:cxnSpMkLst>
            <pc:docMk/>
            <pc:sldMk cId="2553067286" sldId="508"/>
            <ac:cxnSpMk id="3" creationId="{00000000-0000-0000-0000-000000000000}"/>
          </ac:cxnSpMkLst>
        </pc:cxnChg>
      </pc:sldChg>
    </pc:docChg>
  </pc:docChgLst>
  <pc:docChgLst>
    <pc:chgData name="博人 武内" userId="ddc9036651f7ec6c" providerId="LiveId" clId="{618E2CC8-D62D-4D4E-9DC4-473ED4718860}"/>
    <pc:docChg chg="custSel modSld">
      <pc:chgData name="博人 武内" userId="ddc9036651f7ec6c" providerId="LiveId" clId="{618E2CC8-D62D-4D4E-9DC4-473ED4718860}" dt="2024-05-16T05:02:35.677" v="6"/>
      <pc:docMkLst>
        <pc:docMk/>
      </pc:docMkLst>
      <pc:sldChg chg="addSp delSp modSp mod">
        <pc:chgData name="博人 武内" userId="ddc9036651f7ec6c" providerId="LiveId" clId="{618E2CC8-D62D-4D4E-9DC4-473ED4718860}" dt="2024-05-16T05:02:35.677" v="6"/>
        <pc:sldMkLst>
          <pc:docMk/>
          <pc:sldMk cId="2032509901" sldId="498"/>
        </pc:sldMkLst>
        <pc:spChg chg="add mod">
          <ac:chgData name="博人 武内" userId="ddc9036651f7ec6c" providerId="LiveId" clId="{618E2CC8-D62D-4D4E-9DC4-473ED4718860}" dt="2024-05-16T05:02:25.810" v="4"/>
          <ac:spMkLst>
            <pc:docMk/>
            <pc:sldMk cId="2032509901" sldId="498"/>
            <ac:spMk id="28" creationId="{E0FF90B2-662E-5029-63B8-FC554FAEA03D}"/>
          </ac:spMkLst>
        </pc:spChg>
        <pc:spChg chg="add mod">
          <ac:chgData name="博人 武内" userId="ddc9036651f7ec6c" providerId="LiveId" clId="{618E2CC8-D62D-4D4E-9DC4-473ED4718860}" dt="2024-05-16T05:02:35.677" v="6"/>
          <ac:spMkLst>
            <pc:docMk/>
            <pc:sldMk cId="2032509901" sldId="498"/>
            <ac:spMk id="29" creationId="{6C6B88F0-7392-5318-213A-AE5EA63C53B1}"/>
          </ac:spMkLst>
        </pc:spChg>
        <pc:spChg chg="del">
          <ac:chgData name="博人 武内" userId="ddc9036651f7ec6c" providerId="LiveId" clId="{618E2CC8-D62D-4D4E-9DC4-473ED4718860}" dt="2024-05-16T05:02:34.210" v="5" actId="478"/>
          <ac:spMkLst>
            <pc:docMk/>
            <pc:sldMk cId="2032509901" sldId="498"/>
            <ac:spMk id="31" creationId="{C09F1D77-8DBE-C79D-C574-0BF4D8475D28}"/>
          </ac:spMkLst>
        </pc:spChg>
      </pc:sldChg>
      <pc:sldChg chg="modSp mod">
        <pc:chgData name="博人 武内" userId="ddc9036651f7ec6c" providerId="LiveId" clId="{618E2CC8-D62D-4D4E-9DC4-473ED4718860}" dt="2024-05-16T04:59:59.247" v="3" actId="20577"/>
        <pc:sldMkLst>
          <pc:docMk/>
          <pc:sldMk cId="3567826674" sldId="504"/>
        </pc:sldMkLst>
        <pc:spChg chg="mod">
          <ac:chgData name="博人 武内" userId="ddc9036651f7ec6c" providerId="LiveId" clId="{618E2CC8-D62D-4D4E-9DC4-473ED4718860}" dt="2024-05-16T04:59:59.247" v="3" actId="20577"/>
          <ac:spMkLst>
            <pc:docMk/>
            <pc:sldMk cId="3567826674" sldId="504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6888" cy="3397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5630862" y="0"/>
            <a:ext cx="4306887" cy="3397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268663" y="511175"/>
            <a:ext cx="3402011" cy="25511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93775" y="3233738"/>
            <a:ext cx="7951787" cy="30622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6465887"/>
            <a:ext cx="4306888" cy="3397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5630862" y="6465887"/>
            <a:ext cx="4306887" cy="3397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5940425" y="4518025"/>
            <a:ext cx="7202487" cy="254000"/>
          </a:xfrm>
          <a:prstGeom prst="rect">
            <a:avLst/>
          </a:prstGeom>
          <a:noFill/>
          <a:ln>
            <a:noFill/>
          </a:ln>
        </p:spPr>
        <p:txBody>
          <a:bodyPr lIns="95775" tIns="47875" rIns="95775" bIns="478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900" b="1" i="1" u="none" strike="noStrike" cap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２０１３　AEON CREDIT SERVICE CO., LTD. </a:t>
            </a:r>
            <a:r>
              <a:rPr lang="en-US" sz="1000" b="1" i="1" u="none" strike="noStrike" cap="none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Rights Reserved.</a:t>
            </a:r>
          </a:p>
        </p:txBody>
      </p:sp>
      <p:pic>
        <p:nvPicPr>
          <p:cNvPr id="10" name="Shape 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0387" y="4540250"/>
            <a:ext cx="4068761" cy="122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Shape 11"/>
          <p:cNvPicPr preferRelativeResize="0"/>
          <p:nvPr/>
        </p:nvPicPr>
        <p:blipFill rotWithShape="1">
          <a:blip r:embed="rId3">
            <a:alphaModFix/>
          </a:blip>
          <a:srcRect l="10159" t="6736" r="9624" b="13989"/>
          <a:stretch/>
        </p:blipFill>
        <p:spPr>
          <a:xfrm>
            <a:off x="104775" y="4500562"/>
            <a:ext cx="404813" cy="196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663375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/>
        </p:nvSpPr>
        <p:spPr>
          <a:xfrm>
            <a:off x="4427537" y="6629400"/>
            <a:ext cx="269874" cy="212724"/>
          </a:xfrm>
          <a:prstGeom prst="rect">
            <a:avLst/>
          </a:prstGeom>
          <a:solidFill>
            <a:srgbClr val="0081A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/>
        </p:nvSpPr>
        <p:spPr>
          <a:xfrm>
            <a:off x="4427537" y="6629400"/>
            <a:ext cx="269874" cy="212724"/>
          </a:xfrm>
          <a:prstGeom prst="rect">
            <a:avLst/>
          </a:prstGeom>
          <a:solidFill>
            <a:srgbClr val="0081A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9551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307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/>
          <p:cNvSpPr/>
          <p:nvPr/>
        </p:nvSpPr>
        <p:spPr>
          <a:xfrm>
            <a:off x="251778" y="1924105"/>
            <a:ext cx="8640445" cy="2880360"/>
          </a:xfrm>
          <a:custGeom>
            <a:avLst/>
            <a:gdLst/>
            <a:ahLst/>
            <a:cxnLst/>
            <a:rect l="l" t="t" r="r" b="b"/>
            <a:pathLst>
              <a:path w="8640445" h="2880360">
                <a:moveTo>
                  <a:pt x="8439785" y="0"/>
                </a:moveTo>
                <a:lnTo>
                  <a:pt x="200228" y="0"/>
                </a:lnTo>
                <a:lnTo>
                  <a:pt x="154318" y="5288"/>
                </a:lnTo>
                <a:lnTo>
                  <a:pt x="112174" y="20352"/>
                </a:lnTo>
                <a:lnTo>
                  <a:pt x="74997" y="43987"/>
                </a:lnTo>
                <a:lnTo>
                  <a:pt x="43989" y="74988"/>
                </a:lnTo>
                <a:lnTo>
                  <a:pt x="20352" y="112152"/>
                </a:lnTo>
                <a:lnTo>
                  <a:pt x="5288" y="154275"/>
                </a:lnTo>
                <a:lnTo>
                  <a:pt x="0" y="200151"/>
                </a:lnTo>
                <a:lnTo>
                  <a:pt x="0" y="2679700"/>
                </a:lnTo>
                <a:lnTo>
                  <a:pt x="5288" y="2725624"/>
                </a:lnTo>
                <a:lnTo>
                  <a:pt x="20352" y="2767780"/>
                </a:lnTo>
                <a:lnTo>
                  <a:pt x="43989" y="2804966"/>
                </a:lnTo>
                <a:lnTo>
                  <a:pt x="74997" y="2835981"/>
                </a:lnTo>
                <a:lnTo>
                  <a:pt x="112174" y="2859623"/>
                </a:lnTo>
                <a:lnTo>
                  <a:pt x="154318" y="2874689"/>
                </a:lnTo>
                <a:lnTo>
                  <a:pt x="200228" y="2879979"/>
                </a:lnTo>
                <a:lnTo>
                  <a:pt x="8439785" y="2879979"/>
                </a:lnTo>
                <a:lnTo>
                  <a:pt x="8485709" y="2874689"/>
                </a:lnTo>
                <a:lnTo>
                  <a:pt x="8527865" y="2859623"/>
                </a:lnTo>
                <a:lnTo>
                  <a:pt x="8565051" y="2835981"/>
                </a:lnTo>
                <a:lnTo>
                  <a:pt x="8596066" y="2804966"/>
                </a:lnTo>
                <a:lnTo>
                  <a:pt x="8619708" y="2767780"/>
                </a:lnTo>
                <a:lnTo>
                  <a:pt x="8634774" y="2725624"/>
                </a:lnTo>
                <a:lnTo>
                  <a:pt x="8640064" y="2679700"/>
                </a:lnTo>
                <a:lnTo>
                  <a:pt x="8640064" y="200151"/>
                </a:lnTo>
                <a:lnTo>
                  <a:pt x="8634774" y="154275"/>
                </a:lnTo>
                <a:lnTo>
                  <a:pt x="8619708" y="112152"/>
                </a:lnTo>
                <a:lnTo>
                  <a:pt x="8596066" y="74988"/>
                </a:lnTo>
                <a:lnTo>
                  <a:pt x="8565051" y="43987"/>
                </a:lnTo>
                <a:lnTo>
                  <a:pt x="8527865" y="20352"/>
                </a:lnTo>
                <a:lnTo>
                  <a:pt x="8485709" y="5288"/>
                </a:lnTo>
                <a:lnTo>
                  <a:pt x="8439785" y="0"/>
                </a:lnTo>
                <a:close/>
              </a:path>
            </a:pathLst>
          </a:custGeom>
          <a:solidFill>
            <a:srgbClr val="0081AE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8319" y="2417591"/>
            <a:ext cx="107951" cy="1800225"/>
          </a:xfrm>
          <a:custGeom>
            <a:avLst/>
            <a:gdLst/>
            <a:ahLst/>
            <a:cxnLst/>
            <a:rect l="l" t="t" r="r" b="b"/>
            <a:pathLst>
              <a:path w="107950" h="1800225">
                <a:moveTo>
                  <a:pt x="0" y="1799970"/>
                </a:moveTo>
                <a:lnTo>
                  <a:pt x="107950" y="1799970"/>
                </a:lnTo>
                <a:lnTo>
                  <a:pt x="107950" y="0"/>
                </a:lnTo>
                <a:lnTo>
                  <a:pt x="0" y="0"/>
                </a:lnTo>
                <a:lnTo>
                  <a:pt x="0" y="1799970"/>
                </a:lnTo>
                <a:close/>
              </a:path>
            </a:pathLst>
          </a:custGeom>
          <a:solidFill>
            <a:srgbClr val="FFC218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>
          <a:xfrm>
            <a:off x="590201" y="854154"/>
            <a:ext cx="3871039" cy="416799"/>
          </a:xfr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kumimoji="1" lang="ja-JP" altLang="en-US" dirty="0"/>
              <a:t>宛先</a:t>
            </a:r>
          </a:p>
        </p:txBody>
      </p:sp>
      <p:sp>
        <p:nvSpPr>
          <p:cNvPr id="11" name="テキスト プレースホルダー 9"/>
          <p:cNvSpPr>
            <a:spLocks noGrp="1"/>
          </p:cNvSpPr>
          <p:nvPr>
            <p:ph type="body" sz="quarter" idx="13" hasCustomPrompt="1"/>
          </p:nvPr>
        </p:nvSpPr>
        <p:spPr>
          <a:xfrm>
            <a:off x="2464068" y="3191925"/>
            <a:ext cx="4215864" cy="474151"/>
          </a:xfrm>
        </p:spPr>
        <p:txBody>
          <a:bodyPr>
            <a:noAutofit/>
          </a:bodyPr>
          <a:lstStyle>
            <a:lvl1pPr algn="ctr"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12" name="テキスト プレースホルダー 9"/>
          <p:cNvSpPr>
            <a:spLocks noGrp="1"/>
          </p:cNvSpPr>
          <p:nvPr>
            <p:ph type="body" sz="quarter" idx="14" hasCustomPrompt="1"/>
          </p:nvPr>
        </p:nvSpPr>
        <p:spPr>
          <a:xfrm>
            <a:off x="5034013" y="5700562"/>
            <a:ext cx="1126156" cy="308010"/>
          </a:xfrm>
        </p:spPr>
        <p:txBody>
          <a:bodyPr>
            <a:normAutofit/>
          </a:bodyPr>
          <a:lstStyle>
            <a:lvl1pPr>
              <a:defRPr sz="1600" b="1"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 dirty="0"/>
              <a:t>年月日</a:t>
            </a:r>
            <a:endParaRPr kumimoji="1" lang="en-US" altLang="ja-JP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034013" y="6008572"/>
            <a:ext cx="4109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dirty="0"/>
              <a:t>フェリカポケットマーケティング株式会社</a:t>
            </a:r>
          </a:p>
        </p:txBody>
      </p:sp>
      <p:sp>
        <p:nvSpPr>
          <p:cNvPr id="14" name="スライド番号プレースホルダー 1">
            <a:extLst>
              <a:ext uri="{FF2B5EF4-FFF2-40B4-BE49-F238E27FC236}">
                <a16:creationId xmlns:a16="http://schemas.microsoft.com/office/drawing/2014/main" id="{60247623-D83E-4B4E-95F5-A1F8FCA3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60918" y="6617872"/>
            <a:ext cx="422165" cy="240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D3435E88-C311-467F-B5A3-6B95B4FE54D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フッター プレースホルダー 3"/>
          <p:cNvSpPr>
            <a:spLocks noGrp="1"/>
          </p:cNvSpPr>
          <p:nvPr>
            <p:ph type="ftr" sz="quarter" idx="5"/>
          </p:nvPr>
        </p:nvSpPr>
        <p:spPr>
          <a:xfrm>
            <a:off x="6458553" y="6670895"/>
            <a:ext cx="2685447" cy="145540"/>
          </a:xfrm>
          <a:prstGeom prst="rect">
            <a:avLst/>
          </a:prstGeom>
        </p:spPr>
        <p:txBody>
          <a:bodyPr/>
          <a:lstStyle>
            <a:lvl1pPr>
              <a:defRPr sz="700">
                <a:latin typeface="+mn-ea"/>
                <a:ea typeface="+mn-ea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コンテンツ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162" y="125070"/>
            <a:ext cx="7886700" cy="433453"/>
          </a:xfrm>
        </p:spPr>
        <p:txBody>
          <a:bodyPr/>
          <a:lstStyle>
            <a:lvl1pPr>
              <a:defRPr b="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/>
          <p:cNvSpPr>
            <a:spLocks noGrp="1"/>
          </p:cNvSpPr>
          <p:nvPr>
            <p:ph sz="quarter" idx="12"/>
          </p:nvPr>
        </p:nvSpPr>
        <p:spPr>
          <a:xfrm>
            <a:off x="250162" y="901520"/>
            <a:ext cx="8640000" cy="5400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Shape 33">
            <a:extLst>
              <a:ext uri="{FF2B5EF4-FFF2-40B4-BE49-F238E27FC236}">
                <a16:creationId xmlns:a16="http://schemas.microsoft.com/office/drawing/2014/main" id="{AB3F69C7-7DBF-CD65-8AEB-6C59A0D37F6C}"/>
              </a:ext>
            </a:extLst>
          </p:cNvPr>
          <p:cNvSpPr txBox="1"/>
          <p:nvPr userDrawn="1"/>
        </p:nvSpPr>
        <p:spPr>
          <a:xfrm>
            <a:off x="4427537" y="6629400"/>
            <a:ext cx="269874" cy="212724"/>
          </a:xfrm>
          <a:prstGeom prst="rect">
            <a:avLst/>
          </a:prstGeom>
          <a:solidFill>
            <a:srgbClr val="0081A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612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コンテンツ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8794" y="125070"/>
            <a:ext cx="7886700" cy="433453"/>
          </a:xfrm>
        </p:spPr>
        <p:txBody>
          <a:bodyPr/>
          <a:lstStyle>
            <a:lvl1pPr>
              <a:defRPr b="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35E88-C311-467F-B5A3-6B95B4FE54D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/>
          <p:cNvSpPr>
            <a:spLocks noGrp="1"/>
          </p:cNvSpPr>
          <p:nvPr>
            <p:ph sz="quarter" idx="12"/>
          </p:nvPr>
        </p:nvSpPr>
        <p:spPr>
          <a:xfrm>
            <a:off x="258794" y="907805"/>
            <a:ext cx="4320000" cy="5400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1" name="コンテンツ プレースホルダー 7"/>
          <p:cNvSpPr>
            <a:spLocks noGrp="1"/>
          </p:cNvSpPr>
          <p:nvPr>
            <p:ph sz="quarter" idx="13"/>
          </p:nvPr>
        </p:nvSpPr>
        <p:spPr>
          <a:xfrm>
            <a:off x="4742260" y="907805"/>
            <a:ext cx="4320000" cy="5400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038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8788" y="125070"/>
            <a:ext cx="7886700" cy="433453"/>
          </a:xfrm>
        </p:spPr>
        <p:txBody>
          <a:bodyPr/>
          <a:lstStyle>
            <a:lvl1pPr>
              <a:defRPr b="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6213341" y="6660160"/>
            <a:ext cx="2685447" cy="145540"/>
          </a:xfrm>
        </p:spPr>
        <p:txBody>
          <a:bodyPr/>
          <a:lstStyle>
            <a:lvl1pPr>
              <a:defRPr sz="650">
                <a:latin typeface="Cambria" panose="02040503050406030204" pitchFamily="18" charset="0"/>
              </a:defRPr>
            </a:lvl1pPr>
          </a:lstStyle>
          <a:p>
            <a:endParaRPr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2"/>
          </p:nvPr>
        </p:nvSpPr>
        <p:spPr>
          <a:xfrm>
            <a:off x="258788" y="893862"/>
            <a:ext cx="8640000" cy="5400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  <a:endParaRPr kumimoji="1" lang="ja-JP" altLang="en-US" dirty="0"/>
          </a:p>
        </p:txBody>
      </p:sp>
      <p:sp>
        <p:nvSpPr>
          <p:cNvPr id="5" name="Shape 33">
            <a:extLst>
              <a:ext uri="{FF2B5EF4-FFF2-40B4-BE49-F238E27FC236}">
                <a16:creationId xmlns:a16="http://schemas.microsoft.com/office/drawing/2014/main" id="{6A5BBC82-A625-2580-C2C8-DF976FA42232}"/>
              </a:ext>
            </a:extLst>
          </p:cNvPr>
          <p:cNvSpPr txBox="1"/>
          <p:nvPr userDrawn="1"/>
        </p:nvSpPr>
        <p:spPr>
          <a:xfrm>
            <a:off x="4427537" y="6629400"/>
            <a:ext cx="269874" cy="212724"/>
          </a:xfrm>
          <a:prstGeom prst="rect">
            <a:avLst/>
          </a:prstGeom>
          <a:solidFill>
            <a:srgbClr val="0081A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989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162" y="125070"/>
            <a:ext cx="7886700" cy="433453"/>
          </a:xfrm>
        </p:spPr>
        <p:txBody>
          <a:bodyPr/>
          <a:lstStyle>
            <a:lvl1pPr>
              <a:defRPr b="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35E88-C311-467F-B5A3-6B95B4FE54D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グラフ プレースホルダー 5"/>
          <p:cNvSpPr>
            <a:spLocks noGrp="1"/>
          </p:cNvSpPr>
          <p:nvPr>
            <p:ph type="chart" sz="quarter" idx="12"/>
          </p:nvPr>
        </p:nvSpPr>
        <p:spPr>
          <a:xfrm>
            <a:off x="250162" y="899474"/>
            <a:ext cx="8640000" cy="5400000"/>
          </a:xfrm>
        </p:spPr>
        <p:txBody>
          <a:bodyPr/>
          <a:lstStyle/>
          <a:p>
            <a:r>
              <a:rPr kumimoji="1" lang="ja-JP" altLang="en-US"/>
              <a:t>グラフを追加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598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160" y="125070"/>
            <a:ext cx="7886700" cy="433453"/>
          </a:xfrm>
        </p:spPr>
        <p:txBody>
          <a:bodyPr/>
          <a:lstStyle>
            <a:lvl1pPr>
              <a:defRPr b="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35E88-C311-467F-B5A3-6B95B4FE54D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表プレースホルダー 5"/>
          <p:cNvSpPr>
            <a:spLocks noGrp="1"/>
          </p:cNvSpPr>
          <p:nvPr>
            <p:ph type="tbl" sz="quarter" idx="12"/>
          </p:nvPr>
        </p:nvSpPr>
        <p:spPr>
          <a:xfrm>
            <a:off x="250160" y="894359"/>
            <a:ext cx="8640000" cy="5400000"/>
          </a:xfrm>
        </p:spPr>
        <p:txBody>
          <a:bodyPr/>
          <a:lstStyle/>
          <a:p>
            <a:r>
              <a:rPr kumimoji="1" lang="ja-JP" altLang="en-US"/>
              <a:t>表を追加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881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41107" y="6661084"/>
            <a:ext cx="2685447" cy="145540"/>
          </a:xfrm>
        </p:spPr>
        <p:txBody>
          <a:bodyPr/>
          <a:lstStyle>
            <a:lvl1pPr>
              <a:defRPr sz="600">
                <a:latin typeface="Cambria" panose="02040503050406030204" pitchFamily="18" charset="0"/>
                <a:ea typeface="BIZ UDPゴシック" panose="020B04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z="800">
                <a:latin typeface="Times New Roman" panose="02020603050405020304" pitchFamily="18" charset="0"/>
                <a:ea typeface="BIZ UDPゴシック" panose="020B0400000000000000" pitchFamily="50" charset="-128"/>
                <a:cs typeface="Times New Roman" panose="02020603050405020304" pitchFamily="18" charset="0"/>
              </a:defRPr>
            </a:lvl1pPr>
          </a:lstStyle>
          <a:p>
            <a:fld id="{D3435E88-C311-467F-B5A3-6B95B4FE54D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595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/>
        </p:nvSpPr>
        <p:spPr>
          <a:xfrm>
            <a:off x="4427537" y="6629400"/>
            <a:ext cx="269874" cy="212724"/>
          </a:xfrm>
          <a:prstGeom prst="rect">
            <a:avLst/>
          </a:prstGeom>
          <a:solidFill>
            <a:srgbClr val="0081A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2728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787E72A-1F2A-4F3E-8A4F-70C3842BE2F2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9E73BD91-7BD6-4E4F-9DDC-E5B0287096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Shape 33">
            <a:extLst>
              <a:ext uri="{FF2B5EF4-FFF2-40B4-BE49-F238E27FC236}">
                <a16:creationId xmlns:a16="http://schemas.microsoft.com/office/drawing/2014/main" id="{6AD58000-3C49-C43C-A33F-42D04D17CCCC}"/>
              </a:ext>
            </a:extLst>
          </p:cNvPr>
          <p:cNvSpPr txBox="1"/>
          <p:nvPr userDrawn="1"/>
        </p:nvSpPr>
        <p:spPr>
          <a:xfrm>
            <a:off x="4427537" y="6629400"/>
            <a:ext cx="269874" cy="212724"/>
          </a:xfrm>
          <a:prstGeom prst="rect">
            <a:avLst/>
          </a:prstGeom>
          <a:solidFill>
            <a:srgbClr val="0081A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75013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Relationship Id="rId3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4.xml"/><Relationship Id="rId11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hape 18"/>
          <p:cNvGrpSpPr/>
          <p:nvPr userDrawn="1"/>
        </p:nvGrpSpPr>
        <p:grpSpPr>
          <a:xfrm>
            <a:off x="0" y="6381750"/>
            <a:ext cx="9213849" cy="431799"/>
            <a:chOff x="0" y="6381328"/>
            <a:chExt cx="9214592" cy="432162"/>
          </a:xfrm>
        </p:grpSpPr>
        <p:sp>
          <p:nvSpPr>
            <p:cNvPr id="19" name="Shape 19"/>
            <p:cNvSpPr txBox="1"/>
            <p:nvPr/>
          </p:nvSpPr>
          <p:spPr>
            <a:xfrm>
              <a:off x="6479344" y="6613328"/>
              <a:ext cx="2735248" cy="20016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7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© 2026 FeliCa Pocket Marketing Inc. All Rights Reserved.</a:t>
              </a:r>
            </a:p>
          </p:txBody>
        </p:sp>
        <p:cxnSp>
          <p:nvCxnSpPr>
            <p:cNvPr id="20" name="Shape 20"/>
            <p:cNvCxnSpPr/>
            <p:nvPr/>
          </p:nvCxnSpPr>
          <p:spPr>
            <a:xfrm>
              <a:off x="0" y="6381328"/>
              <a:ext cx="1619379" cy="0"/>
            </a:xfrm>
            <a:prstGeom prst="straightConnector1">
              <a:avLst/>
            </a:prstGeom>
            <a:noFill/>
            <a:ln w="15875" cap="flat" cmpd="sng">
              <a:solidFill>
                <a:srgbClr val="0081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Shape 21"/>
            <p:cNvCxnSpPr/>
            <p:nvPr/>
          </p:nvCxnSpPr>
          <p:spPr>
            <a:xfrm>
              <a:off x="1908330" y="6597410"/>
              <a:ext cx="7236408" cy="0"/>
            </a:xfrm>
            <a:prstGeom prst="straightConnector1">
              <a:avLst/>
            </a:prstGeom>
            <a:noFill/>
            <a:ln w="15875" cap="flat" cmpd="sng">
              <a:solidFill>
                <a:srgbClr val="0081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Shape 22"/>
            <p:cNvCxnSpPr/>
            <p:nvPr/>
          </p:nvCxnSpPr>
          <p:spPr>
            <a:xfrm>
              <a:off x="1619380" y="6381328"/>
              <a:ext cx="288948" cy="216080"/>
            </a:xfrm>
            <a:prstGeom prst="straightConnector1">
              <a:avLst/>
            </a:prstGeom>
            <a:noFill/>
            <a:ln w="15875" cap="flat" cmpd="sng">
              <a:solidFill>
                <a:srgbClr val="0081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3" name="Shape 23" descr="FPMロゴ2 (Unicode エンコードの競合).bmp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9511" y="6417378"/>
              <a:ext cx="1360866" cy="3959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Shape 24"/>
          <p:cNvSpPr txBox="1"/>
          <p:nvPr userDrawn="1"/>
        </p:nvSpPr>
        <p:spPr>
          <a:xfrm>
            <a:off x="4427537" y="6629400"/>
            <a:ext cx="269874" cy="212724"/>
          </a:xfrm>
          <a:prstGeom prst="rect">
            <a:avLst/>
          </a:prstGeom>
          <a:solidFill>
            <a:srgbClr val="0081A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&lt;#&gt;</a:t>
            </a:r>
          </a:p>
        </p:txBody>
      </p:sp>
      <p:cxnSp>
        <p:nvCxnSpPr>
          <p:cNvPr id="25" name="Shape 25"/>
          <p:cNvCxnSpPr/>
          <p:nvPr userDrawn="1"/>
        </p:nvCxnSpPr>
        <p:spPr>
          <a:xfrm>
            <a:off x="0" y="548680"/>
            <a:ext cx="9144000" cy="0"/>
          </a:xfrm>
          <a:prstGeom prst="straightConnector1">
            <a:avLst/>
          </a:prstGeom>
          <a:noFill/>
          <a:ln w="31750" cap="flat" cmpd="sng">
            <a:gradFill flip="none" rotWithShape="1">
              <a:gsLst>
                <a:gs pos="0">
                  <a:srgbClr val="0070C0"/>
                </a:gs>
                <a:gs pos="95000">
                  <a:schemeClr val="bg2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タイトル 1"/>
          <p:cNvSpPr txBox="1">
            <a:spLocks/>
          </p:cNvSpPr>
          <p:nvPr userDrawn="1"/>
        </p:nvSpPr>
        <p:spPr bwMode="auto">
          <a:xfrm>
            <a:off x="8027988" y="115888"/>
            <a:ext cx="1008062" cy="2889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p"/>
              <a:defRPr kumimoji="1" sz="2400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p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ja-JP" sz="1050" dirty="0">
                <a:solidFill>
                  <a:srgbClr val="FF33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Confidential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hape 18"/>
          <p:cNvGrpSpPr/>
          <p:nvPr userDrawn="1"/>
        </p:nvGrpSpPr>
        <p:grpSpPr>
          <a:xfrm>
            <a:off x="0" y="6381750"/>
            <a:ext cx="9213849" cy="431799"/>
            <a:chOff x="0" y="6381328"/>
            <a:chExt cx="9214592" cy="432162"/>
          </a:xfrm>
        </p:grpSpPr>
        <p:sp>
          <p:nvSpPr>
            <p:cNvPr id="19" name="Shape 19"/>
            <p:cNvSpPr txBox="1"/>
            <p:nvPr/>
          </p:nvSpPr>
          <p:spPr>
            <a:xfrm>
              <a:off x="6479344" y="6613328"/>
              <a:ext cx="2735248" cy="20016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7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© 2026 FeliCa Pocket Marketing Inc. All Rights Reserved.</a:t>
              </a:r>
            </a:p>
          </p:txBody>
        </p:sp>
        <p:cxnSp>
          <p:nvCxnSpPr>
            <p:cNvPr id="20" name="Shape 20"/>
            <p:cNvCxnSpPr/>
            <p:nvPr/>
          </p:nvCxnSpPr>
          <p:spPr>
            <a:xfrm>
              <a:off x="0" y="6381328"/>
              <a:ext cx="1619379" cy="0"/>
            </a:xfrm>
            <a:prstGeom prst="straightConnector1">
              <a:avLst/>
            </a:prstGeom>
            <a:noFill/>
            <a:ln w="15875" cap="flat" cmpd="sng">
              <a:solidFill>
                <a:srgbClr val="0081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Shape 21"/>
            <p:cNvCxnSpPr/>
            <p:nvPr/>
          </p:nvCxnSpPr>
          <p:spPr>
            <a:xfrm>
              <a:off x="1908330" y="6597410"/>
              <a:ext cx="7236408" cy="0"/>
            </a:xfrm>
            <a:prstGeom prst="straightConnector1">
              <a:avLst/>
            </a:prstGeom>
            <a:noFill/>
            <a:ln w="15875" cap="flat" cmpd="sng">
              <a:solidFill>
                <a:srgbClr val="0081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Shape 22"/>
            <p:cNvCxnSpPr/>
            <p:nvPr/>
          </p:nvCxnSpPr>
          <p:spPr>
            <a:xfrm>
              <a:off x="1619380" y="6381328"/>
              <a:ext cx="288948" cy="216080"/>
            </a:xfrm>
            <a:prstGeom prst="straightConnector1">
              <a:avLst/>
            </a:prstGeom>
            <a:noFill/>
            <a:ln w="15875" cap="flat" cmpd="sng">
              <a:solidFill>
                <a:srgbClr val="0081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3" name="Shape 23" descr="FPMロゴ2 (Unicode エンコードの競合).bmp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9511" y="6417378"/>
              <a:ext cx="1360866" cy="3959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Shape 24"/>
          <p:cNvSpPr txBox="1"/>
          <p:nvPr userDrawn="1"/>
        </p:nvSpPr>
        <p:spPr>
          <a:xfrm>
            <a:off x="4427537" y="6629400"/>
            <a:ext cx="269874" cy="212724"/>
          </a:xfrm>
          <a:prstGeom prst="rect">
            <a:avLst/>
          </a:prstGeom>
          <a:solidFill>
            <a:srgbClr val="0081A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8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&lt;#&gt;</a:t>
            </a:r>
          </a:p>
        </p:txBody>
      </p:sp>
      <p:sp>
        <p:nvSpPr>
          <p:cNvPr id="27" name="タイトル 1"/>
          <p:cNvSpPr txBox="1">
            <a:spLocks/>
          </p:cNvSpPr>
          <p:nvPr userDrawn="1"/>
        </p:nvSpPr>
        <p:spPr bwMode="auto">
          <a:xfrm>
            <a:off x="8027988" y="115888"/>
            <a:ext cx="1008062" cy="2889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p"/>
              <a:defRPr kumimoji="1" sz="2400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p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ja-JP" sz="1050" dirty="0">
                <a:solidFill>
                  <a:srgbClr val="FF33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8133186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/>
          <p:nvPr/>
        </p:nvSpPr>
        <p:spPr>
          <a:xfrm>
            <a:off x="6478822" y="6613555"/>
            <a:ext cx="2735027" cy="1999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2026 FeliCa Pocket Marketing Inc. All Rights Reserved.</a:t>
            </a:r>
          </a:p>
        </p:txBody>
      </p:sp>
      <p:pic>
        <p:nvPicPr>
          <p:cNvPr id="23" name="Shape 23" descr="FPMロゴ2 (Unicode エンコードの競合).b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497" y="6417770"/>
            <a:ext cx="1360756" cy="39566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タイトル 1"/>
          <p:cNvSpPr txBox="1">
            <a:spLocks/>
          </p:cNvSpPr>
          <p:nvPr userDrawn="1"/>
        </p:nvSpPr>
        <p:spPr bwMode="auto">
          <a:xfrm>
            <a:off x="8027988" y="115888"/>
            <a:ext cx="1008062" cy="2889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p"/>
              <a:defRPr kumimoji="1" sz="2400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p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Font typeface="Wingdings" pitchFamily="2" charset="2"/>
              <a:buChar char="n"/>
              <a:defRPr kumimoji="1">
                <a:solidFill>
                  <a:schemeClr val="tx1"/>
                </a:solidFill>
                <a:latin typeface="HGP創英角ｺﾞｼｯｸUB" pitchFamily="50" charset="-128"/>
                <a:ea typeface="ＭＳ Ｐゴシック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ja-JP" sz="1050" dirty="0">
                <a:solidFill>
                  <a:srgbClr val="FF33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175188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k object 17"/>
          <p:cNvSpPr/>
          <p:nvPr/>
        </p:nvSpPr>
        <p:spPr>
          <a:xfrm>
            <a:off x="392112" y="620776"/>
            <a:ext cx="8331834" cy="0"/>
          </a:xfrm>
          <a:custGeom>
            <a:avLst/>
            <a:gdLst/>
            <a:ahLst/>
            <a:cxnLst/>
            <a:rect l="l" t="t" r="r" b="b"/>
            <a:pathLst>
              <a:path w="8331834">
                <a:moveTo>
                  <a:pt x="0" y="0"/>
                </a:moveTo>
                <a:lnTo>
                  <a:pt x="8331263" y="0"/>
                </a:lnTo>
              </a:path>
            </a:pathLst>
          </a:custGeom>
          <a:ln w="3810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5" name="object 3"/>
          <p:cNvSpPr/>
          <p:nvPr/>
        </p:nvSpPr>
        <p:spPr>
          <a:xfrm>
            <a:off x="0" y="6381750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>
                <a:moveTo>
                  <a:pt x="0" y="0"/>
                </a:moveTo>
                <a:lnTo>
                  <a:pt x="1619250" y="0"/>
                </a:lnTo>
              </a:path>
            </a:pathLst>
          </a:custGeom>
          <a:ln w="15875">
            <a:solidFill>
              <a:srgbClr val="0081AE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6" name="object 4"/>
          <p:cNvSpPr/>
          <p:nvPr/>
        </p:nvSpPr>
        <p:spPr>
          <a:xfrm>
            <a:off x="1908178" y="6597650"/>
            <a:ext cx="7235824" cy="0"/>
          </a:xfrm>
          <a:custGeom>
            <a:avLst/>
            <a:gdLst/>
            <a:ahLst/>
            <a:cxnLst/>
            <a:rect l="l" t="t" r="r" b="b"/>
            <a:pathLst>
              <a:path w="7235825">
                <a:moveTo>
                  <a:pt x="0" y="0"/>
                </a:moveTo>
                <a:lnTo>
                  <a:pt x="7235825" y="0"/>
                </a:lnTo>
              </a:path>
            </a:pathLst>
          </a:custGeom>
          <a:ln w="15875">
            <a:solidFill>
              <a:srgbClr val="0081AE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7" name="object 5"/>
          <p:cNvSpPr/>
          <p:nvPr/>
        </p:nvSpPr>
        <p:spPr>
          <a:xfrm>
            <a:off x="1619250" y="6381750"/>
            <a:ext cx="288925" cy="215900"/>
          </a:xfrm>
          <a:custGeom>
            <a:avLst/>
            <a:gdLst/>
            <a:ahLst/>
            <a:cxnLst/>
            <a:rect l="l" t="t" r="r" b="b"/>
            <a:pathLst>
              <a:path w="288925" h="215900">
                <a:moveTo>
                  <a:pt x="0" y="0"/>
                </a:moveTo>
                <a:lnTo>
                  <a:pt x="288925" y="215900"/>
                </a:lnTo>
              </a:path>
            </a:pathLst>
          </a:custGeom>
          <a:ln w="15875">
            <a:solidFill>
              <a:srgbClr val="0081AE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9" name="object 5"/>
          <p:cNvSpPr/>
          <p:nvPr/>
        </p:nvSpPr>
        <p:spPr>
          <a:xfrm>
            <a:off x="8028051" y="115954"/>
            <a:ext cx="1008380" cy="220494"/>
          </a:xfrm>
          <a:custGeom>
            <a:avLst/>
            <a:gdLst/>
            <a:ahLst/>
            <a:cxnLst/>
            <a:rect l="l" t="t" r="r" b="b"/>
            <a:pathLst>
              <a:path w="1008379" h="288925">
                <a:moveTo>
                  <a:pt x="0" y="288925"/>
                </a:moveTo>
                <a:lnTo>
                  <a:pt x="1008062" y="288925"/>
                </a:lnTo>
                <a:lnTo>
                  <a:pt x="1008062" y="0"/>
                </a:lnTo>
                <a:lnTo>
                  <a:pt x="0" y="0"/>
                </a:lnTo>
                <a:lnTo>
                  <a:pt x="0" y="288925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0" name="object 6"/>
          <p:cNvSpPr txBox="1"/>
          <p:nvPr/>
        </p:nvSpPr>
        <p:spPr>
          <a:xfrm>
            <a:off x="8081963" y="167022"/>
            <a:ext cx="90055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sz="9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Ebrima" panose="02000000000000000000" pitchFamily="2" charset="0"/>
              </a:rPr>
              <a:t>Confidential</a:t>
            </a:r>
            <a:endParaRPr kumimoji="1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Ebrima" panose="02000000000000000000" pitchFamily="2" charset="0"/>
            </a:endParaRPr>
          </a:p>
        </p:txBody>
      </p:sp>
      <p:sp>
        <p:nvSpPr>
          <p:cNvPr id="13" name="スライド番号プレースホルダー 1"/>
          <p:cNvSpPr>
            <a:spLocks noGrp="1"/>
          </p:cNvSpPr>
          <p:nvPr>
            <p:ph type="sldNum" sz="quarter" idx="4"/>
          </p:nvPr>
        </p:nvSpPr>
        <p:spPr>
          <a:xfrm>
            <a:off x="4360918" y="6617872"/>
            <a:ext cx="422165" cy="240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Cambria" panose="02040503050406030204" pitchFamily="18" charset="0"/>
                <a:ea typeface="Meiryo UI" panose="020B0604030504040204" pitchFamily="50" charset="-128"/>
              </a:defRPr>
            </a:lvl1pPr>
          </a:lstStyle>
          <a:p>
            <a:fld id="{D3435E88-C311-467F-B5A3-6B95B4FE54D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4" name="object 7"/>
          <p:cNvSpPr/>
          <p:nvPr/>
        </p:nvSpPr>
        <p:spPr>
          <a:xfrm>
            <a:off x="179391" y="6416715"/>
            <a:ext cx="1360424" cy="3968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61625" y="125070"/>
            <a:ext cx="7886700" cy="433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261625" y="905105"/>
            <a:ext cx="8640000" cy="5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6" name="フッター プレースホルダー 3"/>
          <p:cNvSpPr>
            <a:spLocks noGrp="1"/>
          </p:cNvSpPr>
          <p:nvPr>
            <p:ph type="ftr" sz="quarter" idx="5"/>
          </p:nvPr>
        </p:nvSpPr>
        <p:spPr>
          <a:xfrm>
            <a:off x="6297071" y="6660160"/>
            <a:ext cx="2685447" cy="145540"/>
          </a:xfrm>
          <a:prstGeom prst="rect">
            <a:avLst/>
          </a:prstGeom>
        </p:spPr>
        <p:txBody>
          <a:bodyPr anchor="ctr"/>
          <a:lstStyle>
            <a:lvl1pPr>
              <a:defRPr sz="700">
                <a:latin typeface="Cambria" panose="02040503050406030204" pitchFamily="18" charset="0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5136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hf hdr="0" ftr="0"/>
  <p:txStyles>
    <p:titleStyle>
      <a:lvl1pPr eaLnBrk="1" hangingPunct="1">
        <a:defRPr kumimoji="1" sz="2000" b="0"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0" eaLnBrk="1" hangingPunct="1">
        <a:defRPr kumimoji="1" sz="2000"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457200" eaLnBrk="1" hangingPunct="1">
        <a:defRPr kumimoji="1" sz="2000"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14400" eaLnBrk="1" hangingPunct="1">
        <a:defRPr kumimoji="1" sz="2000"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371600" eaLnBrk="1" hangingPunct="1">
        <a:defRPr kumimoji="1" sz="2000"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828800" eaLnBrk="1" hangingPunct="1">
        <a:defRPr kumimoji="1" sz="2000"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286000" eaLnBrk="1" hangingPunct="1">
        <a:defRPr kumimoji="1">
          <a:latin typeface="+mn-lt"/>
          <a:ea typeface="+mn-ea"/>
          <a:cs typeface="+mn-cs"/>
        </a:defRPr>
      </a:lvl6pPr>
      <a:lvl7pPr marL="2743200" eaLnBrk="1" hangingPunct="1">
        <a:defRPr kumimoji="1">
          <a:latin typeface="+mn-lt"/>
          <a:ea typeface="+mn-ea"/>
          <a:cs typeface="+mn-cs"/>
        </a:defRPr>
      </a:lvl7pPr>
      <a:lvl8pPr marL="3200400" eaLnBrk="1" hangingPunct="1">
        <a:defRPr kumimoji="1">
          <a:latin typeface="+mn-lt"/>
          <a:ea typeface="+mn-ea"/>
          <a:cs typeface="+mn-cs"/>
        </a:defRPr>
      </a:lvl8pPr>
      <a:lvl9pPr marL="3657600" eaLnBrk="1" hangingPunct="1">
        <a:defRPr kumimoji="1">
          <a:latin typeface="+mn-lt"/>
          <a:ea typeface="+mn-ea"/>
          <a:cs typeface="+mn-cs"/>
        </a:defRPr>
      </a:lvl9pPr>
    </p:bodyStyle>
    <p:otherStyle>
      <a:lvl1pPr marL="0" eaLnBrk="1" hangingPunct="1">
        <a:defRPr kumimoji="1">
          <a:latin typeface="+mn-lt"/>
          <a:ea typeface="+mn-ea"/>
          <a:cs typeface="+mn-cs"/>
        </a:defRPr>
      </a:lvl1pPr>
      <a:lvl2pPr marL="457200" eaLnBrk="1" hangingPunct="1">
        <a:defRPr kumimoji="1">
          <a:latin typeface="+mn-lt"/>
          <a:ea typeface="+mn-ea"/>
          <a:cs typeface="+mn-cs"/>
        </a:defRPr>
      </a:lvl2pPr>
      <a:lvl3pPr marL="914400" eaLnBrk="1" hangingPunct="1">
        <a:defRPr kumimoji="1">
          <a:latin typeface="+mn-lt"/>
          <a:ea typeface="+mn-ea"/>
          <a:cs typeface="+mn-cs"/>
        </a:defRPr>
      </a:lvl3pPr>
      <a:lvl4pPr marL="1371600" eaLnBrk="1" hangingPunct="1">
        <a:defRPr kumimoji="1">
          <a:latin typeface="+mn-lt"/>
          <a:ea typeface="+mn-ea"/>
          <a:cs typeface="+mn-cs"/>
        </a:defRPr>
      </a:lvl4pPr>
      <a:lvl5pPr marL="1828800" eaLnBrk="1" hangingPunct="1">
        <a:defRPr kumimoji="1">
          <a:latin typeface="+mn-lt"/>
          <a:ea typeface="+mn-ea"/>
          <a:cs typeface="+mn-cs"/>
        </a:defRPr>
      </a:lvl5pPr>
      <a:lvl6pPr marL="2286000" eaLnBrk="1" hangingPunct="1">
        <a:defRPr kumimoji="1">
          <a:latin typeface="+mn-lt"/>
          <a:ea typeface="+mn-ea"/>
          <a:cs typeface="+mn-cs"/>
        </a:defRPr>
      </a:lvl6pPr>
      <a:lvl7pPr marL="2743200" eaLnBrk="1" hangingPunct="1">
        <a:defRPr kumimoji="1">
          <a:latin typeface="+mn-lt"/>
          <a:ea typeface="+mn-ea"/>
          <a:cs typeface="+mn-cs"/>
        </a:defRPr>
      </a:lvl7pPr>
      <a:lvl8pPr marL="3200400" eaLnBrk="1" hangingPunct="1">
        <a:defRPr kumimoji="1">
          <a:latin typeface="+mn-lt"/>
          <a:ea typeface="+mn-ea"/>
          <a:cs typeface="+mn-cs"/>
        </a:defRPr>
      </a:lvl8pPr>
      <a:lvl9pPr marL="3657600" eaLnBrk="1" hangingPunct="1">
        <a:defRPr kumimoji="1"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16.jpg"/><Relationship Id="rId8" Type="http://schemas.openxmlformats.org/officeDocument/2006/relationships/image" Target="../media/image17.png"/><Relationship Id="rId9" Type="http://schemas.openxmlformats.org/officeDocument/2006/relationships/image" Target="../media/image10.png"/><Relationship Id="rId10" Type="http://schemas.openxmlformats.org/officeDocument/2006/relationships/image" Target="../media/image18.svg"/><Relationship Id="rId11" Type="http://schemas.openxmlformats.org/officeDocument/2006/relationships/image" Target="../media/image19.svg"/><Relationship Id="rId12" Type="http://schemas.openxmlformats.org/officeDocument/2006/relationships/image" Target="../media/image20.svg"/><Relationship Id="rId13" Type="http://schemas.openxmlformats.org/officeDocument/2006/relationships/image" Target="../media/image21.svg"/><Relationship Id="rId14" Type="http://schemas.openxmlformats.org/officeDocument/2006/relationships/image" Target="../media/image22.svg"/><Relationship Id="rId15" Type="http://schemas.openxmlformats.org/officeDocument/2006/relationships/image" Target="../media/image23.svg"/><Relationship Id="rId16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0"/>
            <a:ext cx="54864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US" altLang="ja-JP" sz="1600" b="1" dirty="0" err="1">
                <a:latin typeface="Meiryo UI" pitchFamily="34" charset="0"/>
                <a:ea typeface="Meiryo UI" pitchFamily="34" charset="-122"/>
                <a:cs typeface="Meiryo UI" pitchFamily="34" charset="-120"/>
              </a:rPr>
              <a:t>広島市危機管理対策課</a:t>
            </a:r>
            <a:r>
              <a:rPr lang="en-US" altLang="ja-JP" sz="1600" b="1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　</a:t>
            </a:r>
            <a:r>
              <a:rPr lang="en-US" altLang="ja-JP" sz="1600" b="1" dirty="0" err="1">
                <a:latin typeface="Meiryo UI" pitchFamily="34" charset="0"/>
                <a:ea typeface="Meiryo UI" pitchFamily="34" charset="-122"/>
                <a:cs typeface="Meiryo UI" pitchFamily="34" charset="-120"/>
              </a:rPr>
              <a:t>御中</a:t>
            </a:r>
            <a:endParaRPr lang="en-US" altLang="ja-JP" sz="1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56032" y="2462415"/>
            <a:ext cx="8641080" cy="47012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lang="ja-JP" altLang="en-US" sz="2800" dirty="0">
                <a:latin typeface="Meiryo UI"/>
                <a:ea typeface="Meiryo UI"/>
                <a:cs typeface="Meiryo UI"/>
              </a:rPr>
              <a:t>防災アプリ 実装・機能拡張に関するご提案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3352" y="4864608"/>
            <a:ext cx="7059168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2026年8月27日</a:t>
            </a:r>
          </a:p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フェリカポケットマーケティング株式会社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246120"/>
            <a:ext cx="2011680" cy="45720"/>
          </a:xfrm>
          <a:prstGeom prst="rect">
            <a:avLst/>
          </a:prstGeom>
          <a:solidFill>
            <a:srgbClr val="008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429000"/>
            <a:ext cx="7772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0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〜 R9年度「避難所へGo!」同等機能の実装と、その先の機能拡張 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76"/>
          <p:cNvSpPr txBox="1"/>
          <p:nvPr/>
        </p:nvSpPr>
        <p:spPr>
          <a:xfrm>
            <a:off x="269875" y="141288"/>
            <a:ext cx="8874125" cy="346074"/>
          </a:xfrm>
          <a:prstGeom prst="rect">
            <a:avLst/>
          </a:prstGeom>
          <a:noFill/>
          <a:ln>
            <a:noFill/>
          </a:ln>
        </p:spPr>
        <p:txBody>
          <a:bodyPr lIns="72000" tIns="72000" rIns="72000" bIns="720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Tx/>
              <a:buNone/>
              <a:tabLst/>
              <a:defRPr/>
            </a:pP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Arial"/>
              </a:rPr>
              <a:t>本資料の目的とゴール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05959"/>
            <a:ext cx="8595360" cy="360850"/>
          </a:xfrm>
          <a:prstGeom prst="rect">
            <a:avLst/>
          </a:prstGeom>
          <a:noFill/>
        </p:spPr>
        <p:txBody>
          <a:bodyPr wrap="none" lIns="72000" tIns="72000" rIns="72000" bIns="720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防災アプリの実装・機能拡張について、現時点の想定をご提示し、認識合わせをさせていただく。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225296"/>
            <a:ext cx="1783080" cy="731520"/>
          </a:xfrm>
          <a:prstGeom prst="rect">
            <a:avLst/>
          </a:prstGeom>
          <a:solidFill>
            <a:srgbClr val="008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背景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03120" y="1225296"/>
            <a:ext cx="6766560" cy="731520"/>
          </a:xfrm>
          <a:prstGeom prst="rect">
            <a:avLst/>
          </a:prstGeom>
          <a:solidFill>
            <a:srgbClr val="F0F5F7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R8年度はポータルアプリから「避難所へGo!」へのリンク設置。R9年度に同等機能の実装を予定</a:t>
            </a:r>
            <a:endParaRPr kumimoji="0" lang="en-US" altLang="ja-JP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2084831"/>
            <a:ext cx="1783080" cy="731520"/>
          </a:xfrm>
          <a:prstGeom prst="rect">
            <a:avLst/>
          </a:prstGeom>
          <a:solidFill>
            <a:srgbClr val="008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本資料の目的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084831"/>
            <a:ext cx="6766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lvl="0"/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・</a:t>
            </a: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現行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アプリ仕様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と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実装内容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（As-Is / </a:t>
            </a: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To-Be）を可視化し認識を合わせる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lvl="0"/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・将来的な機能拡張の内容と時期について認識を合わせる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9875" y="3059792"/>
            <a:ext cx="3657600" cy="310896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587A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進め方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595" y="3516992"/>
            <a:ext cx="1481328" cy="960120"/>
          </a:xfrm>
          <a:prstGeom prst="rect">
            <a:avLst/>
          </a:prstGeom>
          <a:solidFill>
            <a:srgbClr val="008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①認識合わせ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（本日）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06067" y="3896468"/>
            <a:ext cx="201168" cy="201168"/>
          </a:xfrm>
          <a:prstGeom prst="right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6379" y="3516992"/>
            <a:ext cx="1481328" cy="960120"/>
          </a:xfrm>
          <a:prstGeom prst="rect">
            <a:avLst/>
          </a:prstGeom>
          <a:solidFill>
            <a:srgbClr val="F0F5F7"/>
          </a:solidFill>
          <a:ln w="12700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②確認事項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の回収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06851" y="3896468"/>
            <a:ext cx="201168" cy="201168"/>
          </a:xfrm>
          <a:prstGeom prst="right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17163" y="3516992"/>
            <a:ext cx="1481328" cy="960120"/>
          </a:xfrm>
          <a:prstGeom prst="rect">
            <a:avLst/>
          </a:prstGeom>
          <a:solidFill>
            <a:srgbClr val="F0F5F7"/>
          </a:solidFill>
          <a:ln w="12700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③要求仕様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の確定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07635" y="3896468"/>
            <a:ext cx="201168" cy="201168"/>
          </a:xfrm>
          <a:prstGeom prst="right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17947" y="3516992"/>
            <a:ext cx="1481328" cy="960120"/>
          </a:xfrm>
          <a:prstGeom prst="rect">
            <a:avLst/>
          </a:prstGeom>
          <a:solidFill>
            <a:srgbClr val="F0F5F7"/>
          </a:solidFill>
          <a:ln w="12700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④要件定義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・設計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08419" y="3896468"/>
            <a:ext cx="201168" cy="201168"/>
          </a:xfrm>
          <a:prstGeom prst="right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18731" y="3516992"/>
            <a:ext cx="1481328" cy="960120"/>
          </a:xfrm>
          <a:prstGeom prst="rect">
            <a:avLst/>
          </a:prstGeom>
          <a:solidFill>
            <a:srgbClr val="F0F5F7"/>
          </a:solidFill>
          <a:ln w="12700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⑤開発・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リリース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875" y="4797152"/>
            <a:ext cx="8595360" cy="548640"/>
          </a:xfrm>
          <a:prstGeom prst="rect">
            <a:avLst/>
          </a:prstGeom>
          <a:noFill/>
        </p:spPr>
        <p:txBody>
          <a:bodyPr wrap="square" lIns="72000" tIns="72000" rIns="72000" bIns="72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77888E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※ 本資料は要求仕様確定前の想定であり、記載内容は今後のヒアリングを踏まえ精査・確定する。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1328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86968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 dirty="0" err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防災アプリ</a:t>
            </a:r>
            <a:r>
              <a:rPr sz="2000" b="0" dirty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機能拡張ロードマップ（案</a:t>
            </a:r>
            <a:r>
              <a:rPr sz="2000" b="0" dirty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）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A49C9AA-896B-EA5F-F6F2-ABBD38076989}"/>
              </a:ext>
            </a:extLst>
          </p:cNvPr>
          <p:cNvSpPr/>
          <p:nvPr/>
        </p:nvSpPr>
        <p:spPr>
          <a:xfrm>
            <a:off x="269748" y="64767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 b="0">
                <a:solidFill>
                  <a:srgbClr val="26262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広島広域都市圏ポータルアプリ連携から将来</a:t>
            </a:r>
            <a:r>
              <a:rPr lang="ja-JP" altLang="en-US" sz="1200" dirty="0" b="0">
                <a:solidFill>
                  <a:srgbClr val="26262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</a:t>
            </a:r>
            <a:r>
              <a:rPr lang="en-US" sz="1200" dirty="0" err="1" b="0">
                <a:solidFill>
                  <a:srgbClr val="26262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</a:t>
            </a:r>
            <a:r>
              <a:rPr lang="ja-JP" altLang="en-US" sz="1200" dirty="0" b="0">
                <a:solidFill>
                  <a:srgbClr val="26262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追加まで</a:t>
            </a:r>
            <a:endParaRPr lang="en-US" sz="1050" dirty="0"/>
          </a:p>
        </p:txBody>
      </p:sp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4DCD187A-C470-D108-88EE-F789020CE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739442"/>
              </p:ext>
            </p:extLst>
          </p:nvPr>
        </p:nvGraphicFramePr>
        <p:xfrm>
          <a:off x="242704" y="1005840"/>
          <a:ext cx="8658592" cy="4864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3943">
                  <a:extLst>
                    <a:ext uri="{9D8B030D-6E8A-4147-A177-3AD203B41FA5}">
                      <a16:colId xmlns:a16="http://schemas.microsoft.com/office/drawing/2014/main" val="1662139948"/>
                    </a:ext>
                  </a:extLst>
                </a:gridCol>
                <a:gridCol w="2334883">
                  <a:extLst>
                    <a:ext uri="{9D8B030D-6E8A-4147-A177-3AD203B41FA5}">
                      <a16:colId xmlns:a16="http://schemas.microsoft.com/office/drawing/2014/main" val="559572856"/>
                    </a:ext>
                  </a:extLst>
                </a:gridCol>
                <a:gridCol w="2334883">
                  <a:extLst>
                    <a:ext uri="{9D8B030D-6E8A-4147-A177-3AD203B41FA5}">
                      <a16:colId xmlns:a16="http://schemas.microsoft.com/office/drawing/2014/main" val="1039957197"/>
                    </a:ext>
                  </a:extLst>
                </a:gridCol>
                <a:gridCol w="2334883">
                  <a:extLst>
                    <a:ext uri="{9D8B030D-6E8A-4147-A177-3AD203B41FA5}">
                      <a16:colId xmlns:a16="http://schemas.microsoft.com/office/drawing/2014/main" val="211745186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endParaRPr kumimoji="1" lang="ja-JP" altLang="en-US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0081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en-US" altLang="ja-JP" sz="1100" dirty="0" b="1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R8</a:t>
                      </a:r>
                      <a:r>
                        <a:rPr kumimoji="1" lang="ja-JP" altLang="en-US" sz="1100" dirty="0" b="1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年度</a:t>
                      </a:r>
                    </a:p>
                  </a:txBody>
                  <a:tcPr marL="64008" marR="64008" marT="27432" marB="27432" anchor="ctr">
                    <a:solidFill>
                      <a:srgbClr val="0081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en-US" altLang="ja-JP" sz="1100" dirty="0" b="1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R9</a:t>
                      </a:r>
                      <a:r>
                        <a:rPr kumimoji="1" lang="ja-JP" altLang="en-US" sz="1100" dirty="0" b="1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年度</a:t>
                      </a:r>
                    </a:p>
                  </a:txBody>
                  <a:tcPr marL="64008" marR="64008" marT="27432" marB="27432" anchor="ctr">
                    <a:solidFill>
                      <a:srgbClr val="0081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en-US" altLang="ja-JP" sz="1100" dirty="0" b="1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R10</a:t>
                      </a:r>
                      <a:r>
                        <a:rPr kumimoji="1" lang="ja-JP" altLang="en-US" sz="1100" dirty="0" b="1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年度以降</a:t>
                      </a:r>
                    </a:p>
                  </a:txBody>
                  <a:tcPr marL="64008" marR="64008" marT="27432" marB="27432" anchor="ctr">
                    <a:solidFill>
                      <a:srgbClr val="0081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216305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ja-JP" altLang="en-US" sz="950" dirty="0" b="1">
                          <a:solidFill>
                            <a:srgbClr val="00587A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実装機能（予定）</a:t>
                      </a:r>
                    </a:p>
                  </a:txBody>
                  <a:tcPr marL="64008" marR="64008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ポータルアプリから「避難所へ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Go!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」へのリンク設置</a:t>
                      </a: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「避難所へ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Go!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」と同等機能の実装</a:t>
                      </a: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lnSpc>
                          <a:spcPct val="130000"/>
                        </a:lnSpc>
                        <a:buFont typeface="+mj-lt"/>
                        <a:buAutoNum type="arabicPeriod"/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浸水被害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AR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シミュレーション機能</a:t>
                      </a:r>
                    </a:p>
                    <a:p>
                      <a:pPr marL="228600" indent="-228600" algn="l">
                        <a:lnSpc>
                          <a:spcPct val="130000"/>
                        </a:lnSpc>
                        <a:buFont typeface="+mj-lt"/>
                        <a:buAutoNum type="arabicPeriod"/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避難所受付システム</a:t>
                      </a:r>
                    </a:p>
                    <a:p>
                      <a:pPr marL="228600" indent="-228600" algn="l">
                        <a:lnSpc>
                          <a:spcPct val="130000"/>
                        </a:lnSpc>
                        <a:buFont typeface="+mj-lt"/>
                        <a:buAutoNum type="arabicPeriod"/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独自防災システムとの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API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連携（双方向データ連携）</a:t>
                      </a: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9223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ja-JP" altLang="en-US" sz="950" dirty="0" b="1">
                          <a:solidFill>
                            <a:srgbClr val="00587A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検討事項</a:t>
                      </a:r>
                    </a:p>
                  </a:txBody>
                  <a:tcPr marL="64008" marR="64008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①「避難所へ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Go!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」と同等機能の実装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※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詳細は別紙「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20260824_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現状機能概要まとめ 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(1).xlsx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」で整理</a:t>
                      </a:r>
                      <a:endParaRPr kumimoji="1" lang="en-US" altLang="ja-JP" sz="105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※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廿日市市、江田島市、熊野町でも利用中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②浸水被害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AR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シミュレーション</a:t>
                      </a:r>
                      <a:endParaRPr kumimoji="1" lang="en-US" altLang="ja-JP" sz="105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③避難所受付システム</a:t>
                      </a:r>
                      <a:endParaRPr kumimoji="1" lang="en-US" altLang="ja-JP" sz="105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①浸水被害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AR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シミュレーション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②避難所受付システム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③貴市防災システムとの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API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連携（双方向データ連携）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④関連市町（廿日市市・江田島市・熊野町）、他周辺市町への拡大対応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621709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ja-JP" altLang="en-US" sz="950" dirty="0" b="1">
                          <a:solidFill>
                            <a:srgbClr val="00587A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提案内容</a:t>
                      </a:r>
                    </a:p>
                  </a:txBody>
                  <a:tcPr marL="64008" marR="64008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上記①②③の実装に関する概算見積もりの提出（期日：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2026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年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9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月末）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上記①②③の実装に関する概算お見積もりの提出</a:t>
                      </a: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ー</a:t>
                      </a: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782827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ja-JP" altLang="en-US" sz="950" dirty="0" b="1">
                          <a:solidFill>
                            <a:srgbClr val="00587A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補足</a:t>
                      </a:r>
                    </a:p>
                  </a:txBody>
                  <a:tcPr marL="64008" marR="64008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・②③については詳細要件が未定のため、参考試算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・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R9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年度については「避難所へ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Go!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」と同等機能の実装までが現実的</a:t>
                      </a:r>
                      <a:endParaRPr kumimoji="1" lang="en-US" altLang="ja-JP" sz="1050" dirty="0">
                        <a:highlight>
                          <a:srgbClr val="FFFF00"/>
                        </a:highlight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・関連市町（廿日市市・江田島市・熊野町）への事前説明が必要</a:t>
                      </a:r>
                      <a:endParaRPr kumimoji="1" lang="en-US" altLang="ja-JP" sz="1050" dirty="0">
                        <a:highlight>
                          <a:srgbClr val="FFFF00"/>
                        </a:highlight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・避難所受付システムや防災システムとの</a:t>
                      </a:r>
                      <a:r>
                        <a:rPr kumimoji="1" lang="en-US" altLang="ja-JP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API</a:t>
                      </a: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連携については、貴市の防災計画等を踏まえた全体的な整理が必要</a:t>
                      </a:r>
                      <a:endParaRPr kumimoji="1" lang="en-US" altLang="ja-JP" sz="105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95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ー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749067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※ 同等機能の詳細は別紙「20260824_現状機能概要まとめ.xlsx」にて整理しています。「避難所へGo!」は廿日市市・江田島市・熊野町でも利用中です。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869680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 dirty="0" err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防災×としポ</a:t>
            </a:r>
            <a:r>
              <a:rPr sz="2000" b="0" dirty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企画案</a:t>
            </a:r>
            <a:endParaRPr sz="2000" b="0" dirty="0">
              <a:solidFill>
                <a:srgbClr val="000000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576072"/>
            <a:ext cx="859536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dirty="0" err="1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防災アプリの普及率向上と平時からの防災行動の定着を、としポの付与施策と組み合わせて実現します</a:t>
            </a:r>
            <a:r>
              <a:rPr sz="1200" b="0" dirty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。</a:t>
            </a: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9BD2DA57-0286-88DD-01FB-EB73C6DD2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501854"/>
              </p:ext>
            </p:extLst>
          </p:nvPr>
        </p:nvGraphicFramePr>
        <p:xfrm>
          <a:off x="183149" y="1051560"/>
          <a:ext cx="8759467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468">
                  <a:extLst>
                    <a:ext uri="{9D8B030D-6E8A-4147-A177-3AD203B41FA5}">
                      <a16:colId xmlns:a16="http://schemas.microsoft.com/office/drawing/2014/main" val="1662139948"/>
                    </a:ext>
                  </a:extLst>
                </a:gridCol>
                <a:gridCol w="2803843">
                  <a:extLst>
                    <a:ext uri="{9D8B030D-6E8A-4147-A177-3AD203B41FA5}">
                      <a16:colId xmlns:a16="http://schemas.microsoft.com/office/drawing/2014/main" val="559572856"/>
                    </a:ext>
                  </a:extLst>
                </a:gridCol>
                <a:gridCol w="2822078">
                  <a:extLst>
                    <a:ext uri="{9D8B030D-6E8A-4147-A177-3AD203B41FA5}">
                      <a16:colId xmlns:a16="http://schemas.microsoft.com/office/drawing/2014/main" val="1039957197"/>
                    </a:ext>
                  </a:extLst>
                </a:gridCol>
                <a:gridCol w="2822078">
                  <a:extLst>
                    <a:ext uri="{9D8B030D-6E8A-4147-A177-3AD203B41FA5}">
                      <a16:colId xmlns:a16="http://schemas.microsoft.com/office/drawing/2014/main" val="211745186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0081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ja-JP" altLang="en-US" sz="1100" dirty="0" b="1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項目</a:t>
                      </a:r>
                    </a:p>
                  </a:txBody>
                  <a:tcPr marL="64008" marR="64008" marT="27432" marB="27432" anchor="ctr">
                    <a:solidFill>
                      <a:srgbClr val="0081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ja-JP" altLang="en-US" sz="1100" dirty="0" b="1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内容</a:t>
                      </a:r>
                    </a:p>
                  </a:txBody>
                  <a:tcPr marL="64008" marR="64008" marT="27432" marB="27432" anchor="ctr">
                    <a:solidFill>
                      <a:srgbClr val="0081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ja-JP" altLang="en-US" sz="1100" dirty="0" b="1">
                          <a:solidFill>
                            <a:srgbClr val="FFFFFF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補足</a:t>
                      </a:r>
                    </a:p>
                  </a:txBody>
                  <a:tcPr marL="64008" marR="64008" marT="27432" marB="27432" anchor="ctr">
                    <a:solidFill>
                      <a:srgbClr val="0081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216305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en-US" altLang="ja-JP" sz="1000" dirty="0" b="1">
                          <a:solidFill>
                            <a:srgbClr val="00587A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1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防災アプリ（避難所へ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Go!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等）の普及率向上</a:t>
                      </a: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下記の行動などに対してとしポ付与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228600" indent="-228600" algn="l">
                        <a:lnSpc>
                          <a:spcPct val="130000"/>
                        </a:lnSpc>
                        <a:buFont typeface="+mj-lt"/>
                        <a:buAutoNum type="arabicPeriod"/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避難所へ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Go!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のインストール（実施中）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228600" indent="-228600" algn="l">
                        <a:lnSpc>
                          <a:spcPct val="130000"/>
                        </a:lnSpc>
                        <a:buFont typeface="+mj-lt"/>
                        <a:buAutoNum type="arabicPeriod"/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避難所へ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Go!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を開く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228600" indent="-228600" algn="l">
                        <a:lnSpc>
                          <a:spcPct val="130000"/>
                        </a:lnSpc>
                        <a:buFont typeface="+mj-lt"/>
                        <a:buAutoNum type="arabicPeriod"/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広島市防災情報メールの登録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228600" indent="-228600" algn="l">
                        <a:lnSpc>
                          <a:spcPct val="130000"/>
                        </a:lnSpc>
                        <a:buFont typeface="+mj-lt"/>
                        <a:buAutoNum type="arabicPeriod"/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災害ボランティア事前登録</a:t>
                      </a: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Font typeface="+mj-lt"/>
                        <a:buNone/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としポとは別に「防災ポイント」（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1p=1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円でないポイント）を発行し、防災グッズ等が当たる抽選に応募などの施策も可能</a:t>
                      </a: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922360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en-US" altLang="ja-JP" sz="1000" dirty="0" b="1">
                          <a:solidFill>
                            <a:srgbClr val="00587A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2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避難所チェックラリー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マップ上に表示された避難所等の半径●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m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以内に入るとチェックインが可能（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1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日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1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回など）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※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チェックインで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1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日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1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回ポイント付与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チェックイン＋防災に関する動画閲覧でポイント付与も可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76156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en-US" altLang="ja-JP" sz="1000" dirty="0" b="1">
                          <a:solidFill>
                            <a:srgbClr val="00587A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3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防災スタンプラリー</a:t>
                      </a:r>
                      <a:endParaRPr kumimoji="1" lang="en-US" altLang="ja-JP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避難所巡りでスタンプ獲得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※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達成者にとしポ付与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※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広域都市圏を対象としたスタンプラリーも可</a:t>
                      </a: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例）広島市中心部：広島市役所前避難所、平和記念公園津波避難ビル、比治山公園</a:t>
                      </a:r>
                    </a:p>
                  </a:txBody>
                  <a:tcPr marL="64008" marR="64008" marT="27432" marB="27432" anchor="ctr"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621709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kumimoji="1" lang="en-US" altLang="ja-JP" sz="1000" dirty="0" b="1">
                          <a:solidFill>
                            <a:srgbClr val="00587A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4</a:t>
                      </a:r>
                      <a:endParaRPr kumimoji="1"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防災クイズ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3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択クイズに正解すると「としポプレゼント」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例）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広島市で特に多い災害はどれですか？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（大規模雪害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,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土砂災害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,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竜巻）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大雨危険警報はどの警戒レベルに対応しますか？</a:t>
                      </a:r>
                      <a:endParaRPr kumimoji="1" lang="en-US" altLang="ja-JP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（警戒レベル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4,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警戒レベル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3,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警戒レベル</a:t>
                      </a:r>
                      <a:r>
                        <a:rPr kumimoji="1" lang="en-US" altLang="ja-JP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2</a:t>
                      </a:r>
                      <a:r>
                        <a:rPr kumimoji="1" lang="ja-JP" altLang="en-US" sz="1000" dirty="0" b="0">
                          <a:solidFill>
                            <a:srgbClr val="262626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/>
                        </a:rPr>
                        <a:t>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782827"/>
                  </a:ext>
                </a:extLst>
              </a:tr>
            </a:tbl>
          </a:graphicData>
        </a:graphic>
      </p:graphicFrame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28269D8-A91D-B859-09F4-0182BD954653}"/>
              </a:ext>
            </a:extLst>
          </p:cNvPr>
          <p:cNvSpPr txBox="1"/>
          <p:nvPr/>
        </p:nvSpPr>
        <p:spPr>
          <a:xfrm>
            <a:off x="183149" y="5623560"/>
            <a:ext cx="8641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50" dirty="0" b="0">
                <a:solidFill>
                  <a:srgbClr val="77888E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/>
              </a:rPr>
              <a:t>★としポとは別の「防災ポイント」（</a:t>
            </a:r>
            <a:r>
              <a:rPr lang="en-US" altLang="ja-JP" sz="950" dirty="0" b="0">
                <a:solidFill>
                  <a:srgbClr val="77888E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/>
              </a:rPr>
              <a:t>1p=1</a:t>
            </a:r>
            <a:r>
              <a:rPr lang="ja-JP" altLang="en-US" sz="950" dirty="0" b="0">
                <a:solidFill>
                  <a:srgbClr val="77888E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/>
              </a:rPr>
              <a:t>円でないポイント）の発行も可能</a:t>
            </a:r>
            <a:endParaRPr lang="en-US" altLang="ja-JP" sz="1200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950" dirty="0" b="0">
                <a:solidFill>
                  <a:srgbClr val="77888E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Meiryo UI"/>
              </a:rPr>
              <a:t>例）貯まった防災ポイントで防災グッズ等が当たる抽選に応募、防災ポイントを●ポイント以上貯めた人を「防災マスター」として表彰など</a:t>
            </a:r>
            <a:endParaRPr lang="en-US" altLang="ja-JP" sz="1200" dirty="0">
              <a:highlight>
                <a:srgbClr val="FFFF00"/>
              </a:highlight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76"/>
          <p:cNvSpPr txBox="1"/>
          <p:nvPr/>
        </p:nvSpPr>
        <p:spPr>
          <a:xfrm>
            <a:off x="269875" y="141288"/>
            <a:ext cx="8874125" cy="346074"/>
          </a:xfrm>
          <a:prstGeom prst="rect">
            <a:avLst/>
          </a:prstGeom>
          <a:noFill/>
          <a:ln>
            <a:noFill/>
          </a:ln>
        </p:spPr>
        <p:txBody>
          <a:bodyPr lIns="72000" tIns="72000" rIns="72000" bIns="720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Tx/>
              <a:buNone/>
              <a:tabLst/>
              <a:defRPr/>
            </a:pP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防災アプリ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Arial"/>
              </a:rPr>
              <a:t>の範囲（スコープ）と前提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80"/>
            <a:ext cx="8762176" cy="576293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R9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年度は「避難所へ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Go!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」と同等の機能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を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実装対象とする</a:t>
            </a:r>
            <a:endParaRPr kumimoji="0" lang="en-US" altLang="ja-JP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機能拡張（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浸水被害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AR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シミュレーション、避難所受付システムほか）は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R9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年度に向けた検討事項とする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25296"/>
            <a:ext cx="4160520" cy="502920"/>
          </a:xfrm>
          <a:prstGeom prst="rect">
            <a:avLst/>
          </a:prstGeom>
          <a:solidFill>
            <a:srgbClr val="008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対象（本業務で実装）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1225296"/>
            <a:ext cx="4160520" cy="502920"/>
          </a:xfrm>
          <a:prstGeom prst="rect">
            <a:avLst/>
          </a:prstGeom>
          <a:solidFill>
            <a:srgbClr val="778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対象外（本業務の範囲外）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28216"/>
            <a:ext cx="41605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200" dirty="0">
                <a:solidFill>
                  <a:srgbClr val="262626"/>
                </a:solidFill>
                <a:latin typeface="Meiryo UI"/>
                <a:ea typeface="Meiryo UI"/>
              </a:rPr>
              <a:t>アプリ対象ユーザーの設定、ポータルアプリ上の表示内容・方法設定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「避難所へ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Go!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」と同等機能の実装（地域で表示が変わる項目を設定するか）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マニュアル作成、職員研修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728216"/>
            <a:ext cx="41605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dirty="0">
                <a:solidFill>
                  <a:srgbClr val="262626"/>
                </a:solidFill>
                <a:latin typeface="Meiryo UI"/>
                <a:ea typeface="Meiryo UI"/>
              </a:rPr>
              <a:t>機能拡張の実装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①浸水被害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AR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シミュレーション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②避難所受付システム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③貴市防災システムとの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API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連携（双方向データ連携）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④関連市町（廿日市市・江田島市・熊野町）、他周辺市町への拡大対応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526280"/>
            <a:ext cx="1737360" cy="1417320"/>
          </a:xfrm>
          <a:prstGeom prst="rect">
            <a:avLst/>
          </a:prstGeom>
          <a:solidFill>
            <a:srgbClr val="00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前提条件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526280"/>
            <a:ext cx="6858000" cy="1417320"/>
          </a:xfrm>
          <a:prstGeom prst="rect">
            <a:avLst/>
          </a:prstGeom>
          <a:solidFill>
            <a:srgbClr val="F7FAFB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防災アプリ、管理システムの要求仕様確定</a:t>
            </a:r>
            <a:endParaRPr lang="en-US" altLang="ja-JP" dirty="0">
              <a:solidFill>
                <a:srgbClr val="262626"/>
              </a:solidFill>
              <a:latin typeface="Meiryo UI"/>
              <a:ea typeface="Meiryo U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運用フローの整備</a:t>
            </a:r>
            <a:endParaRPr lang="en-US" altLang="ja-JP" dirty="0">
              <a:solidFill>
                <a:srgbClr val="262626"/>
              </a:solidFill>
              <a:latin typeface="Meiryo UI"/>
              <a:ea typeface="Meiryo UI"/>
            </a:endParaRPr>
          </a:p>
          <a:p>
            <a:pPr marL="212344" indent="-18161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Clr>
                <a:srgbClr val="0081AF"/>
              </a:buClr>
              <a:buSzPct val="55000"/>
              <a:buFont typeface="Arial"/>
              <a:buChar char="●"/>
            </a:pPr>
            <a:r>
              <a:rPr sz="11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「避難所へGo!」の権利関係および現行ベンダーとの調整方針の整理</a:t>
            </a:r>
          </a:p>
          <a:p>
            <a:pPr marL="212344" indent="-18161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Clr>
                <a:srgbClr val="0081AF"/>
              </a:buClr>
              <a:buSzPct val="55000"/>
              <a:buFont typeface="Arial"/>
              <a:buChar char="●"/>
            </a:pPr>
            <a:r>
              <a:rPr sz="11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関連市町（廿日市市・江田島市・熊野町）への事前説明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2360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76"/>
          <p:cNvSpPr txBox="1"/>
          <p:nvPr/>
        </p:nvSpPr>
        <p:spPr>
          <a:xfrm>
            <a:off x="269875" y="141288"/>
            <a:ext cx="8874125" cy="346074"/>
          </a:xfrm>
          <a:prstGeom prst="rect">
            <a:avLst/>
          </a:prstGeom>
          <a:noFill/>
          <a:ln>
            <a:noFill/>
          </a:ln>
        </p:spPr>
        <p:txBody>
          <a:bodyPr lIns="72000" tIns="72000" rIns="72000" bIns="720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Tx/>
              <a:buNone/>
              <a:tabLst/>
              <a:defRPr/>
            </a:pP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「避難所へ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Go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！」仕様書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Arial"/>
              </a:rPr>
              <a:t>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6380"/>
            <a:ext cx="1417320" cy="525780"/>
          </a:xfrm>
          <a:prstGeom prst="rect">
            <a:avLst/>
          </a:prstGeom>
          <a:solidFill>
            <a:srgbClr val="0081A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86380"/>
            <a:ext cx="745236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自身の現在地の危険度が確認でき、その場所から適切な指定緊急避難場所等への誘導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512160"/>
            <a:ext cx="1417320" cy="525780"/>
          </a:xfrm>
          <a:prstGeom prst="rect">
            <a:avLst/>
          </a:prstGeom>
          <a:solidFill>
            <a:srgbClr val="0081A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対象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512160"/>
            <a:ext cx="7452360" cy="525780"/>
          </a:xfrm>
          <a:prstGeom prst="rect">
            <a:avLst/>
          </a:prstGeom>
          <a:solidFill>
            <a:srgbClr val="F7FAFB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lvl="0"/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広島広域都市圏の住人、通勤者、旅行者</a:t>
            </a:r>
            <a:endParaRPr kumimoji="0" lang="ja-JP" altLang="en-US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973984"/>
            <a:ext cx="1417320" cy="525780"/>
          </a:xfrm>
          <a:prstGeom prst="rect">
            <a:avLst/>
          </a:prstGeom>
          <a:solidFill>
            <a:srgbClr val="0081A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稼働環境要件等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91640" y="1973984"/>
            <a:ext cx="7452360" cy="525780"/>
          </a:xfrm>
          <a:prstGeom prst="rect">
            <a:avLst/>
          </a:prstGeom>
          <a:solidFill>
            <a:srgbClr val="F7FAFB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稼働環境、対象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OS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、同時アクセスへの対応、通知の短時間性、データセンター要件、Ｌアラート及びストアへの登録・申請補助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499762"/>
            <a:ext cx="1417320" cy="525777"/>
          </a:xfrm>
          <a:prstGeom prst="rect">
            <a:avLst/>
          </a:prstGeom>
          <a:solidFill>
            <a:srgbClr val="0081A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基本機能要件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0977" y="2499759"/>
            <a:ext cx="7452360" cy="5257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lvl="0"/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防災情報等のポップアップ通知機能、ＧＰＳ連動Ｐｕｓｈ及び期間指定配信機能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、防災情報等の取得、ＧＰＳ機能、対象地域の拡張性、</a:t>
            </a:r>
            <a:r>
              <a:rPr lang="en-US" altLang="ja-JP" dirty="0">
                <a:solidFill>
                  <a:srgbClr val="262626"/>
                </a:solidFill>
                <a:latin typeface="Meiryo UI"/>
                <a:ea typeface="Meiryo UI"/>
              </a:rPr>
              <a:t>ID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・パスワード管理、管理者権限</a:t>
            </a:r>
            <a:r>
              <a:rPr lang="ja-JP" altLang="ja-JP" dirty="0"/>
              <a:t>機能</a:t>
            </a:r>
            <a:endParaRPr lang="ja-JP" altLang="en-US" dirty="0">
              <a:solidFill>
                <a:srgbClr val="262626"/>
              </a:solidFill>
              <a:latin typeface="Meiryo UI"/>
              <a:ea typeface="Meiryo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3026664"/>
            <a:ext cx="1417320" cy="868680"/>
          </a:xfrm>
          <a:prstGeom prst="rect">
            <a:avLst/>
          </a:prstGeom>
          <a:solidFill>
            <a:srgbClr val="0081A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個別機能要件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91640" y="3026664"/>
            <a:ext cx="7452360" cy="868680"/>
          </a:xfrm>
          <a:prstGeom prst="rect">
            <a:avLst/>
          </a:prstGeom>
          <a:solidFill>
            <a:srgbClr val="F7FAFB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lvl="0">
              <a:defRPr/>
            </a:pP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防災情報等の受信地域、マップ基図、防災情報等、防災情報（プッシュ通知なし）、避難所情報、避難所等へのルート検索、ハザード情報、</a:t>
            </a:r>
            <a:r>
              <a:rPr lang="zh-TW" altLang="en-US" dirty="0">
                <a:solidFill>
                  <a:srgbClr val="262626"/>
                </a:solidFill>
                <a:latin typeface="Meiryo UI"/>
                <a:ea typeface="Meiryo UI"/>
              </a:rPr>
              <a:t>避難誘導機能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、</a:t>
            </a:r>
            <a:r>
              <a:rPr lang="zh-TW" altLang="en-US" dirty="0">
                <a:solidFill>
                  <a:srgbClr val="262626"/>
                </a:solidFill>
                <a:latin typeface="Meiryo UI"/>
                <a:ea typeface="Meiryo UI"/>
              </a:rPr>
              <a:t>安否情報機能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、エリア情報、オフライン機能、天気予報、広島広域都市圏ポイントの付与機能、映像情報、アプリトップ画面メニュー、</a:t>
            </a:r>
            <a:r>
              <a:rPr lang="zh-TW" altLang="en-US" dirty="0">
                <a:solidFill>
                  <a:srgbClr val="262626"/>
                </a:solidFill>
                <a:latin typeface="Meiryo UI"/>
                <a:ea typeface="Meiryo UI"/>
              </a:rPr>
              <a:t>多言語機能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、</a:t>
            </a:r>
            <a:r>
              <a:rPr lang="zh-TW" altLang="en-US" dirty="0">
                <a:solidFill>
                  <a:srgbClr val="262626"/>
                </a:solidFill>
                <a:latin typeface="Meiryo UI"/>
                <a:ea typeface="Meiryo UI"/>
              </a:rPr>
              <a:t>情報投稿機能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34840"/>
            <a:ext cx="1417320" cy="502920"/>
          </a:xfrm>
          <a:prstGeom prst="rect">
            <a:avLst/>
          </a:prstGeom>
          <a:solidFill>
            <a:srgbClr val="0081A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その他関連業務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91640" y="4434840"/>
            <a:ext cx="7452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運用経費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、バグ対応・アプリの公開、アプリの利用促進について、キャラクターデザイン、操作マニュアル、システムの拡張性、秘密の保持、広島市情報セキュリティポリシー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4956048"/>
            <a:ext cx="1417320" cy="502920"/>
          </a:xfrm>
          <a:prstGeom prst="rect">
            <a:avLst/>
          </a:prstGeom>
          <a:solidFill>
            <a:srgbClr val="0081A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プロジェクト管理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691640" y="4956048"/>
            <a:ext cx="7452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プロジェクト管理、課題管理、ドキュメント管理、品質管理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、提出書類</a:t>
            </a:r>
            <a:endParaRPr kumimoji="0" lang="ja-JP" altLang="en-US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" y="5660475"/>
            <a:ext cx="8595360" cy="330072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lvl="0"/>
            <a:r>
              <a:rPr lang="en-US" altLang="ja-JP" sz="1200" dirty="0">
                <a:solidFill>
                  <a:srgbClr val="77888E"/>
                </a:solidFill>
                <a:latin typeface="Meiryo UI"/>
                <a:ea typeface="Meiryo UI"/>
              </a:rPr>
              <a:t>※</a:t>
            </a:r>
            <a:r>
              <a:rPr lang="ja-JP" altLang="en-US" sz="1200" dirty="0">
                <a:solidFill>
                  <a:srgbClr val="77888E"/>
                </a:solidFill>
                <a:latin typeface="Meiryo UI"/>
                <a:ea typeface="Meiryo UI"/>
              </a:rPr>
              <a:t>広島市避難誘導アプリ開発業務　仕様書 </a:t>
            </a:r>
            <a:r>
              <a:rPr lang="en-US" altLang="ja-JP" sz="1200" dirty="0">
                <a:solidFill>
                  <a:srgbClr val="77888E"/>
                </a:solidFill>
                <a:latin typeface="Meiryo UI"/>
                <a:ea typeface="Meiryo UI"/>
              </a:rPr>
              <a:t>(03-1_</a:t>
            </a:r>
            <a:r>
              <a:rPr lang="ja-JP" altLang="en-US" sz="1200" dirty="0">
                <a:solidFill>
                  <a:srgbClr val="77888E"/>
                </a:solidFill>
                <a:latin typeface="Meiryo UI"/>
                <a:ea typeface="Meiryo UI"/>
              </a:rPr>
              <a:t>仕様書</a:t>
            </a:r>
            <a:r>
              <a:rPr lang="en-US" altLang="ja-JP" sz="1200" dirty="0">
                <a:solidFill>
                  <a:srgbClr val="77888E"/>
                </a:solidFill>
                <a:latin typeface="Meiryo UI"/>
                <a:ea typeface="Meiryo UI"/>
              </a:rPr>
              <a:t>.</a:t>
            </a:r>
            <a:r>
              <a:rPr lang="en-US" sz="1200" dirty="0">
                <a:solidFill>
                  <a:srgbClr val="77888E"/>
                </a:solidFill>
                <a:latin typeface="Meiryo UI"/>
                <a:ea typeface="Meiryo UI"/>
              </a:rPr>
              <a:t>docx)</a:t>
            </a:r>
            <a:r>
              <a:rPr lang="ja-JP" altLang="en-US" sz="1200" dirty="0">
                <a:solidFill>
                  <a:srgbClr val="77888E"/>
                </a:solidFill>
                <a:latin typeface="Meiryo UI"/>
                <a:ea typeface="Meiryo UI"/>
              </a:rPr>
              <a:t>　を改変</a:t>
            </a:r>
            <a:r>
              <a:rPr lang="en-US" sz="1200" dirty="0">
                <a:solidFill>
                  <a:srgbClr val="77888E"/>
                </a:solidFill>
                <a:latin typeface="Meiryo UI"/>
                <a:ea typeface="Meiryo UI"/>
              </a:rPr>
              <a:t> 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77888E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D82229C2-33EF-C407-AFE7-8DA1D08739B7}"/>
              </a:ext>
            </a:extLst>
          </p:cNvPr>
          <p:cNvSpPr/>
          <p:nvPr/>
        </p:nvSpPr>
        <p:spPr>
          <a:xfrm>
            <a:off x="274320" y="3913631"/>
            <a:ext cx="1417320" cy="502920"/>
          </a:xfrm>
          <a:prstGeom prst="rect">
            <a:avLst/>
          </a:prstGeom>
          <a:solidFill>
            <a:srgbClr val="0081A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職員研修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42B8C68D-EF9C-9E36-F4F3-31F899BE7A9B}"/>
              </a:ext>
            </a:extLst>
          </p:cNvPr>
          <p:cNvSpPr/>
          <p:nvPr/>
        </p:nvSpPr>
        <p:spPr>
          <a:xfrm>
            <a:off x="1691640" y="3913631"/>
            <a:ext cx="7452360" cy="502920"/>
          </a:xfrm>
          <a:prstGeom prst="rect">
            <a:avLst/>
          </a:prstGeom>
          <a:solidFill>
            <a:srgbClr val="F7FAFB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操作マニュアルをもとに、管理者及び運用者が円滑に操作できるよう、対象職員に対し研修を行うこと。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" y="576072"/>
            <a:ext cx="8595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現行「避難所へGo!」の仕様書に定められた要件の全体像。R9年度はこの範囲と同等の機能を実装対象とする。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9654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76"/>
          <p:cNvSpPr txBox="1"/>
          <p:nvPr/>
        </p:nvSpPr>
        <p:spPr>
          <a:xfrm>
            <a:off x="269875" y="141288"/>
            <a:ext cx="8874125" cy="346074"/>
          </a:xfrm>
          <a:prstGeom prst="rect">
            <a:avLst/>
          </a:prstGeom>
          <a:noFill/>
          <a:ln>
            <a:noFill/>
          </a:ln>
        </p:spPr>
        <p:txBody>
          <a:bodyPr lIns="72000" tIns="72000" rIns="72000" bIns="720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Tx/>
              <a:buNone/>
              <a:tabLst/>
              <a:defRPr/>
            </a:pP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Arial"/>
              </a:rPr>
              <a:t>ステークホルダーと相関図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05959"/>
            <a:ext cx="2913793" cy="360850"/>
          </a:xfrm>
          <a:prstGeom prst="rect">
            <a:avLst/>
          </a:prstGeom>
          <a:noFill/>
        </p:spPr>
        <p:txBody>
          <a:bodyPr wrap="none" lIns="72000" tIns="72000" rIns="72000" bIns="720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ユーザー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・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管理者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を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本システムがつなぐ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。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1508760" y="2194560"/>
            <a:ext cx="3063240" cy="1417320"/>
          </a:xfrm>
          <a:prstGeom prst="line">
            <a:avLst/>
          </a:prstGeom>
          <a:ln w="15875">
            <a:solidFill>
              <a:srgbClr val="A6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572000" y="2194560"/>
            <a:ext cx="3063240" cy="1417320"/>
          </a:xfrm>
          <a:prstGeom prst="line">
            <a:avLst/>
          </a:prstGeom>
          <a:ln w="15875">
            <a:solidFill>
              <a:srgbClr val="A6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cxnSpLocks/>
          </p:cNvCxnSpPr>
          <p:nvPr/>
        </p:nvCxnSpPr>
        <p:spPr>
          <a:xfrm>
            <a:off x="4572000" y="3611880"/>
            <a:ext cx="0" cy="878268"/>
          </a:xfrm>
          <a:prstGeom prst="line">
            <a:avLst/>
          </a:prstGeom>
          <a:ln w="15875">
            <a:solidFill>
              <a:srgbClr val="A6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</p:cNvCxnSpPr>
          <p:nvPr/>
        </p:nvCxnSpPr>
        <p:spPr>
          <a:xfrm flipV="1">
            <a:off x="4572000" y="2564904"/>
            <a:ext cx="0" cy="498336"/>
          </a:xfrm>
          <a:prstGeom prst="line">
            <a:avLst/>
          </a:prstGeom>
          <a:ln w="15875">
            <a:solidFill>
              <a:srgbClr val="A6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46120" y="3063240"/>
            <a:ext cx="2651760" cy="1097280"/>
          </a:xfrm>
          <a:prstGeom prst="rect">
            <a:avLst/>
          </a:prstGeom>
          <a:solidFill>
            <a:srgbClr val="008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本システム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（</a:t>
            </a:r>
            <a:r>
              <a:rPr lang="ja-JP" altLang="en-US" dirty="0">
                <a:solidFill>
                  <a:srgbClr val="FFFFFF"/>
                </a:solidFill>
                <a:latin typeface="Meiryo UI"/>
                <a:ea typeface="Meiryo UI"/>
              </a:rPr>
              <a:t>防災アプリ</a:t>
            </a:r>
            <a:r>
              <a:rPr lang="en-US" altLang="ja-JP" dirty="0">
                <a:solidFill>
                  <a:srgbClr val="FFFFFF"/>
                </a:solidFill>
                <a:latin typeface="Meiryo UI"/>
                <a:ea typeface="Meiryo UI"/>
              </a:rPr>
              <a:t>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solidFill>
            <a:srgbClr val="F0F5F7"/>
          </a:solidFill>
          <a:ln w="9525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lvl="0" algn="ctr"/>
            <a:r>
              <a:rPr lang="ja-JP" altLang="en-US" sz="1200" dirty="0">
                <a:solidFill>
                  <a:srgbClr val="262626"/>
                </a:solidFill>
                <a:latin typeface="Meiryo UI"/>
                <a:ea typeface="Meiryo UI"/>
              </a:rPr>
              <a:t>統括：</a:t>
            </a: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広島市 情報政策課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7504" y="1737360"/>
            <a:ext cx="2913793" cy="914400"/>
          </a:xfrm>
          <a:prstGeom prst="rect">
            <a:avLst/>
          </a:prstGeom>
          <a:solidFill>
            <a:srgbClr val="00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/>
            <a:r>
              <a:rPr lang="ja-JP" altLang="en-US" dirty="0">
                <a:solidFill>
                  <a:srgbClr val="FFFFFF"/>
                </a:solidFill>
                <a:latin typeface="Meiryo UI"/>
                <a:ea typeface="Meiryo UI"/>
              </a:rPr>
              <a:t>アプリユーザー：</a:t>
            </a:r>
            <a:endParaRPr lang="en-US" altLang="ja-JP" dirty="0">
              <a:solidFill>
                <a:srgbClr val="FFFFFF"/>
              </a:solidFill>
              <a:latin typeface="Meiryo UI"/>
              <a:ea typeface="Meiryo U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FFFFFF"/>
                </a:solidFill>
                <a:latin typeface="Meiryo UI"/>
                <a:ea typeface="Meiryo UI"/>
              </a:rPr>
              <a:t>住民、通勤者、旅行者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46520" y="1737360"/>
            <a:ext cx="2377440" cy="914400"/>
          </a:xfrm>
          <a:prstGeom prst="rect">
            <a:avLst/>
          </a:prstGeom>
          <a:solidFill>
            <a:srgbClr val="00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システム管理者：</a:t>
            </a: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広島市危機管理対策課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83280" y="4617720"/>
            <a:ext cx="2377440" cy="914400"/>
          </a:xfrm>
          <a:prstGeom prst="rect">
            <a:avLst/>
          </a:prstGeom>
          <a:solidFill>
            <a:srgbClr val="00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FPM（受注者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）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：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構築・保守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07704" y="2678748"/>
            <a:ext cx="2161376" cy="330072"/>
          </a:xfrm>
          <a:prstGeom prst="rect">
            <a:avLst/>
          </a:prstGeom>
          <a:solidFill>
            <a:schemeClr val="bg1">
              <a:alpha val="68359"/>
            </a:schemeClr>
          </a:solidFill>
        </p:spPr>
        <p:txBody>
          <a:bodyPr wrap="square" lIns="72000" tIns="72000" rIns="72000" bIns="7200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587A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設定・登録、通知、確認・検索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587A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92080" y="2678748"/>
            <a:ext cx="1737360" cy="330072"/>
          </a:xfrm>
          <a:prstGeom prst="rect">
            <a:avLst/>
          </a:prstGeom>
          <a:solidFill>
            <a:schemeClr val="bg1">
              <a:alpha val="68359"/>
            </a:schemeClr>
          </a:solidFill>
        </p:spPr>
        <p:txBody>
          <a:bodyPr wrap="square" lIns="72000" tIns="72000" rIns="72000" bIns="7200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dirty="0">
                <a:solidFill>
                  <a:srgbClr val="00587A"/>
                </a:solidFill>
                <a:latin typeface="Meiryo UI"/>
                <a:ea typeface="Meiryo UI"/>
              </a:rPr>
              <a:t>通知発信、運用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587A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03320" y="4211901"/>
            <a:ext cx="1737360" cy="330072"/>
          </a:xfrm>
          <a:prstGeom prst="rect">
            <a:avLst/>
          </a:prstGeom>
          <a:solidFill>
            <a:schemeClr val="bg1">
              <a:alpha val="68359"/>
            </a:schemeClr>
          </a:solidFill>
        </p:spPr>
        <p:txBody>
          <a:bodyPr wrap="square" lIns="72000" tIns="72000" rIns="72000" bIns="7200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587A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構築・保守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587A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63286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76"/>
          <p:cNvSpPr txBox="1"/>
          <p:nvPr/>
        </p:nvSpPr>
        <p:spPr>
          <a:xfrm>
            <a:off x="269875" y="141288"/>
            <a:ext cx="8874125" cy="346074"/>
          </a:xfrm>
          <a:prstGeom prst="rect">
            <a:avLst/>
          </a:prstGeom>
          <a:noFill/>
          <a:ln>
            <a:noFill/>
          </a:ln>
        </p:spPr>
        <p:txBody>
          <a:bodyPr lIns="72000" tIns="72000" rIns="72000" bIns="720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Tx/>
              <a:buNone/>
              <a:tabLst/>
              <a:defRPr/>
            </a:pP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Arial"/>
              </a:rPr>
              <a:t>想定している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利用フロー</a:t>
            </a:r>
            <a:endParaRPr kumimoji="0" lang="ja-JP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9875" y="1188744"/>
            <a:ext cx="1586357" cy="1088128"/>
          </a:xfrm>
          <a:prstGeom prst="rect">
            <a:avLst/>
          </a:prstGeom>
          <a:solidFill>
            <a:srgbClr val="F0F5F7"/>
          </a:solidFill>
          <a:ln w="12700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100" dirty="0">
                <a:solidFill>
                  <a:srgbClr val="262626"/>
                </a:solidFill>
                <a:latin typeface="Meiryo UI"/>
                <a:ea typeface="Meiryo UI"/>
              </a:rPr>
              <a:t>・ポータルアプリインストール</a:t>
            </a:r>
            <a:endParaRPr lang="en-US" altLang="ja-JP" sz="1100" dirty="0">
              <a:solidFill>
                <a:srgbClr val="262626"/>
              </a:solidFill>
              <a:latin typeface="Meiryo UI"/>
              <a:ea typeface="Meiryo U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・防災アプリにて地域設定、</a:t>
            </a:r>
            <a:r>
              <a:rPr kumimoji="0" lang="en-US" altLang="ja-JP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Google</a:t>
            </a: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パーソンファインダー安否登録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2033383" y="1585344"/>
            <a:ext cx="201168" cy="201168"/>
          </a:xfrm>
          <a:prstGeom prst="right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058775" y="1585344"/>
            <a:ext cx="201168" cy="201168"/>
          </a:xfrm>
          <a:prstGeom prst="right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03960" y="1429896"/>
            <a:ext cx="2184264" cy="512064"/>
          </a:xfrm>
          <a:prstGeom prst="rect">
            <a:avLst/>
          </a:prstGeom>
          <a:solidFill>
            <a:srgbClr val="F0F5F7"/>
          </a:solidFill>
          <a:ln w="12700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システムへの情報登録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2A6DF0FA-1E51-46D9-B91D-A98E0028B6A3}"/>
              </a:ext>
            </a:extLst>
          </p:cNvPr>
          <p:cNvSpPr txBox="1"/>
          <p:nvPr/>
        </p:nvSpPr>
        <p:spPr>
          <a:xfrm>
            <a:off x="3968420" y="4054666"/>
            <a:ext cx="932688" cy="299295"/>
          </a:xfrm>
          <a:prstGeom prst="rect">
            <a:avLst/>
          </a:prstGeom>
          <a:noFill/>
        </p:spPr>
        <p:txBody>
          <a:bodyPr wrap="square" lIns="72000" tIns="72000" rIns="72000" bIns="7200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 dirty="0">
                <a:solidFill>
                  <a:srgbClr val="77888E"/>
                </a:solidFill>
                <a:latin typeface="Meiryo UI"/>
                <a:ea typeface="Meiryo UI"/>
              </a:rPr>
              <a:t>FPM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77888E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</p:txBody>
      </p:sp>
      <p:sp>
        <p:nvSpPr>
          <p:cNvPr id="57" name="TextBox 15">
            <a:extLst>
              <a:ext uri="{FF2B5EF4-FFF2-40B4-BE49-F238E27FC236}">
                <a16:creationId xmlns:a16="http://schemas.microsoft.com/office/drawing/2014/main" id="{E2807866-8331-48A2-A9AF-4593C3B69EAF}"/>
              </a:ext>
            </a:extLst>
          </p:cNvPr>
          <p:cNvSpPr txBox="1"/>
          <p:nvPr/>
        </p:nvSpPr>
        <p:spPr>
          <a:xfrm>
            <a:off x="4727996" y="877735"/>
            <a:ext cx="1536192" cy="299295"/>
          </a:xfrm>
          <a:prstGeom prst="rect">
            <a:avLst/>
          </a:prstGeom>
          <a:noFill/>
        </p:spPr>
        <p:txBody>
          <a:bodyPr wrap="square" lIns="72000" tIns="72000" rIns="72000" bIns="7200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7888E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広島市危機管理対策課</a:t>
            </a:r>
          </a:p>
        </p:txBody>
      </p:sp>
      <p:sp>
        <p:nvSpPr>
          <p:cNvPr id="55" name="Rectangle 8">
            <a:extLst>
              <a:ext uri="{FF2B5EF4-FFF2-40B4-BE49-F238E27FC236}">
                <a16:creationId xmlns:a16="http://schemas.microsoft.com/office/drawing/2014/main" id="{858653B1-D06F-89B1-1816-524749FF7622}"/>
              </a:ext>
            </a:extLst>
          </p:cNvPr>
          <p:cNvSpPr/>
          <p:nvPr/>
        </p:nvSpPr>
        <p:spPr>
          <a:xfrm>
            <a:off x="2377525" y="1429896"/>
            <a:ext cx="1536192" cy="512064"/>
          </a:xfrm>
          <a:prstGeom prst="rect">
            <a:avLst/>
          </a:prstGeom>
          <a:solidFill>
            <a:srgbClr val="F0F5F7"/>
          </a:solidFill>
          <a:ln w="12700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災害発生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61" name="Rectangle 4">
            <a:extLst>
              <a:ext uri="{FF2B5EF4-FFF2-40B4-BE49-F238E27FC236}">
                <a16:creationId xmlns:a16="http://schemas.microsoft.com/office/drawing/2014/main" id="{0A59DB18-AF98-6653-E950-C4F1E8129CAA}"/>
              </a:ext>
            </a:extLst>
          </p:cNvPr>
          <p:cNvSpPr/>
          <p:nvPr/>
        </p:nvSpPr>
        <p:spPr>
          <a:xfrm>
            <a:off x="7092280" y="1182887"/>
            <a:ext cx="1968764" cy="1088128"/>
          </a:xfrm>
          <a:prstGeom prst="rect">
            <a:avLst/>
          </a:prstGeom>
          <a:solidFill>
            <a:srgbClr val="F0F5F7"/>
          </a:solidFill>
          <a:ln w="12700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100" dirty="0">
                <a:solidFill>
                  <a:srgbClr val="262626"/>
                </a:solidFill>
                <a:latin typeface="Meiryo UI"/>
                <a:ea typeface="Meiryo UI"/>
              </a:rPr>
              <a:t>・通知受信</a:t>
            </a:r>
            <a:endParaRPr lang="en-US" altLang="ja-JP" sz="1100" dirty="0">
              <a:solidFill>
                <a:srgbClr val="262626"/>
              </a:solidFill>
              <a:latin typeface="Meiryo UI"/>
              <a:ea typeface="Meiryo U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・避難所検索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・避難所へのルート確認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100" dirty="0">
                <a:solidFill>
                  <a:srgbClr val="262626"/>
                </a:solidFill>
                <a:latin typeface="Meiryo UI"/>
                <a:ea typeface="Meiryo UI"/>
              </a:rPr>
              <a:t>（・ルートと現在地を確認しながら避難所へ移動）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63" name="Right Arrow 5">
            <a:extLst>
              <a:ext uri="{FF2B5EF4-FFF2-40B4-BE49-F238E27FC236}">
                <a16:creationId xmlns:a16="http://schemas.microsoft.com/office/drawing/2014/main" id="{F0F0F975-12B7-44E7-585E-0DAB4EDBCC34}"/>
              </a:ext>
            </a:extLst>
          </p:cNvPr>
          <p:cNvSpPr/>
          <p:nvPr/>
        </p:nvSpPr>
        <p:spPr>
          <a:xfrm>
            <a:off x="6772411" y="1585344"/>
            <a:ext cx="201168" cy="201168"/>
          </a:xfrm>
          <a:prstGeom prst="right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5" name="TextBox 15">
            <a:extLst>
              <a:ext uri="{FF2B5EF4-FFF2-40B4-BE49-F238E27FC236}">
                <a16:creationId xmlns:a16="http://schemas.microsoft.com/office/drawing/2014/main" id="{C27EB617-C2A9-1FBF-B509-A7E8DF2B722F}"/>
              </a:ext>
            </a:extLst>
          </p:cNvPr>
          <p:cNvSpPr txBox="1"/>
          <p:nvPr/>
        </p:nvSpPr>
        <p:spPr>
          <a:xfrm>
            <a:off x="7509683" y="877735"/>
            <a:ext cx="932688" cy="299295"/>
          </a:xfrm>
          <a:prstGeom prst="rect">
            <a:avLst/>
          </a:prstGeom>
          <a:noFill/>
        </p:spPr>
        <p:txBody>
          <a:bodyPr wrap="square" lIns="72000" tIns="72000" rIns="72000" bIns="7200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000" dirty="0">
                <a:solidFill>
                  <a:srgbClr val="77888E"/>
                </a:solidFill>
                <a:latin typeface="Meiryo UI"/>
                <a:ea typeface="Meiryo UI"/>
              </a:rPr>
              <a:t>アプリ利用者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77888E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</p:txBody>
      </p:sp>
      <p:sp>
        <p:nvSpPr>
          <p:cNvPr id="67" name="Rectangle 8">
            <a:extLst>
              <a:ext uri="{FF2B5EF4-FFF2-40B4-BE49-F238E27FC236}">
                <a16:creationId xmlns:a16="http://schemas.microsoft.com/office/drawing/2014/main" id="{89B8ECA2-A335-5F95-1D3C-25E872F3C1B7}"/>
              </a:ext>
            </a:extLst>
          </p:cNvPr>
          <p:cNvSpPr/>
          <p:nvPr/>
        </p:nvSpPr>
        <p:spPr>
          <a:xfrm>
            <a:off x="4403960" y="2589580"/>
            <a:ext cx="2184264" cy="911428"/>
          </a:xfrm>
          <a:prstGeom prst="rect">
            <a:avLst/>
          </a:prstGeom>
          <a:solidFill>
            <a:srgbClr val="F0F5F7"/>
          </a:solidFill>
          <a:ln w="12700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自動実行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・</a:t>
            </a:r>
            <a:r>
              <a:rPr kumimoji="0" lang="en-US" altLang="ja-JP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L</a:t>
            </a: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アラート他の情報取得</a:t>
            </a:r>
            <a:endParaRPr kumimoji="0" lang="en-US" altLang="ja-JP" sz="11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100" dirty="0">
                <a:solidFill>
                  <a:srgbClr val="262626"/>
                </a:solidFill>
                <a:latin typeface="Meiryo UI"/>
                <a:ea typeface="Meiryo UI"/>
              </a:rPr>
              <a:t>・システムに情報反映</a:t>
            </a:r>
            <a:endParaRPr lang="en-US" altLang="ja-JP" sz="1100" dirty="0">
              <a:solidFill>
                <a:srgbClr val="262626"/>
              </a:solidFill>
              <a:latin typeface="Meiryo UI"/>
              <a:ea typeface="Meiryo U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100" dirty="0">
                <a:solidFill>
                  <a:srgbClr val="262626"/>
                </a:solidFill>
                <a:latin typeface="Meiryo UI"/>
                <a:ea typeface="Meiryo UI"/>
              </a:rPr>
              <a:t>・通知発出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69" name="TextBox 15">
            <a:extLst>
              <a:ext uri="{FF2B5EF4-FFF2-40B4-BE49-F238E27FC236}">
                <a16:creationId xmlns:a16="http://schemas.microsoft.com/office/drawing/2014/main" id="{FC1517FB-D653-0302-0BFB-AEFA10C7E3F9}"/>
              </a:ext>
            </a:extLst>
          </p:cNvPr>
          <p:cNvSpPr txBox="1"/>
          <p:nvPr/>
        </p:nvSpPr>
        <p:spPr>
          <a:xfrm>
            <a:off x="4758800" y="2290285"/>
            <a:ext cx="1536192" cy="299295"/>
          </a:xfrm>
          <a:prstGeom prst="rect">
            <a:avLst/>
          </a:prstGeom>
          <a:noFill/>
        </p:spPr>
        <p:txBody>
          <a:bodyPr wrap="square" lIns="72000" tIns="72000" rIns="72000" bIns="7200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77888E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システム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77888E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</p:txBody>
      </p:sp>
      <p:sp>
        <p:nvSpPr>
          <p:cNvPr id="71" name="Right Arrow 7">
            <a:extLst>
              <a:ext uri="{FF2B5EF4-FFF2-40B4-BE49-F238E27FC236}">
                <a16:creationId xmlns:a16="http://schemas.microsoft.com/office/drawing/2014/main" id="{DF7EC083-8265-A92D-8EB7-C5FA25480BFD}"/>
              </a:ext>
            </a:extLst>
          </p:cNvPr>
          <p:cNvSpPr/>
          <p:nvPr/>
        </p:nvSpPr>
        <p:spPr>
          <a:xfrm rot="2486146">
            <a:off x="4058775" y="2170430"/>
            <a:ext cx="201168" cy="201168"/>
          </a:xfrm>
          <a:prstGeom prst="right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3" name="Right Arrow 7">
            <a:extLst>
              <a:ext uri="{FF2B5EF4-FFF2-40B4-BE49-F238E27FC236}">
                <a16:creationId xmlns:a16="http://schemas.microsoft.com/office/drawing/2014/main" id="{91B31F0E-4EE1-0997-3C84-4A4399A732AA}"/>
              </a:ext>
            </a:extLst>
          </p:cNvPr>
          <p:cNvSpPr/>
          <p:nvPr/>
        </p:nvSpPr>
        <p:spPr>
          <a:xfrm rot="19197850">
            <a:off x="6763949" y="2164597"/>
            <a:ext cx="201168" cy="201168"/>
          </a:xfrm>
          <a:prstGeom prst="right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5" name="TextBox 21">
            <a:extLst>
              <a:ext uri="{FF2B5EF4-FFF2-40B4-BE49-F238E27FC236}">
                <a16:creationId xmlns:a16="http://schemas.microsoft.com/office/drawing/2014/main" id="{839543B9-ABF1-7207-1512-A93EFDC4570D}"/>
              </a:ext>
            </a:extLst>
          </p:cNvPr>
          <p:cNvSpPr txBox="1"/>
          <p:nvPr/>
        </p:nvSpPr>
        <p:spPr>
          <a:xfrm>
            <a:off x="274320" y="5733256"/>
            <a:ext cx="8595360" cy="514738"/>
          </a:xfrm>
          <a:prstGeom prst="rect">
            <a:avLst/>
          </a:prstGeom>
          <a:noFill/>
        </p:spPr>
        <p:txBody>
          <a:bodyPr wrap="square" lIns="72000" tIns="72000" rIns="72000" bIns="72000" anchor="ctr">
            <a:spAutoFit/>
          </a:bodyPr>
          <a:lstStyle/>
          <a:p>
            <a:pPr lvl="0"/>
            <a:r>
              <a:rPr lang="en-US" altLang="ja-JP" sz="1200" dirty="0">
                <a:solidFill>
                  <a:srgbClr val="77888E"/>
                </a:solidFill>
                <a:latin typeface="Meiryo UI"/>
                <a:ea typeface="Meiryo UI"/>
              </a:rPr>
              <a:t>※</a:t>
            </a:r>
            <a:r>
              <a:rPr lang="ja-JP" altLang="en-US" sz="1200" dirty="0">
                <a:solidFill>
                  <a:srgbClr val="77888E"/>
                </a:solidFill>
                <a:latin typeface="Meiryo UI"/>
                <a:ea typeface="Meiryo UI"/>
              </a:rPr>
              <a:t>広島市避難誘導アプリ開発業務　仕様書 </a:t>
            </a:r>
            <a:r>
              <a:rPr lang="en-US" altLang="ja-JP" sz="1200" dirty="0">
                <a:solidFill>
                  <a:srgbClr val="77888E"/>
                </a:solidFill>
                <a:latin typeface="Meiryo UI"/>
                <a:ea typeface="Meiryo UI"/>
              </a:rPr>
              <a:t>(03-1_</a:t>
            </a:r>
            <a:r>
              <a:rPr lang="ja-JP" altLang="en-US" sz="1200" dirty="0">
                <a:solidFill>
                  <a:srgbClr val="77888E"/>
                </a:solidFill>
                <a:latin typeface="Meiryo UI"/>
                <a:ea typeface="Meiryo UI"/>
              </a:rPr>
              <a:t>仕様書</a:t>
            </a:r>
            <a:r>
              <a:rPr lang="en-US" altLang="ja-JP" sz="1200" dirty="0">
                <a:solidFill>
                  <a:srgbClr val="77888E"/>
                </a:solidFill>
                <a:latin typeface="Meiryo UI"/>
                <a:ea typeface="Meiryo UI"/>
              </a:rPr>
              <a:t>.</a:t>
            </a:r>
            <a:r>
              <a:rPr lang="en-US" sz="1200" dirty="0">
                <a:solidFill>
                  <a:srgbClr val="77888E"/>
                </a:solidFill>
                <a:latin typeface="Meiryo UI"/>
                <a:ea typeface="Meiryo UI"/>
              </a:rPr>
              <a:t>docx)</a:t>
            </a:r>
            <a:r>
              <a:rPr lang="ja-JP" altLang="en-US" sz="1200" dirty="0">
                <a:solidFill>
                  <a:srgbClr val="77888E"/>
                </a:solidFill>
                <a:latin typeface="Meiryo UI"/>
                <a:ea typeface="Meiryo UI"/>
              </a:rPr>
              <a:t>、双方向サービス基盤　仕様書（</a:t>
            </a:r>
            <a:r>
              <a:rPr lang="zh-TW" altLang="en-US" sz="1200" dirty="0">
                <a:solidFill>
                  <a:srgbClr val="77888E"/>
                </a:solidFill>
                <a:latin typeface="Meiryo UI"/>
                <a:ea typeface="Meiryo UI"/>
              </a:rPr>
              <a:t>（確定）</a:t>
            </a:r>
            <a:r>
              <a:rPr lang="en-US" altLang="zh-TW" sz="1200" dirty="0">
                <a:solidFill>
                  <a:srgbClr val="77888E"/>
                </a:solidFill>
                <a:latin typeface="Meiryo UI"/>
                <a:ea typeface="Meiryo UI"/>
              </a:rPr>
              <a:t>04</a:t>
            </a:r>
            <a:r>
              <a:rPr lang="zh-TW" altLang="en-US" sz="1200" dirty="0">
                <a:solidFill>
                  <a:srgbClr val="77888E"/>
                </a:solidFill>
                <a:latin typeface="Meiryo UI"/>
                <a:ea typeface="Meiryo UI"/>
              </a:rPr>
              <a:t>：仕様書別紙「詳細要件」</a:t>
            </a:r>
            <a:r>
              <a:rPr lang="en-US" altLang="zh-TW" sz="1200" dirty="0">
                <a:solidFill>
                  <a:srgbClr val="77888E"/>
                </a:solidFill>
                <a:latin typeface="Meiryo UI"/>
                <a:ea typeface="Meiryo UI"/>
              </a:rPr>
              <a:t>.xlsx</a:t>
            </a:r>
            <a:r>
              <a:rPr lang="ja-JP" altLang="en-US" sz="1200" dirty="0">
                <a:solidFill>
                  <a:srgbClr val="77888E"/>
                </a:solidFill>
                <a:latin typeface="Meiryo UI"/>
                <a:ea typeface="Meiryo UI"/>
              </a:rPr>
              <a:t>）　を改変</a:t>
            </a:r>
            <a:r>
              <a:rPr lang="en-US" sz="1200" dirty="0">
                <a:solidFill>
                  <a:srgbClr val="77888E"/>
                </a:solidFill>
                <a:latin typeface="Meiryo UI"/>
                <a:ea typeface="Meiryo UI"/>
              </a:rPr>
              <a:t> 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77888E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</p:txBody>
      </p:sp>
      <p:sp>
        <p:nvSpPr>
          <p:cNvPr id="77" name="Right Arrow 5">
            <a:extLst>
              <a:ext uri="{FF2B5EF4-FFF2-40B4-BE49-F238E27FC236}">
                <a16:creationId xmlns:a16="http://schemas.microsoft.com/office/drawing/2014/main" id="{8023D6D7-E2DA-81CA-9417-7CA04CD151A2}"/>
              </a:ext>
            </a:extLst>
          </p:cNvPr>
          <p:cNvSpPr/>
          <p:nvPr/>
        </p:nvSpPr>
        <p:spPr>
          <a:xfrm>
            <a:off x="301856" y="4379960"/>
            <a:ext cx="8759188" cy="283427"/>
          </a:xfrm>
          <a:prstGeom prst="right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1" name="Rectangle 8">
            <a:extLst>
              <a:ext uri="{FF2B5EF4-FFF2-40B4-BE49-F238E27FC236}">
                <a16:creationId xmlns:a16="http://schemas.microsoft.com/office/drawing/2014/main" id="{D583EF04-FEBA-D38C-5E69-C7D65E0A3E00}"/>
              </a:ext>
            </a:extLst>
          </p:cNvPr>
          <p:cNvSpPr/>
          <p:nvPr/>
        </p:nvSpPr>
        <p:spPr>
          <a:xfrm>
            <a:off x="3342632" y="4337434"/>
            <a:ext cx="2184264" cy="346074"/>
          </a:xfrm>
          <a:prstGeom prst="rect">
            <a:avLst/>
          </a:prstGeom>
          <a:solidFill>
            <a:srgbClr val="F0F5F7"/>
          </a:solidFill>
          <a:ln w="12700">
            <a:solidFill>
              <a:srgbClr val="A6B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保守</a:t>
            </a:r>
          </a:p>
        </p:txBody>
      </p:sp>
      <p:sp>
        <p:nvSpPr>
          <p:cNvPr id="83" name="TextBox 15">
            <a:extLst>
              <a:ext uri="{FF2B5EF4-FFF2-40B4-BE49-F238E27FC236}">
                <a16:creationId xmlns:a16="http://schemas.microsoft.com/office/drawing/2014/main" id="{1F317168-5544-9241-2B1B-D57798CC5FC2}"/>
              </a:ext>
            </a:extLst>
          </p:cNvPr>
          <p:cNvSpPr txBox="1"/>
          <p:nvPr/>
        </p:nvSpPr>
        <p:spPr>
          <a:xfrm>
            <a:off x="774192" y="1030135"/>
            <a:ext cx="932688" cy="299295"/>
          </a:xfrm>
          <a:prstGeom prst="rect">
            <a:avLst/>
          </a:prstGeom>
          <a:noFill/>
        </p:spPr>
        <p:txBody>
          <a:bodyPr wrap="square" lIns="72000" tIns="72000" rIns="72000" bIns="7200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000" dirty="0">
                <a:solidFill>
                  <a:srgbClr val="77888E"/>
                </a:solidFill>
                <a:latin typeface="Meiryo UI"/>
                <a:ea typeface="Meiryo UI"/>
              </a:rPr>
              <a:t>アプリ利用者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77888E"/>
              </a:solidFill>
              <a:effectLst/>
              <a:uLnTx/>
              <a:uFillTx/>
              <a:latin typeface="Meiryo UI"/>
              <a:ea typeface="Meiryo UI"/>
              <a:cs typeface="Arial"/>
              <a:sym typeface="Arial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74320" y="576072"/>
            <a:ext cx="8595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平時の設定から、災害発生時の情報取得・通知・避難までを一連のフローとして想定している。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1771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86968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フローのバリエーション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76072"/>
            <a:ext cx="8595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通常フローに加え、想定される分岐・例外のパターンを整理する。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業務フェーズ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188720"/>
            <a:ext cx="393192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想定されるバリエーション（分岐・例外）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188720"/>
            <a:ext cx="320040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備考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1463040" cy="65836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初回起動・設定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554480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位置情報／通知の権限を許可しない場合。地域を手動選択して利用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554480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一部機能に制限。地域選択のみでも防災情報の受信は可能（項番10・11）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12848"/>
            <a:ext cx="1463040" cy="65836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平時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212848"/>
            <a:ext cx="3931920" cy="65836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自宅・勤務先・実家など、現在地以外の地点でも通知を受け取りたい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212848"/>
            <a:ext cx="3200400" cy="65836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事前登録地点を3か所程度設定し、現在地とあわせて受信（項番4・13）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71215"/>
            <a:ext cx="1463040" cy="65836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警戒・発災時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871215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通信が不安定または圏外で、地図・避難所情報を取得できない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871215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表示済みの地理院地図をキャッシュし、オフラインで表示（項番18）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29583"/>
            <a:ext cx="1463040" cy="65836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警戒・発災時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3529583"/>
            <a:ext cx="3931920" cy="65836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配信エリア外にいて通知を受け取れなかった利用者が、後からエリアに進入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3529583"/>
            <a:ext cx="3200400" cy="65836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一定期間内であれば遡って受信（GPS連動Push・期間指定配信）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87951"/>
            <a:ext cx="1463040" cy="65836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避難行動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187951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ルート上に危険箇所があり通過できない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4187951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経由地検索・ルート再検索により別ルートを案内（項番25）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46319"/>
            <a:ext cx="1463040" cy="65836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避難行動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4846319"/>
            <a:ext cx="3931920" cy="65836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カメラの権限を許可しない、またはAR非対応端末である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4846319"/>
            <a:ext cx="3200400" cy="65836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ARカメラは利用不可。避難コンパスの表示で代替（項番23）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04687"/>
            <a:ext cx="1463040" cy="65836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安否確認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5504687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家族が別の場所にいる／端末を持っていない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5504687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web171・Googleパーソンファインダー・J-anpiへのリンク、家族へのメール送信（項番26〜31）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※ 項番は別紙「20260824_現状機能概要まとめ.xlsx」に対応します。バリエーションはヒアリングを踏まえて追加・確定します。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9174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76"/>
          <p:cNvSpPr txBox="1"/>
          <p:nvPr/>
        </p:nvSpPr>
        <p:spPr>
          <a:xfrm>
            <a:off x="269875" y="141288"/>
            <a:ext cx="8874125" cy="346074"/>
          </a:xfrm>
          <a:prstGeom prst="rect">
            <a:avLst/>
          </a:prstGeom>
          <a:noFill/>
          <a:ln>
            <a:noFill/>
          </a:ln>
        </p:spPr>
        <p:txBody>
          <a:bodyPr lIns="72000" tIns="72000" rIns="72000" bIns="720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Tx/>
              <a:buNone/>
              <a:tabLst/>
              <a:defRPr/>
            </a:pP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Arial"/>
              </a:rPr>
              <a:t>ヒアリング論点と今後の進め方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03504"/>
            <a:ext cx="8595359" cy="365760"/>
          </a:xfrm>
          <a:prstGeom prst="rect">
            <a:avLst/>
          </a:prstGeom>
          <a:noFill/>
        </p:spPr>
        <p:txBody>
          <a:bodyPr wrap="none" lIns="72000" tIns="72000" rIns="72000" bIns="720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Arial"/>
                <a:sym typeface="Arial"/>
              </a:rPr>
              <a:t>確認事項を解消して要求仕様を確定し、要件定義へ進む。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25296"/>
            <a:ext cx="4846320" cy="502920"/>
          </a:xfrm>
          <a:prstGeom prst="rect">
            <a:avLst/>
          </a:prstGeom>
          <a:solidFill>
            <a:srgbClr val="008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ヒアリングで確認したい主な論点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28216"/>
            <a:ext cx="48463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想定している利用フロー以外の利用フロー・シチュエーション</a:t>
            </a:r>
            <a:endParaRPr kumimoji="0" lang="en-US" altLang="ja-JP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現行の管理画面でできること、操作方法、操作シチュエーション</a:t>
            </a:r>
            <a:endParaRPr lang="en-US" altLang="ja-JP" dirty="0">
              <a:solidFill>
                <a:srgbClr val="262626"/>
              </a:solidFill>
              <a:latin typeface="Meiryo UI"/>
              <a:ea typeface="Meiryo U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「避難所へ</a:t>
            </a:r>
            <a:r>
              <a:rPr lang="en-US" altLang="ja-JP" dirty="0">
                <a:solidFill>
                  <a:srgbClr val="262626"/>
                </a:solidFill>
                <a:latin typeface="Meiryo UI"/>
                <a:ea typeface="Meiryo UI"/>
              </a:rPr>
              <a:t>Go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！」アプリベンダーの現在の業務内容</a:t>
            </a:r>
            <a:endParaRPr lang="en-US" altLang="ja-JP" dirty="0">
              <a:solidFill>
                <a:srgbClr val="262626"/>
              </a:solidFill>
              <a:latin typeface="Meiryo UI"/>
              <a:ea typeface="Meiryo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「避難所へ</a:t>
            </a:r>
            <a:r>
              <a:rPr lang="en-US" altLang="ja-JP" dirty="0">
                <a:solidFill>
                  <a:srgbClr val="262626"/>
                </a:solidFill>
                <a:latin typeface="Meiryo UI"/>
                <a:ea typeface="Meiryo UI"/>
              </a:rPr>
              <a:t>Go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！」の機能をそのまま実装する場合の権利関係</a:t>
            </a:r>
            <a:endParaRPr lang="en-US" altLang="ja-JP" dirty="0">
              <a:solidFill>
                <a:srgbClr val="262626"/>
              </a:solidFill>
              <a:latin typeface="Meiryo UI"/>
              <a:ea typeface="Meiryo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詳細な確認事項は</a:t>
            </a:r>
            <a:r>
              <a:rPr lang="en-US" altLang="ja-JP" dirty="0">
                <a:solidFill>
                  <a:srgbClr val="262626"/>
                </a:solidFill>
                <a:latin typeface="Meiryo UI"/>
                <a:ea typeface="Meiryo UI"/>
              </a:rPr>
              <a:t>20260824_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現状機能概要まとめ </a:t>
            </a:r>
            <a:r>
              <a:rPr lang="en-US" altLang="ja-JP" dirty="0">
                <a:solidFill>
                  <a:srgbClr val="262626"/>
                </a:solidFill>
                <a:latin typeface="Meiryo UI"/>
                <a:ea typeface="Meiryo UI"/>
              </a:rPr>
              <a:t>(1).xlsx</a:t>
            </a:r>
            <a:r>
              <a:rPr lang="ja-JP" altLang="en-US" dirty="0">
                <a:solidFill>
                  <a:srgbClr val="262626"/>
                </a:solidFill>
                <a:latin typeface="Meiryo UI"/>
                <a:ea typeface="Meiryo UI"/>
              </a:rPr>
              <a:t>　にてご提出済み</a:t>
            </a:r>
            <a:endParaRPr lang="ja-JP" altLang="en-US" dirty="0">
              <a:solidFill>
                <a:srgbClr val="262626"/>
              </a:solidFill>
              <a:latin typeface="Meiryo UI"/>
              <a:ea typeface="Meiryo UI"/>
              <a:cs typeface="Arial"/>
            </a:endParaRPr>
          </a:p>
          <a:p>
            <a:pPr marL="212344" indent="-18161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Clr>
                <a:srgbClr val="0081AF"/>
              </a:buClr>
              <a:buSzPct val="55000"/>
              <a:buFont typeface="Arial"/>
              <a:buChar char="●"/>
            </a:pPr>
            <a:r>
              <a:rPr sz="11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現行アプリのデータ（避難所等情報、小学校区、ハザード情報）の提供方法と更新頻度</a:t>
            </a:r>
          </a:p>
          <a:p>
            <a:pPr marL="212344" indent="-18161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Clr>
                <a:srgbClr val="0081AF"/>
              </a:buClr>
              <a:buSzPct val="55000"/>
              <a:buFont typeface="Arial"/>
              <a:buChar char="●"/>
            </a:pPr>
            <a:r>
              <a:rPr sz="11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関連市町（廿日市市・江田島市・熊野町）への説明・調整の進め方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225296"/>
            <a:ext cx="3566160" cy="502920"/>
          </a:xfrm>
          <a:prstGeom prst="rect">
            <a:avLst/>
          </a:prstGeom>
          <a:solidFill>
            <a:srgbClr val="005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今後の進め方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783080"/>
            <a:ext cx="3566160" cy="530352"/>
          </a:xfrm>
          <a:prstGeom prst="rect">
            <a:avLst/>
          </a:prstGeom>
          <a:solidFill>
            <a:srgbClr val="0081AF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① 本日：認識合わせ</a:t>
            </a:r>
          </a:p>
        </p:txBody>
      </p:sp>
      <p:sp>
        <p:nvSpPr>
          <p:cNvPr id="8" name="Down Arrow 7"/>
          <p:cNvSpPr/>
          <p:nvPr/>
        </p:nvSpPr>
        <p:spPr>
          <a:xfrm>
            <a:off x="6967728" y="2286000"/>
            <a:ext cx="237744" cy="146304"/>
          </a:xfrm>
          <a:prstGeom prst="down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520" y="2459736"/>
            <a:ext cx="3566160" cy="530352"/>
          </a:xfrm>
          <a:prstGeom prst="rect">
            <a:avLst/>
          </a:prstGeom>
          <a:solidFill>
            <a:srgbClr val="F7FAFB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② 確認事項の回収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967728" y="2962656"/>
            <a:ext cx="237744" cy="146304"/>
          </a:xfrm>
          <a:prstGeom prst="down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520" y="3136391"/>
            <a:ext cx="3566160" cy="530352"/>
          </a:xfrm>
          <a:prstGeom prst="rect">
            <a:avLst/>
          </a:prstGeom>
          <a:solidFill>
            <a:srgbClr val="F7FAFB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③ 要求仕様の確定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967728" y="3639312"/>
            <a:ext cx="237744" cy="146304"/>
          </a:xfrm>
          <a:prstGeom prst="down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3813048"/>
            <a:ext cx="3566160" cy="530352"/>
          </a:xfrm>
          <a:prstGeom prst="rect">
            <a:avLst/>
          </a:prstGeom>
          <a:solidFill>
            <a:srgbClr val="F7FAFB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④ 要件定義・設計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967728" y="4315968"/>
            <a:ext cx="237744" cy="146304"/>
          </a:xfrm>
          <a:prstGeom prst="down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03520" y="4489704"/>
            <a:ext cx="3566160" cy="530352"/>
          </a:xfrm>
          <a:prstGeom prst="rect">
            <a:avLst/>
          </a:prstGeom>
          <a:solidFill>
            <a:srgbClr val="F7FAFB"/>
          </a:solidFill>
          <a:ln w="9525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eiryo UI"/>
                <a:ea typeface="Meiryo UI"/>
                <a:cs typeface="+mn-cs"/>
                <a:sym typeface="Arial"/>
              </a:rPr>
              <a:t>⑤ 開発・テスト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967728" y="4992624"/>
            <a:ext cx="237744" cy="146304"/>
          </a:xfrm>
          <a:prstGeom prst="downArrow">
            <a:avLst/>
          </a:prstGeom>
          <a:solidFill>
            <a:srgbClr val="A6B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03520" y="5166360"/>
            <a:ext cx="3566160" cy="530352"/>
          </a:xfrm>
          <a:prstGeom prst="rect">
            <a:avLst/>
          </a:prstGeom>
          <a:solidFill>
            <a:srgbClr val="00587A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Meiryo UI"/>
                <a:sym typeface="Arial"/>
              </a:rPr>
              <a:t>⑥ R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Meiryo UI"/>
                <a:sym typeface="Arial"/>
              </a:rPr>
              <a:t>10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Meiryo UI"/>
                <a:sym typeface="Arial"/>
              </a:rPr>
              <a:t>/</a:t>
            </a:r>
            <a:r>
              <a:rPr lang="en-US" altLang="ja-JP" dirty="0"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Meiryo UI"/>
                <a:sym typeface="Arial"/>
              </a:rPr>
              <a:t>/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Meiryo UI"/>
                <a:sym typeface="Arial"/>
              </a:rPr>
              <a:t>xx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Meiryo UI"/>
                <a:sym typeface="Arial"/>
              </a:rPr>
              <a:t>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防災アプリ実装版ポータルアプリ　</a:t>
            </a:r>
            <a:r>
              <a:rPr kumimoji="0" sz="11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Meiryo UI"/>
                <a:sym typeface="Arial"/>
              </a:rPr>
              <a:t>リリース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  <a:sym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73465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1E041-5789-4357-3285-B74A031B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86968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機能拡張イメージ①｜浸水被害ARシミュレーション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76072"/>
            <a:ext cx="8595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スマートフォンのカメラで日常の風景を映すだけで、その場所が「どこまで浸水するのか」を実寸大で体感できる機能。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8595360" cy="292608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利用イメージ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651760" cy="960120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① カメラを向ける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アプリの「浸水ARを見る」から、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自宅前や通学路などにカメラを向ける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1792224"/>
            <a:ext cx="182880" cy="201168"/>
          </a:xfrm>
          <a:prstGeom prst="rightArrow">
            <a:avLst/>
          </a:prstGeom>
          <a:solidFill>
            <a:srgbClr val="008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45536" y="1417320"/>
            <a:ext cx="2651760" cy="960120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② 浸水面を重ねて表示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地面・床を認識し、指定した深さの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水面を実寸大で合成表示する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33872" y="1792224"/>
            <a:ext cx="182880" cy="201168"/>
          </a:xfrm>
          <a:prstGeom prst="rightArrow">
            <a:avLst/>
          </a:prstGeom>
          <a:solidFill>
            <a:srgbClr val="0081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16752" y="1417320"/>
            <a:ext cx="2651760" cy="960120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③ 深さを変えて共有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浸水深を切り替えて比較。静止画・</a:t>
            </a:r>
          </a:p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動画を保存して家族や地域で共有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42032"/>
            <a:ext cx="4069080" cy="292608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浸水深の目安（表示を切り替えて比較）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914400" cy="713232"/>
          </a:xfrm>
          <a:prstGeom prst="rect">
            <a:avLst/>
          </a:prstGeom>
          <a:solidFill>
            <a:srgbClr val="CFE7F0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0.5m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834640"/>
            <a:ext cx="3154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大人のひざ程度。歩行が難しくなり、自動車も走行が困難になる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47872"/>
            <a:ext cx="914400" cy="713232"/>
          </a:xfrm>
          <a:prstGeom prst="rect">
            <a:avLst/>
          </a:prstGeom>
          <a:solidFill>
            <a:srgbClr val="7FC0D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1.0m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547872"/>
            <a:ext cx="3154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大人の腰程度。車のドアが開かなくなり、徒歩での避難は危険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61104"/>
            <a:ext cx="914400" cy="713232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2.0m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4261104"/>
            <a:ext cx="3154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1階の軒下まで浸水。1階は水没し、2階への垂直避難が必要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74336"/>
            <a:ext cx="914400" cy="713232"/>
          </a:xfrm>
          <a:prstGeom prst="rect">
            <a:avLst/>
          </a:prstGeom>
          <a:solidFill>
            <a:srgbClr val="00587A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3.0m以上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4974336"/>
            <a:ext cx="3154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2階の床上まで浸水。垂直避難では不十分で、事前の立退き避難が必要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542032"/>
            <a:ext cx="4251960" cy="292608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5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期待される効果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852928"/>
            <a:ext cx="4251960" cy="2834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183388" indent="-156845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Clr>
                <a:srgbClr val="0081AF"/>
              </a:buClr>
              <a:buSzPct val="55000"/>
              <a:buFont typeface="Arial"/>
              <a:buChar char="●"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水害リスクを「じぶんごと」にできる：ハザードマップの数値では実感しにくい浸水の深さを、自宅前や通学路など見慣れた風景に実寸で重ねて示せる</a:t>
            </a:r>
          </a:p>
          <a:p>
            <a:pPr algn="l" marL="183388" indent="-156845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Clr>
                <a:srgbClr val="0081AF"/>
              </a:buClr>
              <a:buSzPct val="55000"/>
              <a:buFont typeface="Arial"/>
              <a:buChar char="●"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「自分の周辺は大丈夫」という思い込みを崩す：避難の必要性を認識しながら避難が遅れる事例への対策として、体感型の疑似体験が有効</a:t>
            </a:r>
          </a:p>
          <a:p>
            <a:pPr algn="l" marL="183388" indent="-156845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Clr>
                <a:srgbClr val="0081AF"/>
              </a:buClr>
              <a:buSzPct val="55000"/>
              <a:buFont typeface="Arial"/>
              <a:buChar char="●"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避難行動を事前に判断できる：「2階への垂直避難で足りるか、早めの立退き避難が必要か」を住まいごとに判断でき、マイ・タイムラインの検討材料になる</a:t>
            </a:r>
          </a:p>
          <a:p>
            <a:pPr algn="l" marL="183388" indent="-156845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Clr>
                <a:srgbClr val="0081AF"/>
              </a:buClr>
              <a:buSzPct val="55000"/>
              <a:buFont typeface="Arial"/>
              <a:buChar char="●"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防災教育・訓練に活用できる：屋内でも短時間で体験でき、学校・自主防災組織・町内会の訓練や出前講座で、子どもから高齢者まで直感的に理解できる</a:t>
            </a:r>
          </a:p>
          <a:p>
            <a:pPr algn="l" marL="183388" indent="-156845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Clr>
                <a:srgbClr val="0081AF"/>
              </a:buClr>
              <a:buSzPct val="55000"/>
              <a:buFont typeface="Arial"/>
              <a:buChar char="●"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平時のアプリ利用機会をつくる：災害時にしか開かれないという課題を補い、体験・共有を通じて認知とインストールが広がる。防災×としポの施策とも組み合わせやすい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806440"/>
            <a:ext cx="859536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※ 実現方式イメージ：iOSはARKit、AndroidはARCore（Depth API）等を利用し、地面・床を検知して指定した深さの水面を描画。屋内・屋外いずれでも利用可能。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※ 対応端末・表示精度、およびハザードマップの想定浸水深（洪水・高潮・津波）と連動した初期値表示の可否は、要件定義にて確定します。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3962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44D7A-0818-33E3-7D1B-768A88B3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17DDAA5B-4A34-B86A-83CC-23B7AAF6B426}"/>
              </a:ext>
            </a:extLst>
          </p:cNvPr>
          <p:cNvSpPr/>
          <p:nvPr/>
        </p:nvSpPr>
        <p:spPr>
          <a:xfrm>
            <a:off x="4887448" y="1308703"/>
            <a:ext cx="4108171" cy="4784593"/>
          </a:xfrm>
          <a:prstGeom prst="roundRect">
            <a:avLst>
              <a:gd name="adj" fmla="val 9601"/>
            </a:avLst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26" name="図 2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1D13F7AC-71C1-BC1C-82F6-BABB87968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97" y="1843728"/>
            <a:ext cx="1046435" cy="906227"/>
          </a:xfrm>
          <a:prstGeom prst="rect">
            <a:avLst/>
          </a:prstGeom>
        </p:spPr>
      </p:pic>
      <p:pic>
        <p:nvPicPr>
          <p:cNvPr id="27" name="図 26" descr="障子, 挿絵, 建物, ウィンドウ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D9465D0-05A9-3382-E4BF-2A8876690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315" y="4076597"/>
            <a:ext cx="1596618" cy="862897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168567F-F768-9705-98CB-8C1215D262C5}"/>
              </a:ext>
            </a:extLst>
          </p:cNvPr>
          <p:cNvSpPr txBox="1"/>
          <p:nvPr/>
        </p:nvSpPr>
        <p:spPr>
          <a:xfrm>
            <a:off x="438151" y="2848809"/>
            <a:ext cx="37017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ご自身のスマートフォンアプリで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広島市アプリを操作しマイナンバーカードを読み取って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避難所登録を済ませておく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16446239-1D3E-EAB5-970D-11D6E3838D8B}"/>
              </a:ext>
            </a:extLst>
          </p:cNvPr>
          <p:cNvSpPr/>
          <p:nvPr/>
        </p:nvSpPr>
        <p:spPr>
          <a:xfrm>
            <a:off x="340565" y="1250037"/>
            <a:ext cx="2314401" cy="36950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平時の事前準備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51B1866-DEB6-9C97-4D46-B847FFBAF0E6}"/>
              </a:ext>
            </a:extLst>
          </p:cNvPr>
          <p:cNvSpPr txBox="1"/>
          <p:nvPr/>
        </p:nvSpPr>
        <p:spPr>
          <a:xfrm>
            <a:off x="438151" y="685637"/>
            <a:ext cx="85248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平時に避難所登録をすませておくことで、有事の際に避難所で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QR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コードを読み込むだけで避難所受付が簡易に行えます。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57318924-054B-63C1-820B-D5B2617CEE4F}"/>
              </a:ext>
            </a:extLst>
          </p:cNvPr>
          <p:cNvSpPr/>
          <p:nvPr/>
        </p:nvSpPr>
        <p:spPr>
          <a:xfrm>
            <a:off x="382943" y="3613788"/>
            <a:ext cx="2314401" cy="369502"/>
          </a:xfrm>
          <a:prstGeom prst="roundRect">
            <a:avLst/>
          </a:prstGeom>
          <a:solidFill>
            <a:srgbClr val="41A1C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避難所受付時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1E398C9-7E48-B518-F77D-9D9FDD9F7AB5}"/>
              </a:ext>
            </a:extLst>
          </p:cNvPr>
          <p:cNvSpPr txBox="1"/>
          <p:nvPr/>
        </p:nvSpPr>
        <p:spPr>
          <a:xfrm>
            <a:off x="340565" y="5559552"/>
            <a:ext cx="39319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避難所の入り口に設置された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QR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コードをスマートフォンで読み取る、</a:t>
            </a:r>
            <a:b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</a:b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またはマイナンバーカードをカードリーダーにかざすことで受付が完了</a:t>
            </a: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334ED4F4-B92C-4F05-E911-762DB2638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372" y="2540571"/>
            <a:ext cx="1708208" cy="876030"/>
          </a:xfrm>
          <a:prstGeom prst="rect">
            <a:avLst/>
          </a:prstGeom>
          <a:ln>
            <a:solidFill>
              <a:sysClr val="windowText" lastClr="000000">
                <a:lumMod val="65000"/>
                <a:lumOff val="35000"/>
              </a:sysClr>
            </a:solidFill>
          </a:ln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BCF3F9B5-882B-B419-7675-DEEEFC03D7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7124"/>
          <a:stretch/>
        </p:blipFill>
        <p:spPr>
          <a:xfrm>
            <a:off x="7387937" y="1925836"/>
            <a:ext cx="1385491" cy="724329"/>
          </a:xfrm>
          <a:prstGeom prst="rect">
            <a:avLst/>
          </a:prstGeom>
          <a:ln>
            <a:solidFill>
              <a:sysClr val="windowText" lastClr="000000">
                <a:lumMod val="65000"/>
                <a:lumOff val="35000"/>
              </a:sysClr>
            </a:solidFill>
          </a:ln>
        </p:spPr>
      </p:pic>
      <p:pic>
        <p:nvPicPr>
          <p:cNvPr id="35" name="図 34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8168501-91EE-3CD4-E515-DF835F1F3D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617" y="2356598"/>
            <a:ext cx="2128069" cy="1492923"/>
          </a:xfrm>
          <a:prstGeom prst="rect">
            <a:avLst/>
          </a:prstGeom>
        </p:spPr>
      </p:pic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2EF04BBE-06C5-B56D-BC3B-732961484DE8}"/>
              </a:ext>
            </a:extLst>
          </p:cNvPr>
          <p:cNvSpPr/>
          <p:nvPr/>
        </p:nvSpPr>
        <p:spPr>
          <a:xfrm>
            <a:off x="5489996" y="1233370"/>
            <a:ext cx="2993905" cy="369502"/>
          </a:xfrm>
          <a:prstGeom prst="roundRect">
            <a:avLst/>
          </a:prstGeom>
          <a:solidFill>
            <a:srgbClr val="41A1C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避難所名簿・避難所状況の確認</a:t>
            </a:r>
          </a:p>
        </p:txBody>
      </p:sp>
      <p:sp>
        <p:nvSpPr>
          <p:cNvPr id="37" name="二等辺三角形 36">
            <a:extLst>
              <a:ext uri="{FF2B5EF4-FFF2-40B4-BE49-F238E27FC236}">
                <a16:creationId xmlns:a16="http://schemas.microsoft.com/office/drawing/2014/main" id="{06AFFCFC-F096-0772-B5DC-C3E891AE0465}"/>
              </a:ext>
            </a:extLst>
          </p:cNvPr>
          <p:cNvSpPr/>
          <p:nvPr/>
        </p:nvSpPr>
        <p:spPr>
          <a:xfrm rot="5400000">
            <a:off x="4076704" y="3250874"/>
            <a:ext cx="850309" cy="428280"/>
          </a:xfrm>
          <a:prstGeom prst="triangle">
            <a:avLst/>
          </a:prstGeom>
          <a:solidFill>
            <a:srgbClr val="9ED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D94E682C-F4FA-3520-EDE8-288204200EF3}"/>
              </a:ext>
            </a:extLst>
          </p:cNvPr>
          <p:cNvSpPr/>
          <p:nvPr/>
        </p:nvSpPr>
        <p:spPr>
          <a:xfrm>
            <a:off x="1992196" y="2104677"/>
            <a:ext cx="857737" cy="249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41A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住所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8E3F1B47-7446-86ED-B471-5D6BB5AD5D35}"/>
              </a:ext>
            </a:extLst>
          </p:cNvPr>
          <p:cNvSpPr/>
          <p:nvPr/>
        </p:nvSpPr>
        <p:spPr>
          <a:xfrm>
            <a:off x="3027125" y="2100734"/>
            <a:ext cx="857737" cy="249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41A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氏名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E698B3D-D59E-7B99-B606-540C15E68521}"/>
              </a:ext>
            </a:extLst>
          </p:cNvPr>
          <p:cNvSpPr/>
          <p:nvPr/>
        </p:nvSpPr>
        <p:spPr>
          <a:xfrm>
            <a:off x="1993941" y="2464865"/>
            <a:ext cx="857738" cy="249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41A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生年月日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462EEDFA-1EB5-6346-5238-53C226F8991B}"/>
              </a:ext>
            </a:extLst>
          </p:cNvPr>
          <p:cNvSpPr/>
          <p:nvPr/>
        </p:nvSpPr>
        <p:spPr>
          <a:xfrm>
            <a:off x="3030689" y="2453226"/>
            <a:ext cx="857738" cy="249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41A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性別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0569017F-4568-5461-C50A-AE0B3E97E02D}"/>
              </a:ext>
            </a:extLst>
          </p:cNvPr>
          <p:cNvSpPr/>
          <p:nvPr/>
        </p:nvSpPr>
        <p:spPr>
          <a:xfrm>
            <a:off x="1917885" y="1744489"/>
            <a:ext cx="1966978" cy="249680"/>
          </a:xfrm>
          <a:prstGeom prst="roundRect">
            <a:avLst>
              <a:gd name="adj" fmla="val 15666"/>
            </a:avLst>
          </a:prstGeom>
          <a:solidFill>
            <a:srgbClr val="41A1C1"/>
          </a:solidFill>
          <a:ln>
            <a:solidFill>
              <a:srgbClr val="41A1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基本４情報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BA8A702-2D91-572F-A5EB-81FA1105AE68}"/>
              </a:ext>
            </a:extLst>
          </p:cNvPr>
          <p:cNvSpPr txBox="1"/>
          <p:nvPr/>
        </p:nvSpPr>
        <p:spPr>
          <a:xfrm>
            <a:off x="5345287" y="3789040"/>
            <a:ext cx="3428141" cy="133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各避難所の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highlight>
                  <a:srgbClr val="C1EAFF"/>
                </a:highlight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避難者情報を一元管理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避難所の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highlight>
                  <a:srgbClr val="C1EAFF"/>
                </a:highlight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混雑度を可視化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highlight>
                <a:srgbClr val="C1EAFF"/>
              </a:highlight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手入力でのデータ化を大幅に削減</a:t>
            </a:r>
            <a:b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</a:b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highlight>
                  <a:srgbClr val="C1EAFF"/>
                </a:highlight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受付の混雑緩和と職員の負担軽減に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E4D15DC-C7C2-26DB-2458-730FA4FFBB62}"/>
              </a:ext>
            </a:extLst>
          </p:cNvPr>
          <p:cNvSpPr txBox="1"/>
          <p:nvPr/>
        </p:nvSpPr>
        <p:spPr>
          <a:xfrm>
            <a:off x="5345287" y="5229200"/>
            <a:ext cx="336056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管理システムでは避難所ごとに避難者名簿の</a:t>
            </a:r>
            <a:b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</a:b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作成を行ったり、避難所の混雑状況・開所情報・避難者の検索などが確認できます。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F8E4593E-2E9A-946A-6039-8CB40A58EC26}"/>
              </a:ext>
            </a:extLst>
          </p:cNvPr>
          <p:cNvGrpSpPr/>
          <p:nvPr/>
        </p:nvGrpSpPr>
        <p:grpSpPr>
          <a:xfrm>
            <a:off x="5127811" y="1755669"/>
            <a:ext cx="724371" cy="682943"/>
            <a:chOff x="370355" y="5123349"/>
            <a:chExt cx="546934" cy="515654"/>
          </a:xfrm>
        </p:grpSpPr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607FF2E0-6596-B22C-D2F4-FBAA3B9E95D2}"/>
                </a:ext>
              </a:extLst>
            </p:cNvPr>
            <p:cNvSpPr/>
            <p:nvPr/>
          </p:nvSpPr>
          <p:spPr>
            <a:xfrm>
              <a:off x="370355" y="5123349"/>
              <a:ext cx="546934" cy="515654"/>
            </a:xfrm>
            <a:prstGeom prst="ellipse">
              <a:avLst/>
            </a:prstGeom>
            <a:solidFill>
              <a:srgbClr val="FFFD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endParaRPr>
            </a:p>
          </p:txBody>
        </p:sp>
        <p:pic>
          <p:nvPicPr>
            <p:cNvPr id="47" name="図 46" descr="アイコン&#10;&#10;自動的に生成された説明">
              <a:extLst>
                <a:ext uri="{FF2B5EF4-FFF2-40B4-BE49-F238E27FC236}">
                  <a16:creationId xmlns:a16="http://schemas.microsoft.com/office/drawing/2014/main" id="{72A12582-DEAC-C3C3-1B46-09B23E6BB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1186" y="5204843"/>
              <a:ext cx="191591" cy="331646"/>
            </a:xfrm>
            <a:prstGeom prst="rect">
              <a:avLst/>
            </a:prstGeom>
          </p:spPr>
        </p:pic>
      </p:grpSp>
      <p:pic>
        <p:nvPicPr>
          <p:cNvPr id="48" name="図 47" descr="グラフィカル ユーザー インターフェイス, 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CBEB6177-28C3-2A6F-6520-2D17229AB7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43" y="4589985"/>
            <a:ext cx="1300157" cy="883815"/>
          </a:xfrm>
          <a:prstGeom prst="rect">
            <a:avLst/>
          </a:prstGeom>
        </p:spPr>
      </p:pic>
      <p:sp>
        <p:nvSpPr>
          <p:cNvPr id="49" name="Shape 576">
            <a:extLst>
              <a:ext uri="{FF2B5EF4-FFF2-40B4-BE49-F238E27FC236}">
                <a16:creationId xmlns:a16="http://schemas.microsoft.com/office/drawing/2014/main" id="{AA15D0DD-15FB-73DC-25FF-CFEFA3157BF1}"/>
              </a:ext>
            </a:extLst>
          </p:cNvPr>
          <p:cNvSpPr txBox="1"/>
          <p:nvPr/>
        </p:nvSpPr>
        <p:spPr>
          <a:xfrm>
            <a:off x="269875" y="141288"/>
            <a:ext cx="8874125" cy="346074"/>
          </a:xfrm>
          <a:prstGeom prst="rect">
            <a:avLst/>
          </a:prstGeom>
          <a:noFill/>
          <a:ln>
            <a:noFill/>
          </a:ln>
        </p:spPr>
        <p:txBody>
          <a:bodyPr lIns="72000" tIns="72000" rIns="72000" bIns="720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Tx/>
              <a:buNone/>
              <a:tabLst/>
              <a:defRPr/>
            </a:pP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Arial"/>
              </a:rPr>
              <a:t>機能拡張イメージ②｜避難所チェックイン（避難所受付システム）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※ 機能イメージであり、実装内容・マイナンバーカード連携の方式は要件定義にて確定します。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12065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780D02-E995-3612-EDF7-28210B1CD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41A99D86-1F95-2160-079C-14C790F47E29}"/>
              </a:ext>
            </a:extLst>
          </p:cNvPr>
          <p:cNvGrpSpPr/>
          <p:nvPr/>
        </p:nvGrpSpPr>
        <p:grpSpPr>
          <a:xfrm>
            <a:off x="5459645" y="1650480"/>
            <a:ext cx="1763490" cy="3557040"/>
            <a:chOff x="5750019" y="1650480"/>
            <a:chExt cx="1763490" cy="3557040"/>
          </a:xfrm>
        </p:grpSpPr>
        <p:pic>
          <p:nvPicPr>
            <p:cNvPr id="51" name="図 50" descr="グラフィカル ユーザー インターフェイス, ダイアグラム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8B48F2F-BD81-B18D-4212-C9FAC1987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9468" y="1736647"/>
              <a:ext cx="1566937" cy="3397024"/>
            </a:xfrm>
            <a:prstGeom prst="rect">
              <a:avLst/>
            </a:prstGeom>
          </p:spPr>
        </p:pic>
        <p:pic>
          <p:nvPicPr>
            <p:cNvPr id="35" name="図 34" descr="グラフィカル ユーザー インターフェイス, アプリケーション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CA8B5113-DE87-1C9E-A2EB-F15FDACBF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0019" y="1650480"/>
              <a:ext cx="1763490" cy="3557040"/>
            </a:xfrm>
            <a:prstGeom prst="rect">
              <a:avLst/>
            </a:prstGeom>
          </p:spPr>
        </p:pic>
      </p:grp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E77BE7C-37B6-AF14-1379-B5EF32BDAB06}"/>
              </a:ext>
            </a:extLst>
          </p:cNvPr>
          <p:cNvSpPr txBox="1"/>
          <p:nvPr/>
        </p:nvSpPr>
        <p:spPr>
          <a:xfrm>
            <a:off x="596416" y="2224573"/>
            <a:ext cx="1721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1A1C1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避難所チェックイン</a:t>
            </a:r>
          </a:p>
        </p:txBody>
      </p:sp>
      <p:pic>
        <p:nvPicPr>
          <p:cNvPr id="24" name="グラフィックス 23" descr="ベル 単色塗りつぶし">
            <a:extLst>
              <a:ext uri="{FF2B5EF4-FFF2-40B4-BE49-F238E27FC236}">
                <a16:creationId xmlns:a16="http://schemas.microsoft.com/office/drawing/2014/main" id="{CB440A19-8D66-8447-C251-F63BE3BC6C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9047" y="1170024"/>
            <a:ext cx="960912" cy="960912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D0F6910-B681-C986-EA21-F3F4FD22766E}"/>
              </a:ext>
            </a:extLst>
          </p:cNvPr>
          <p:cNvSpPr txBox="1"/>
          <p:nvPr/>
        </p:nvSpPr>
        <p:spPr>
          <a:xfrm>
            <a:off x="3035405" y="2216515"/>
            <a:ext cx="1697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1A1C1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お知らせ・緊急情報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B4D8967-2B6F-483D-A783-B6BA560EC73F}"/>
              </a:ext>
            </a:extLst>
          </p:cNvPr>
          <p:cNvCxnSpPr/>
          <p:nvPr/>
        </p:nvCxnSpPr>
        <p:spPr>
          <a:xfrm>
            <a:off x="387848" y="2592233"/>
            <a:ext cx="2016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7BA5C32E-0532-D832-9222-14E8EFB810B4}"/>
              </a:ext>
            </a:extLst>
          </p:cNvPr>
          <p:cNvCxnSpPr/>
          <p:nvPr/>
        </p:nvCxnSpPr>
        <p:spPr>
          <a:xfrm>
            <a:off x="2879510" y="2592233"/>
            <a:ext cx="2016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6168CC8-2EFC-E1A7-93DA-74DCCD0BFB34}"/>
              </a:ext>
            </a:extLst>
          </p:cNvPr>
          <p:cNvSpPr txBox="1"/>
          <p:nvPr/>
        </p:nvSpPr>
        <p:spPr>
          <a:xfrm>
            <a:off x="2894757" y="2657622"/>
            <a:ext cx="21291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市からのお知らせや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緊急情報などを</a:t>
            </a: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Push</a:t>
            </a: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通知や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アプリ画面に掲載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C119840-F646-A7A5-8188-CA231A861FBC}"/>
              </a:ext>
            </a:extLst>
          </p:cNvPr>
          <p:cNvSpPr txBox="1"/>
          <p:nvPr/>
        </p:nvSpPr>
        <p:spPr>
          <a:xfrm>
            <a:off x="119984" y="2703634"/>
            <a:ext cx="2555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事前に避難所登録をしておくことで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避難所受付が簡易に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32DA3AD-F534-631E-CD2B-F6BA714DB426}"/>
              </a:ext>
            </a:extLst>
          </p:cNvPr>
          <p:cNvSpPr txBox="1"/>
          <p:nvPr/>
        </p:nvSpPr>
        <p:spPr>
          <a:xfrm>
            <a:off x="3105190" y="4754329"/>
            <a:ext cx="1774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1A1C1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広島市防災ポータル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75D54CA2-DF26-F167-4E7A-F48F619AC439}"/>
              </a:ext>
            </a:extLst>
          </p:cNvPr>
          <p:cNvCxnSpPr/>
          <p:nvPr/>
        </p:nvCxnSpPr>
        <p:spPr>
          <a:xfrm>
            <a:off x="2980046" y="5127494"/>
            <a:ext cx="2016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6863902-875D-0BCF-A5F4-93D42D806746}"/>
              </a:ext>
            </a:extLst>
          </p:cNvPr>
          <p:cNvSpPr txBox="1"/>
          <p:nvPr/>
        </p:nvSpPr>
        <p:spPr>
          <a:xfrm>
            <a:off x="2980046" y="5238399"/>
            <a:ext cx="2000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広島市防災ポータルサイトへのリンク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BA27DE4-8774-A5E2-351E-24439B46FD5B}"/>
              </a:ext>
            </a:extLst>
          </p:cNvPr>
          <p:cNvSpPr txBox="1"/>
          <p:nvPr/>
        </p:nvSpPr>
        <p:spPr>
          <a:xfrm>
            <a:off x="737904" y="4742080"/>
            <a:ext cx="1572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1A1C1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防災ハンドブック</a:t>
            </a:r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FCBB8F1-564B-5C7F-CECA-B0810EB77D07}"/>
              </a:ext>
            </a:extLst>
          </p:cNvPr>
          <p:cNvCxnSpPr/>
          <p:nvPr/>
        </p:nvCxnSpPr>
        <p:spPr>
          <a:xfrm>
            <a:off x="401548" y="5138378"/>
            <a:ext cx="2016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8369E5C-8251-5402-5EAD-BD98840089A3}"/>
              </a:ext>
            </a:extLst>
          </p:cNvPr>
          <p:cNvSpPr txBox="1"/>
          <p:nvPr/>
        </p:nvSpPr>
        <p:spPr>
          <a:xfrm>
            <a:off x="452978" y="5226900"/>
            <a:ext cx="2026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アプリ上で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「たちまち防災」を閲覧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869ED65-C339-3507-0E8D-DA895B4AB011}"/>
              </a:ext>
            </a:extLst>
          </p:cNvPr>
          <p:cNvSpPr/>
          <p:nvPr/>
        </p:nvSpPr>
        <p:spPr>
          <a:xfrm>
            <a:off x="142249" y="6002353"/>
            <a:ext cx="8855826" cy="306967"/>
          </a:xfrm>
          <a:prstGeom prst="rect">
            <a:avLst/>
          </a:prstGeom>
          <a:solidFill>
            <a:srgbClr val="0081AE">
              <a:alpha val="50196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※ 機能イメージであり、搭載する機能・遷移先は要件定義にて確定します。</a:t>
            </a:r>
          </a:p>
        </p:txBody>
      </p:sp>
      <p:pic>
        <p:nvPicPr>
          <p:cNvPr id="14" name="図 13" descr="障子, 挿絵, 建物, ウィンドウ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BF35CD8-91C2-E011-7CE1-008A836170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06" y="1244439"/>
            <a:ext cx="1596618" cy="862897"/>
          </a:xfrm>
          <a:prstGeom prst="rect">
            <a:avLst/>
          </a:prstGeom>
        </p:spPr>
      </p:pic>
      <p:pic>
        <p:nvPicPr>
          <p:cNvPr id="17" name="図 16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F09B5B9D-81D9-C8F1-0726-C7754C9D6D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62" y="3413140"/>
            <a:ext cx="1537120" cy="1209174"/>
          </a:xfrm>
          <a:prstGeom prst="rect">
            <a:avLst/>
          </a:prstGeom>
        </p:spPr>
      </p:pic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A82AB444-2D1D-F6E2-BC23-B2ED2455FEFD}"/>
              </a:ext>
            </a:extLst>
          </p:cNvPr>
          <p:cNvGrpSpPr/>
          <p:nvPr/>
        </p:nvGrpSpPr>
        <p:grpSpPr>
          <a:xfrm>
            <a:off x="7061861" y="2337022"/>
            <a:ext cx="1763490" cy="3557040"/>
            <a:chOff x="7241442" y="2218416"/>
            <a:chExt cx="1763490" cy="3557040"/>
          </a:xfrm>
        </p:grpSpPr>
        <p:grpSp>
          <p:nvGrpSpPr>
            <p:cNvPr id="56" name="グループ化 55">
              <a:extLst>
                <a:ext uri="{FF2B5EF4-FFF2-40B4-BE49-F238E27FC236}">
                  <a16:creationId xmlns:a16="http://schemas.microsoft.com/office/drawing/2014/main" id="{669B2315-E473-AC11-1A3B-30B8F5B6737E}"/>
                </a:ext>
              </a:extLst>
            </p:cNvPr>
            <p:cNvGrpSpPr/>
            <p:nvPr/>
          </p:nvGrpSpPr>
          <p:grpSpPr>
            <a:xfrm>
              <a:off x="7241442" y="2218416"/>
              <a:ext cx="1763490" cy="3557040"/>
              <a:chOff x="7151304" y="1872922"/>
              <a:chExt cx="1763490" cy="3557040"/>
            </a:xfrm>
          </p:grpSpPr>
          <p:pic>
            <p:nvPicPr>
              <p:cNvPr id="53" name="図 52" descr="マウス, 挿絵, コンピュータ が含まれている画像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5B8865CE-D015-286E-294D-AC5CEEE73E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42165" y="1929988"/>
                <a:ext cx="1588102" cy="3442908"/>
              </a:xfrm>
              <a:prstGeom prst="rect">
                <a:avLst/>
              </a:prstGeom>
            </p:spPr>
          </p:pic>
          <p:pic>
            <p:nvPicPr>
              <p:cNvPr id="54" name="図 53" descr="グラフィカル ユーザー インターフェイス, アプリケーション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F03C70D9-11D0-6500-2EDA-36269DD26B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51304" y="1872922"/>
                <a:ext cx="1763490" cy="3557040"/>
              </a:xfrm>
              <a:prstGeom prst="rect">
                <a:avLst/>
              </a:prstGeom>
            </p:spPr>
          </p:pic>
        </p:grpSp>
        <p:sp>
          <p:nvSpPr>
            <p:cNvPr id="57" name="四角形: 角を丸くする 56">
              <a:extLst>
                <a:ext uri="{FF2B5EF4-FFF2-40B4-BE49-F238E27FC236}">
                  <a16:creationId xmlns:a16="http://schemas.microsoft.com/office/drawing/2014/main" id="{0D2CBA40-ED14-36FF-E0E0-494381E5CB68}"/>
                </a:ext>
              </a:extLst>
            </p:cNvPr>
            <p:cNvSpPr/>
            <p:nvPr/>
          </p:nvSpPr>
          <p:spPr>
            <a:xfrm>
              <a:off x="7367354" y="3306281"/>
              <a:ext cx="1535695" cy="386571"/>
            </a:xfrm>
            <a:prstGeom prst="round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9" name="四角形: 角を丸くする 58">
              <a:extLst>
                <a:ext uri="{FF2B5EF4-FFF2-40B4-BE49-F238E27FC236}">
                  <a16:creationId xmlns:a16="http://schemas.microsoft.com/office/drawing/2014/main" id="{0D5B5EEB-A62F-2E93-0EBD-2668FE54564B}"/>
                </a:ext>
              </a:extLst>
            </p:cNvPr>
            <p:cNvSpPr/>
            <p:nvPr/>
          </p:nvSpPr>
          <p:spPr>
            <a:xfrm>
              <a:off x="7421759" y="3333121"/>
              <a:ext cx="332649" cy="3326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C9E8E98B-0B51-0798-147D-8EB987D42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425689" y="3330546"/>
              <a:ext cx="309875" cy="313847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5BB8BB03-E775-64C6-AD68-8888B7CD0385}"/>
                </a:ext>
              </a:extLst>
            </p:cNvPr>
            <p:cNvSpPr txBox="1"/>
            <p:nvPr/>
          </p:nvSpPr>
          <p:spPr>
            <a:xfrm>
              <a:off x="7723294" y="3330546"/>
              <a:ext cx="12057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BIZ UDPゴシック" panose="020B0400000000000000" pitchFamily="50" charset="-128"/>
                  <a:ea typeface="BIZ UDPゴシック" panose="020B0400000000000000" pitchFamily="50" charset="-128"/>
                  <a:cs typeface="+mn-cs"/>
                </a:rPr>
                <a:t>【</a:t>
              </a:r>
              <a:r>
                <a:rPr kumimoji="1" lang="ja-JP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BIZ UDPゴシック" panose="020B0400000000000000" pitchFamily="50" charset="-128"/>
                  <a:ea typeface="BIZ UDPゴシック" panose="020B0400000000000000" pitchFamily="50" charset="-128"/>
                  <a:cs typeface="+mn-cs"/>
                </a:rPr>
                <a:t>広島市から緊急速報</a:t>
              </a:r>
              <a:r>
                <a:rPr kumimoji="1" lang="en-US" altLang="ja-JP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BIZ UDPゴシック" panose="020B0400000000000000" pitchFamily="50" charset="-128"/>
                  <a:ea typeface="BIZ UDPゴシック" panose="020B0400000000000000" pitchFamily="50" charset="-128"/>
                  <a:cs typeface="+mn-cs"/>
                </a:rPr>
                <a:t>】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BIZ UDPゴシック" panose="020B0400000000000000" pitchFamily="50" charset="-128"/>
                  <a:ea typeface="BIZ UDPゴシック" panose="020B0400000000000000" pitchFamily="50" charset="-128"/>
                  <a:cs typeface="+mn-cs"/>
                </a:rPr>
                <a:t>開設された避難所一覧</a:t>
              </a:r>
            </a:p>
          </p:txBody>
        </p:sp>
      </p:grp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65E459DA-DD0C-1FA0-DD1B-7CA72F1F15C7}"/>
              </a:ext>
            </a:extLst>
          </p:cNvPr>
          <p:cNvSpPr/>
          <p:nvPr/>
        </p:nvSpPr>
        <p:spPr>
          <a:xfrm>
            <a:off x="5549094" y="1159259"/>
            <a:ext cx="1534554" cy="369502"/>
          </a:xfrm>
          <a:prstGeom prst="roundRect">
            <a:avLst/>
          </a:prstGeom>
          <a:solidFill>
            <a:srgbClr val="41A1C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広島市</a:t>
            </a:r>
            <a:endParaRPr kumimoji="1" lang="en-US" altLang="ja-JP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防災ポータル</a:t>
            </a:r>
            <a:endParaRPr kumimoji="1" lang="ja-JP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81030D62-2624-2EFC-C155-EBB023189FFA}"/>
              </a:ext>
            </a:extLst>
          </p:cNvPr>
          <p:cNvSpPr/>
          <p:nvPr/>
        </p:nvSpPr>
        <p:spPr>
          <a:xfrm>
            <a:off x="7177946" y="1842795"/>
            <a:ext cx="1511572" cy="419317"/>
          </a:xfrm>
          <a:prstGeom prst="roundRect">
            <a:avLst/>
          </a:prstGeom>
          <a:solidFill>
            <a:srgbClr val="41A1C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緊急</a:t>
            </a: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速報などの</a:t>
            </a:r>
            <a:r>
              <a:rPr kumimoji="1" lang="en-US" altLang="ja-JP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Push</a:t>
            </a: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通知</a:t>
            </a:r>
          </a:p>
        </p:txBody>
      </p: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BBCC989B-89A5-DCC5-C38F-4CFFC2B791C5}"/>
              </a:ext>
            </a:extLst>
          </p:cNvPr>
          <p:cNvGrpSpPr/>
          <p:nvPr/>
        </p:nvGrpSpPr>
        <p:grpSpPr>
          <a:xfrm>
            <a:off x="5278177" y="966051"/>
            <a:ext cx="491795" cy="463668"/>
            <a:chOff x="370355" y="5123349"/>
            <a:chExt cx="546934" cy="515654"/>
          </a:xfrm>
        </p:grpSpPr>
        <p:sp>
          <p:nvSpPr>
            <p:cNvPr id="65" name="楕円 64">
              <a:extLst>
                <a:ext uri="{FF2B5EF4-FFF2-40B4-BE49-F238E27FC236}">
                  <a16:creationId xmlns:a16="http://schemas.microsoft.com/office/drawing/2014/main" id="{B2E4DD84-8BBD-B300-0EB3-80C4D47BBD62}"/>
                </a:ext>
              </a:extLst>
            </p:cNvPr>
            <p:cNvSpPr/>
            <p:nvPr/>
          </p:nvSpPr>
          <p:spPr>
            <a:xfrm>
              <a:off x="370355" y="5123349"/>
              <a:ext cx="546934" cy="515654"/>
            </a:xfrm>
            <a:prstGeom prst="ellipse">
              <a:avLst/>
            </a:prstGeom>
            <a:solidFill>
              <a:srgbClr val="E8F4F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endParaRPr>
            </a:p>
          </p:txBody>
        </p:sp>
        <p:pic>
          <p:nvPicPr>
            <p:cNvPr id="66" name="図 65" descr="アイコン&#10;&#10;自動的に生成された説明">
              <a:extLst>
                <a:ext uri="{FF2B5EF4-FFF2-40B4-BE49-F238E27FC236}">
                  <a16:creationId xmlns:a16="http://schemas.microsoft.com/office/drawing/2014/main" id="{603F6E77-820C-5DA7-3974-465555BA0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1186" y="5204843"/>
              <a:ext cx="191591" cy="331646"/>
            </a:xfrm>
            <a:prstGeom prst="rect">
              <a:avLst/>
            </a:prstGeom>
          </p:spPr>
        </p:pic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731BB31E-CE6B-0C75-51F1-FFCCEE8175F4}"/>
              </a:ext>
            </a:extLst>
          </p:cNvPr>
          <p:cNvGrpSpPr/>
          <p:nvPr/>
        </p:nvGrpSpPr>
        <p:grpSpPr>
          <a:xfrm>
            <a:off x="6943238" y="1602610"/>
            <a:ext cx="491795" cy="463668"/>
            <a:chOff x="370355" y="5123349"/>
            <a:chExt cx="546934" cy="515654"/>
          </a:xfrm>
        </p:grpSpPr>
        <p:sp>
          <p:nvSpPr>
            <p:cNvPr id="68" name="楕円 67">
              <a:extLst>
                <a:ext uri="{FF2B5EF4-FFF2-40B4-BE49-F238E27FC236}">
                  <a16:creationId xmlns:a16="http://schemas.microsoft.com/office/drawing/2014/main" id="{6427E858-FE7C-6B3F-271E-330572B71FA6}"/>
                </a:ext>
              </a:extLst>
            </p:cNvPr>
            <p:cNvSpPr/>
            <p:nvPr/>
          </p:nvSpPr>
          <p:spPr>
            <a:xfrm>
              <a:off x="370355" y="5123349"/>
              <a:ext cx="546934" cy="515654"/>
            </a:xfrm>
            <a:prstGeom prst="ellipse">
              <a:avLst/>
            </a:prstGeom>
            <a:solidFill>
              <a:srgbClr val="E8F4F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endParaRPr>
            </a:p>
          </p:txBody>
        </p:sp>
        <p:pic>
          <p:nvPicPr>
            <p:cNvPr id="69" name="図 68" descr="アイコン&#10;&#10;自動的に生成された説明">
              <a:extLst>
                <a:ext uri="{FF2B5EF4-FFF2-40B4-BE49-F238E27FC236}">
                  <a16:creationId xmlns:a16="http://schemas.microsoft.com/office/drawing/2014/main" id="{1551E838-8D9D-4AC6-FF7D-5A9088DC0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1186" y="5204843"/>
              <a:ext cx="191591" cy="331646"/>
            </a:xfrm>
            <a:prstGeom prst="rect">
              <a:avLst/>
            </a:prstGeom>
          </p:spPr>
        </p:pic>
      </p:grpSp>
      <p:pic>
        <p:nvPicPr>
          <p:cNvPr id="74" name="グラフィックス 73" descr="ベル 単色塗りつぶし">
            <a:extLst>
              <a:ext uri="{FF2B5EF4-FFF2-40B4-BE49-F238E27FC236}">
                <a16:creationId xmlns:a16="http://schemas.microsoft.com/office/drawing/2014/main" id="{AFCD6D66-F4CB-7930-E678-0F1F00C56E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3857" y="4329578"/>
            <a:ext cx="320033" cy="320033"/>
          </a:xfrm>
          <a:prstGeom prst="rect">
            <a:avLst/>
          </a:prstGeom>
        </p:spPr>
      </p:pic>
      <p:pic>
        <p:nvPicPr>
          <p:cNvPr id="76" name="グラフィックス 75" descr="警告 単色塗りつぶし">
            <a:extLst>
              <a:ext uri="{FF2B5EF4-FFF2-40B4-BE49-F238E27FC236}">
                <a16:creationId xmlns:a16="http://schemas.microsoft.com/office/drawing/2014/main" id="{CC6A5A41-84E5-D32D-105C-1CB5EADE03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47904" y="3762999"/>
            <a:ext cx="353372" cy="353372"/>
          </a:xfrm>
          <a:prstGeom prst="rect">
            <a:avLst/>
          </a:prstGeom>
        </p:spPr>
      </p:pic>
      <p:pic>
        <p:nvPicPr>
          <p:cNvPr id="78" name="グラフィックス 77" descr="波 単色塗りつぶし">
            <a:extLst>
              <a:ext uri="{FF2B5EF4-FFF2-40B4-BE49-F238E27FC236}">
                <a16:creationId xmlns:a16="http://schemas.microsoft.com/office/drawing/2014/main" id="{9EFABB1C-4AE0-1576-6248-3348985B4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43423" y="3458086"/>
            <a:ext cx="353372" cy="353372"/>
          </a:xfrm>
          <a:prstGeom prst="rect">
            <a:avLst/>
          </a:prstGeom>
        </p:spPr>
      </p:pic>
      <p:pic>
        <p:nvPicPr>
          <p:cNvPr id="80" name="グラフィックス 79" descr="実行 単色塗りつぶし">
            <a:extLst>
              <a:ext uri="{FF2B5EF4-FFF2-40B4-BE49-F238E27FC236}">
                <a16:creationId xmlns:a16="http://schemas.microsoft.com/office/drawing/2014/main" id="{961AD1EA-0BAD-4DE3-C1FE-1BD46BB56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56091" y="3784376"/>
            <a:ext cx="353372" cy="353372"/>
          </a:xfrm>
          <a:prstGeom prst="rect">
            <a:avLst/>
          </a:prstGeom>
        </p:spPr>
      </p:pic>
      <p:pic>
        <p:nvPicPr>
          <p:cNvPr id="82" name="グラフィックス 81" descr="リサーチ 単色塗りつぶし">
            <a:extLst>
              <a:ext uri="{FF2B5EF4-FFF2-40B4-BE49-F238E27FC236}">
                <a16:creationId xmlns:a16="http://schemas.microsoft.com/office/drawing/2014/main" id="{874954E0-E3A1-1325-3905-9830B6057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54182" y="4304469"/>
            <a:ext cx="436824" cy="436824"/>
          </a:xfrm>
          <a:prstGeom prst="rect">
            <a:avLst/>
          </a:prstGeom>
        </p:spPr>
      </p:pic>
      <p:pic>
        <p:nvPicPr>
          <p:cNvPr id="84" name="グラフィックス 83" descr="インターネット 単色塗りつぶし">
            <a:extLst>
              <a:ext uri="{FF2B5EF4-FFF2-40B4-BE49-F238E27FC236}">
                <a16:creationId xmlns:a16="http://schemas.microsoft.com/office/drawing/2014/main" id="{BD8ABF05-5286-09E4-2070-A905B0A55C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79855" y="3727538"/>
            <a:ext cx="914400" cy="914400"/>
          </a:xfrm>
          <a:prstGeom prst="rect">
            <a:avLst/>
          </a:prstGeom>
        </p:spPr>
      </p:pic>
      <p:pic>
        <p:nvPicPr>
          <p:cNvPr id="87" name="図 86">
            <a:extLst>
              <a:ext uri="{FF2B5EF4-FFF2-40B4-BE49-F238E27FC236}">
                <a16:creationId xmlns:a16="http://schemas.microsoft.com/office/drawing/2014/main" id="{210865C7-443C-48E5-E121-8EC6D848DD4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958"/>
          <a:stretch>
            <a:fillRect/>
          </a:stretch>
        </p:blipFill>
        <p:spPr>
          <a:xfrm>
            <a:off x="1824154" y="3852934"/>
            <a:ext cx="587224" cy="83777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88" name="TextBox 87"/>
          <p:cNvSpPr txBox="1"/>
          <p:nvPr/>
        </p:nvSpPr>
        <p:spPr>
          <a:xfrm>
            <a:off x="274320" y="137160"/>
            <a:ext cx="886968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機能拡張イメージ③｜ポータルアプリ上の防災機能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57689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86968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考えられるリスクと対策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76072"/>
            <a:ext cx="8595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防災アプリの実装・移行にあたり想定されるリスクと、現時点で考えている対策。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69164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リスク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1097280"/>
            <a:ext cx="324612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9" y="1097280"/>
            <a:ext cx="365760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対策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691640" cy="56692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権利・引継ぎ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463040"/>
            <a:ext cx="3246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「避難所へGo!」と同等機能を実装する際の著作権・利用許諾、データの引継ぎ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9" y="1463040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現行ベンダーとの権利関係を事前に整理。仕様は要件として再定義し、必要に応じ許諾を取得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29968"/>
            <a:ext cx="1691640" cy="56692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災害時のアクセス集中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2029968"/>
            <a:ext cx="3246120" cy="56692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発災直後に利用が集中し、表示や通知に遅延が生じる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9" y="2029968"/>
            <a:ext cx="3657600" cy="56692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10万人の同時アクセス、10秒程度での一斉通知を前提に設計し、負荷試験を実施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96896"/>
            <a:ext cx="1691640" cy="56692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情報の正確性・鮮度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2596896"/>
            <a:ext cx="3246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Lアラート・気象情報・避難所開設情報の反映漏れや遅延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2596896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取得経路の冗長化と監視、取得失敗時のアラート。管理画面からの手動配信手段も確保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63824"/>
            <a:ext cx="1691640" cy="56692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通信断・権限未許可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3163824"/>
            <a:ext cx="3246120" cy="56692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圏外や通信不安定、位置情報・通知の権限が未許可で機能が使えない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79" y="3163824"/>
            <a:ext cx="3657600" cy="56692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地図をキャッシュしオフライン表示に対応。権限未許可でも地域選択により利用可能とする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30752"/>
            <a:ext cx="1691640" cy="56692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デジタル格差・多言語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3730752"/>
            <a:ext cx="3246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高齢者・外国人・障害のある方が利用しにくい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79" y="3730752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多言語（日・英・中・韓）に対応し、文字サイズ等に配慮。防災ポータル等の代替手段も併用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97680"/>
            <a:ext cx="1691640" cy="56692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個人情報・セキュリティ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4297680"/>
            <a:ext cx="3246120" cy="56692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位置情報や安否情報など、機微な情報を取り扱う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9" y="4297680"/>
            <a:ext cx="3657600" cy="56692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広島市情報セキュリティポリシーに準拠。権限管理・暗号化・ログ保全。Pマーク／ISMS取得済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64608"/>
            <a:ext cx="1691640" cy="56692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関連市町との調整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4864608"/>
            <a:ext cx="3246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廿日市市・江田島市・熊野町でも現行アプリを利用中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79" y="4864608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事前説明と移行方針の合意形成を先行して実施。周辺市町への拡大方針もあわせて協議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431536"/>
            <a:ext cx="1691640" cy="56692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移行・スケジュール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5431536"/>
            <a:ext cx="3246120" cy="56692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現行アプリからの切替時期、並行運用の要否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5431536"/>
            <a:ext cx="3657600" cy="56692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移行方式を協議のうえ並行運用期間を設定。リリース時期から逆算した工程管理を行う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2352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86968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必要な情報・データと管理区分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76072"/>
            <a:ext cx="8595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アプリの実装・運用に必要な情報とその提供元、システム／業務の管理区分について認識を合わせたい。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92024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情報・データ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097280"/>
            <a:ext cx="315468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主な内容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9240" y="1097280"/>
            <a:ext cx="182880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提供元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8040" y="1097280"/>
            <a:ext cx="169164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管理区分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920240" cy="402336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避難所等情報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463040"/>
            <a:ext cx="3154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名称・住所・標高・災害対応種別・収容人数・備蓄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463040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広島市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463040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システム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65376"/>
            <a:ext cx="1920240" cy="402336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開設避難所情報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865376"/>
            <a:ext cx="315468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避難所等の開設・閉鎖の状況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865376"/>
            <a:ext cx="182880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Lアラート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865376"/>
            <a:ext cx="169164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システム（自動取得）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67712"/>
            <a:ext cx="1920240" cy="402336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小学校区データ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267712"/>
            <a:ext cx="3154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地域選択・エリア配信の区分（SHP形式）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267712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広島市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2267712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システム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70048"/>
            <a:ext cx="1920240" cy="402336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ハザード情報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2670048"/>
            <a:ext cx="315468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土砂・河川浸水・津波・高潮・洪水・雨水出水・ため池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2670048"/>
            <a:ext cx="182880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広島市／国・県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670048"/>
            <a:ext cx="169164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システム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72384"/>
            <a:ext cx="1920240" cy="402336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気象・防災情報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072384"/>
            <a:ext cx="3154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気象警報・注意報、震源震度、各情報の解除報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3072384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Lアラート・気象庁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072384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システム（自動取得）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474720"/>
            <a:ext cx="1920240" cy="402336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自治体からのお知らせ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3474720"/>
            <a:ext cx="315468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市からのお知らせ、イベント情報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3474720"/>
            <a:ext cx="182880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広島市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3474720"/>
            <a:ext cx="169164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システム（管理画面）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877056"/>
            <a:ext cx="1920240" cy="402336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防災ハンドブック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3877056"/>
            <a:ext cx="3154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「たちまち防災」等のPDF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3877056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広島市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3877056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システム（差替は管理画面）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79392"/>
            <a:ext cx="1920240" cy="402336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関連サイトのリンク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4279392"/>
            <a:ext cx="315468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広島市防災ポータル、web171・J-anpi 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49240" y="4279392"/>
            <a:ext cx="182880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広島市／各運営者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4279392"/>
            <a:ext cx="169164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システム（URL設定）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681728"/>
            <a:ext cx="1920240" cy="402336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操作マニュアル・研修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4681728"/>
            <a:ext cx="3154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管理者・運用者向けのマニュアルと研修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49240" y="4681728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FPM作成／広島市確認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8040" y="4681728"/>
            <a:ext cx="1691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業務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084064"/>
            <a:ext cx="1920240" cy="402336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広報・利用促進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5084064"/>
            <a:ext cx="315468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インストール案内、掲示物、キャラクターデザイン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5084064"/>
            <a:ext cx="182880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広島市・FPM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040" y="5084064"/>
            <a:ext cx="1691640" cy="402336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業務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5577840"/>
            <a:ext cx="85953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管理区分：システム＝アプリ・管理画面で管理／業務＝広島市およびFPMが業務として管理。提供元・更新頻度はヒアリングにて確認させていただきたい事項です。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10853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86968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バックオフィスとして必要な業務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76072"/>
            <a:ext cx="8595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アプリの提供に加え、平時から災害時までを通じた運用業務が発生する。業務の認識と分担が合うか確認したい。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8872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フェーズ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097280"/>
            <a:ext cx="3977639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必要な業務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40679" y="1097280"/>
            <a:ext cx="210312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実施主体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1097280"/>
            <a:ext cx="1325880" cy="365760"/>
          </a:xfrm>
          <a:prstGeom prst="rect">
            <a:avLst/>
          </a:prstGeom>
          <a:solidFill>
            <a:srgbClr val="0081A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頻度・時期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事前設定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463040"/>
            <a:ext cx="39776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避難所等情報・小学校区・ハザードレイヤの登録・更新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79" y="146304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危機管理対策課・FPM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463040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年次・随時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47088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事前設定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1847088"/>
            <a:ext cx="3977639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通知カテゴリ・配信対象エリアの設定、非通知にできない情報の指定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79" y="1847088"/>
            <a:ext cx="2103120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危機管理対策課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847088"/>
            <a:ext cx="1325880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年度初・随時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31136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事前設定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231136"/>
            <a:ext cx="39776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職員アカウント・権限（管理者／運用者）の登録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79" y="2231136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危機管理対策課・FPM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2231136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随時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15184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平時運用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615184"/>
            <a:ext cx="3977639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お知らせ・イベント情報の作成と配信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79" y="2615184"/>
            <a:ext cx="2103120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危機管理対策課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2615184"/>
            <a:ext cx="1325880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随時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99232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平時運用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2999232"/>
            <a:ext cx="39776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防災ハンドブック・リンク集の差替、利用促進の広報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79" y="2999232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危機管理対策課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2999232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随時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383279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警戒時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3383279"/>
            <a:ext cx="3977639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避難情報の確認、Lアラート連携状況の監視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79" y="3383279"/>
            <a:ext cx="2103120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危機管理対策課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3383279"/>
            <a:ext cx="1325880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気象警報の発表時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67328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災害時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3767328"/>
            <a:ext cx="39776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緊急情報のプッシュ配信、エリアを指定した配信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79" y="3767328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危機管理対策課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3767328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発災時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151376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災害時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4151376"/>
            <a:ext cx="3977639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開設避難所の反映確認、利用者からの問合せ対応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79" y="4151376"/>
            <a:ext cx="2103120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危機管理対策課・FPM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4151376"/>
            <a:ext cx="1325880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発災時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535424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事後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63040" y="4535424"/>
            <a:ext cx="39776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配信実績・利用状況の確認と振り返り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679" y="4535424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危機管理対策課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4535424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災害後・月次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919472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保守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63040" y="4919472"/>
            <a:ext cx="3977639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障害対応、OS更新への対応、ストアの公開・更新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79" y="4919472"/>
            <a:ext cx="2103120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FPM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4919472"/>
            <a:ext cx="1325880" cy="384048"/>
          </a:xfrm>
          <a:prstGeom prst="rect">
            <a:avLst/>
          </a:prstGeom>
          <a:solidFill>
            <a:srgbClr val="F7FAFB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随時・年次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303520"/>
            <a:ext cx="1188720" cy="384048"/>
          </a:xfrm>
          <a:prstGeom prst="rect">
            <a:avLst/>
          </a:prstGeom>
          <a:solidFill>
            <a:srgbClr val="F0F5F7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0587A"/>
                </a:solidFill>
                <a:latin typeface="Meiryo UI"/>
                <a:ea typeface="Meiryo UI"/>
                <a:cs typeface="Meiryo UI"/>
              </a:rPr>
              <a:t>研修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3040" y="5303520"/>
            <a:ext cx="39776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操作マニュアルに基づく職員研修の実施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79" y="5303520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FPM（実施）・危機管理対策課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43800" y="5303520"/>
            <a:ext cx="13258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/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0">
                <a:solidFill>
                  <a:srgbClr val="262626"/>
                </a:solidFill>
                <a:latin typeface="Meiryo UI"/>
                <a:ea typeface="Meiryo UI"/>
                <a:cs typeface="Meiryo UI"/>
              </a:rPr>
              <a:t>年次・体制変更時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5815584"/>
            <a:ext cx="85953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※ 実施主体・頻度は現時点の想定です。運用フローの整備とあわせて、要求仕様の確定までに整理します。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6446520"/>
            <a:ext cx="64008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77888E"/>
                </a:solidFill>
                <a:latin typeface="Meiryo UI"/>
                <a:ea typeface="Meiryo UI"/>
                <a:cs typeface="Meiryo U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94261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solidFill>
            <a:srgbClr val="00B0F0"/>
          </a:solidFill>
          <a:headEnd type="none" w="lg" len="lg"/>
          <a:tailEnd type="arrow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accent5">
              <a:lumMod val="50000"/>
            </a:schemeClr>
          </a:solidFill>
          <a:headEnd type="triangl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レイアウト①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2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PMレイアウト.pptx" id="{10CD4C1B-BEE0-44AD-87B1-91FE960F4A22}" vid="{342B58E8-5BC6-4120-9DE5-EFA7A12EEF9A}"/>
    </a:ext>
  </a:extLst>
</a:theme>
</file>

<file path=ppt/theme/theme5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14636</TotalTime>
  <Words>2359</Words>
  <Application>Microsoft Office PowerPoint</Application>
  <PresentationFormat>画面に合わせる (4:3)</PresentationFormat>
  <Paragraphs>439</Paragraphs>
  <Slides>17</Slides>
  <Notes>0</Notes>
  <HiddenSlides>5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17</vt:i4>
      </vt:variant>
    </vt:vector>
  </HeadingPairs>
  <TitlesOfParts>
    <vt:vector size="29" baseType="lpstr">
      <vt:lpstr>BIZ UDPゴシック</vt:lpstr>
      <vt:lpstr>Meiryo UI</vt:lpstr>
      <vt:lpstr>メイリオ</vt:lpstr>
      <vt:lpstr>Arial</vt:lpstr>
      <vt:lpstr>Calibri</vt:lpstr>
      <vt:lpstr>Cambria</vt:lpstr>
      <vt:lpstr>Times New Roman</vt:lpstr>
      <vt:lpstr>Wingdings</vt:lpstr>
      <vt:lpstr>Office ​​テーマ</vt:lpstr>
      <vt:lpstr>2_Office ​​テーマ</vt:lpstr>
      <vt:lpstr>1_Office ​​テーマ</vt:lpstr>
      <vt:lpstr>レイアウト①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aeon</dc:creator>
  <cp:lastModifiedBy>渡辺 慎太朗</cp:lastModifiedBy>
  <cp:revision>1934</cp:revision>
  <cp:lastPrinted>2023-07-11T00:31:26Z</cp:lastPrinted>
  <dcterms:modified xsi:type="dcterms:W3CDTF">2026-08-26T09:05:29Z</dcterms:modified>
</cp:coreProperties>
</file>