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 id="2147483662" r:id="rId2"/>
    <p:sldMasterId id="2147483660" r:id="rId3"/>
  </p:sldMasterIdLst>
  <p:notesMasterIdLst>
    <p:notesMasterId r:id="rId11"/>
  </p:notesMasterIdLst>
  <p:sldIdLst>
    <p:sldId id="256" r:id="rId10"/>
    <p:sldId id="257" r:id="rId9"/>
    <p:sldId id="258" r:id="rId8"/>
    <p:sldId id="259" r:id="rId7"/>
    <p:sldId id="260" r:id="rId6"/>
    <p:sldId id="261" r:id="rId5"/>
    <p:sldId id="262" r:id="rId4"/>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Lst>
  <p:sldSz cx="9144000" cy="6858000" type="screen4x3"/>
  <p:notesSz cx="9939338" cy="68072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6600"/>
    <a:srgbClr val="FF00FF"/>
    <a:srgbClr val="FF99FF"/>
    <a:srgbClr val="00FFFF"/>
    <a:srgbClr val="CCFFFF"/>
    <a:srgbClr val="FFFFCC"/>
    <a:srgbClr val="D2F0FE"/>
    <a:srgbClr val="D2EDFE"/>
    <a:srgbClr val="D2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E2CC8-D62D-4D4E-9DC4-473ED4718860}" v="3" dt="2024-05-16T05:02:35.677"/>
  </p1510:revLst>
</p1510:revInfo>
</file>

<file path=ppt/tableStyles.xml><?xml version="1.0" encoding="utf-8"?>
<a:tblStyleLst xmlns:a="http://schemas.openxmlformats.org/drawingml/2006/main" def="{4E55AC6E-E69D-46E7-A35D-C3CB255F394D}">
  <a:tblStyle styleId="{4E55AC6E-E69D-46E7-A35D-C3CB255F394D}" styleName="Table_0"/>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04" autoAdjust="0"/>
    <p:restoredTop sz="87192" autoAdjust="0"/>
  </p:normalViewPr>
  <p:slideViewPr>
    <p:cSldViewPr>
      <p:cViewPr>
        <p:scale>
          <a:sx n="133" d="100"/>
          <a:sy n="133" d="100"/>
        </p:scale>
        <p:origin x="2112" y="54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30" d="100"/>
          <a:sy n="130" d="100"/>
        </p:scale>
        <p:origin x="236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博人 武内" userId="ddc9036651f7ec6c" providerId="LiveId" clId="{9A007108-162D-4DFA-B7AE-55180EFA1112}"/>
    <pc:docChg chg="custSel modSld">
      <pc:chgData name="博人 武内" userId="ddc9036651f7ec6c" providerId="LiveId" clId="{9A007108-162D-4DFA-B7AE-55180EFA1112}" dt="2024-04-02T23:25:27.674" v="18" actId="465"/>
      <pc:docMkLst>
        <pc:docMk/>
      </pc:docMkLst>
      <pc:sldChg chg="delSp modSp mod">
        <pc:chgData name="博人 武内" userId="ddc9036651f7ec6c" providerId="LiveId" clId="{9A007108-162D-4DFA-B7AE-55180EFA1112}" dt="2024-04-02T23:25:27.674" v="18" actId="465"/>
        <pc:sldMkLst>
          <pc:docMk/>
          <pc:sldMk cId="397167448" sldId="487"/>
        </pc:sldMkLst>
        <pc:spChg chg="del">
          <ac:chgData name="博人 武内" userId="ddc9036651f7ec6c" providerId="LiveId" clId="{9A007108-162D-4DFA-B7AE-55180EFA1112}" dt="2024-04-02T23:24:43.311" v="9" actId="478"/>
          <ac:spMkLst>
            <pc:docMk/>
            <pc:sldMk cId="397167448" sldId="487"/>
            <ac:spMk id="2" creationId="{F05D6A01-2038-4DB9-A462-11D9D2EAA445}"/>
          </ac:spMkLst>
        </pc:spChg>
        <pc:spChg chg="mod">
          <ac:chgData name="博人 武内" userId="ddc9036651f7ec6c" providerId="LiveId" clId="{9A007108-162D-4DFA-B7AE-55180EFA1112}" dt="2024-04-02T23:25:02.206" v="16" actId="1036"/>
          <ac:spMkLst>
            <pc:docMk/>
            <pc:sldMk cId="397167448" sldId="487"/>
            <ac:spMk id="3" creationId="{D88F96D0-B75F-257F-8CEA-0B044C064ECB}"/>
          </ac:spMkLst>
        </pc:spChg>
        <pc:spChg chg="mod">
          <ac:chgData name="博人 武内" userId="ddc9036651f7ec6c" providerId="LiveId" clId="{9A007108-162D-4DFA-B7AE-55180EFA1112}" dt="2024-04-02T23:25:21.594" v="17" actId="465"/>
          <ac:spMkLst>
            <pc:docMk/>
            <pc:sldMk cId="397167448" sldId="487"/>
            <ac:spMk id="4" creationId="{1977BF0B-DC5F-C26D-BEE7-DBDCA9362779}"/>
          </ac:spMkLst>
        </pc:spChg>
        <pc:spChg chg="mod">
          <ac:chgData name="博人 武内" userId="ddc9036651f7ec6c" providerId="LiveId" clId="{9A007108-162D-4DFA-B7AE-55180EFA1112}" dt="2024-04-02T23:25:21.594" v="17" actId="465"/>
          <ac:spMkLst>
            <pc:docMk/>
            <pc:sldMk cId="397167448" sldId="487"/>
            <ac:spMk id="7" creationId="{00000000-0000-0000-0000-000000000000}"/>
          </ac:spMkLst>
        </pc:spChg>
        <pc:spChg chg="mod">
          <ac:chgData name="博人 武内" userId="ddc9036651f7ec6c" providerId="LiveId" clId="{9A007108-162D-4DFA-B7AE-55180EFA1112}" dt="2024-04-02T23:25:21.594" v="17" actId="465"/>
          <ac:spMkLst>
            <pc:docMk/>
            <pc:sldMk cId="397167448" sldId="487"/>
            <ac:spMk id="8" creationId="{00000000-0000-0000-0000-000000000000}"/>
          </ac:spMkLst>
        </pc:spChg>
        <pc:spChg chg="mod">
          <ac:chgData name="博人 武内" userId="ddc9036651f7ec6c" providerId="LiveId" clId="{9A007108-162D-4DFA-B7AE-55180EFA1112}" dt="2024-04-02T23:25:02.206" v="16" actId="1036"/>
          <ac:spMkLst>
            <pc:docMk/>
            <pc:sldMk cId="397167448" sldId="487"/>
            <ac:spMk id="9" creationId="{00000000-0000-0000-0000-000000000000}"/>
          </ac:spMkLst>
        </pc:spChg>
        <pc:spChg chg="del">
          <ac:chgData name="博人 武内" userId="ddc9036651f7ec6c" providerId="LiveId" clId="{9A007108-162D-4DFA-B7AE-55180EFA1112}" dt="2024-04-02T23:24:47.146" v="10" actId="478"/>
          <ac:spMkLst>
            <pc:docMk/>
            <pc:sldMk cId="397167448" sldId="487"/>
            <ac:spMk id="10" creationId="{85D80113-0BE7-A8A0-E2F6-3E8BFD0619D3}"/>
          </ac:spMkLst>
        </pc:spChg>
        <pc:spChg chg="mod">
          <ac:chgData name="博人 武内" userId="ddc9036651f7ec6c" providerId="LiveId" clId="{9A007108-162D-4DFA-B7AE-55180EFA1112}" dt="2024-04-02T23:25:27.674" v="18" actId="465"/>
          <ac:spMkLst>
            <pc:docMk/>
            <pc:sldMk cId="397167448" sldId="487"/>
            <ac:spMk id="12" creationId="{00000000-0000-0000-0000-000000000000}"/>
          </ac:spMkLst>
        </pc:spChg>
        <pc:spChg chg="mod">
          <ac:chgData name="博人 武内" userId="ddc9036651f7ec6c" providerId="LiveId" clId="{9A007108-162D-4DFA-B7AE-55180EFA1112}" dt="2024-04-02T23:25:27.674" v="18" actId="465"/>
          <ac:spMkLst>
            <pc:docMk/>
            <pc:sldMk cId="397167448" sldId="487"/>
            <ac:spMk id="13" creationId="{00000000-0000-0000-0000-000000000000}"/>
          </ac:spMkLst>
        </pc:spChg>
        <pc:spChg chg="mod">
          <ac:chgData name="博人 武内" userId="ddc9036651f7ec6c" providerId="LiveId" clId="{9A007108-162D-4DFA-B7AE-55180EFA1112}" dt="2024-04-02T23:25:27.674" v="18" actId="465"/>
          <ac:spMkLst>
            <pc:docMk/>
            <pc:sldMk cId="397167448" sldId="487"/>
            <ac:spMk id="14" creationId="{00000000-0000-0000-0000-000000000000}"/>
          </ac:spMkLst>
        </pc:spChg>
      </pc:sldChg>
    </pc:docChg>
  </pc:docChgLst>
  <pc:docChgLst>
    <pc:chgData name="博人 武内" userId="ddc9036651f7ec6c" providerId="LiveId" clId="{C5B2D186-E378-4B60-A6FB-A3C6FDF7366A}"/>
    <pc:docChg chg="modSld">
      <pc:chgData name="博人 武内" userId="ddc9036651f7ec6c" providerId="LiveId" clId="{C5B2D186-E378-4B60-A6FB-A3C6FDF7366A}" dt="2024-04-11T22:45:23.491" v="2" actId="20577"/>
      <pc:docMkLst>
        <pc:docMk/>
      </pc:docMkLst>
      <pc:sldChg chg="modSp mod">
        <pc:chgData name="博人 武内" userId="ddc9036651f7ec6c" providerId="LiveId" clId="{C5B2D186-E378-4B60-A6FB-A3C6FDF7366A}" dt="2024-04-11T22:45:23.491" v="2" actId="20577"/>
        <pc:sldMkLst>
          <pc:docMk/>
          <pc:sldMk cId="3567826674" sldId="504"/>
        </pc:sldMkLst>
        <pc:spChg chg="mod">
          <ac:chgData name="博人 武内" userId="ddc9036651f7ec6c" providerId="LiveId" clId="{C5B2D186-E378-4B60-A6FB-A3C6FDF7366A}" dt="2024-04-11T22:45:23.491" v="2" actId="20577"/>
          <ac:spMkLst>
            <pc:docMk/>
            <pc:sldMk cId="3567826674" sldId="504"/>
            <ac:spMk id="3" creationId="{00000000-0000-0000-0000-000000000000}"/>
          </ac:spMkLst>
        </pc:spChg>
      </pc:sldChg>
    </pc:docChg>
  </pc:docChgLst>
  <pc:docChgLst>
    <pc:chgData name="博人 武内" userId="ddc9036651f7ec6c" providerId="LiveId" clId="{618E2CC8-D62D-4D4E-9DC4-473ED4718860}"/>
    <pc:docChg chg="custSel modSld">
      <pc:chgData name="博人 武内" userId="ddc9036651f7ec6c" providerId="LiveId" clId="{618E2CC8-D62D-4D4E-9DC4-473ED4718860}" dt="2024-05-16T05:02:35.677" v="6"/>
      <pc:docMkLst>
        <pc:docMk/>
      </pc:docMkLst>
      <pc:sldChg chg="addSp delSp modSp mod">
        <pc:chgData name="博人 武内" userId="ddc9036651f7ec6c" providerId="LiveId" clId="{618E2CC8-D62D-4D4E-9DC4-473ED4718860}" dt="2024-05-16T05:02:35.677" v="6"/>
        <pc:sldMkLst>
          <pc:docMk/>
          <pc:sldMk cId="2032509901" sldId="498"/>
        </pc:sldMkLst>
        <pc:spChg chg="add mod">
          <ac:chgData name="博人 武内" userId="ddc9036651f7ec6c" providerId="LiveId" clId="{618E2CC8-D62D-4D4E-9DC4-473ED4718860}" dt="2024-05-16T05:02:25.810" v="4"/>
          <ac:spMkLst>
            <pc:docMk/>
            <pc:sldMk cId="2032509901" sldId="498"/>
            <ac:spMk id="28" creationId="{E0FF90B2-662E-5029-63B8-FC554FAEA03D}"/>
          </ac:spMkLst>
        </pc:spChg>
        <pc:spChg chg="add mod">
          <ac:chgData name="博人 武内" userId="ddc9036651f7ec6c" providerId="LiveId" clId="{618E2CC8-D62D-4D4E-9DC4-473ED4718860}" dt="2024-05-16T05:02:35.677" v="6"/>
          <ac:spMkLst>
            <pc:docMk/>
            <pc:sldMk cId="2032509901" sldId="498"/>
            <ac:spMk id="29" creationId="{6C6B88F0-7392-5318-213A-AE5EA63C53B1}"/>
          </ac:spMkLst>
        </pc:spChg>
        <pc:spChg chg="del">
          <ac:chgData name="博人 武内" userId="ddc9036651f7ec6c" providerId="LiveId" clId="{618E2CC8-D62D-4D4E-9DC4-473ED4718860}" dt="2024-05-16T05:02:34.210" v="5" actId="478"/>
          <ac:spMkLst>
            <pc:docMk/>
            <pc:sldMk cId="2032509901" sldId="498"/>
            <ac:spMk id="31" creationId="{C09F1D77-8DBE-C79D-C574-0BF4D8475D28}"/>
          </ac:spMkLst>
        </pc:spChg>
      </pc:sldChg>
      <pc:sldChg chg="modSp mod">
        <pc:chgData name="博人 武内" userId="ddc9036651f7ec6c" providerId="LiveId" clId="{618E2CC8-D62D-4D4E-9DC4-473ED4718860}" dt="2024-05-16T04:59:59.247" v="3" actId="20577"/>
        <pc:sldMkLst>
          <pc:docMk/>
          <pc:sldMk cId="3567826674" sldId="504"/>
        </pc:sldMkLst>
        <pc:spChg chg="mod">
          <ac:chgData name="博人 武内" userId="ddc9036651f7ec6c" providerId="LiveId" clId="{618E2CC8-D62D-4D4E-9DC4-473ED4718860}" dt="2024-05-16T04:59:59.247" v="3" actId="20577"/>
          <ac:spMkLst>
            <pc:docMk/>
            <pc:sldMk cId="3567826674" sldId="504"/>
            <ac:spMk id="3" creationId="{00000000-0000-0000-0000-000000000000}"/>
          </ac:spMkLst>
        </pc:spChg>
      </pc:sldChg>
    </pc:docChg>
  </pc:docChgLst>
  <pc:docChgLst>
    <pc:chgData name="博人 武内" userId="ddc9036651f7ec6c" providerId="LiveId" clId="{24D506B8-97FD-4B68-96F2-E284FA93C354}"/>
    <pc:docChg chg="undo custSel addSld delSld modSld sldOrd">
      <pc:chgData name="博人 武内" userId="ddc9036651f7ec6c" providerId="LiveId" clId="{24D506B8-97FD-4B68-96F2-E284FA93C354}" dt="2024-04-01T06:00:45.821" v="1342" actId="20577"/>
      <pc:docMkLst>
        <pc:docMk/>
      </pc:docMkLst>
      <pc:sldChg chg="add">
        <pc:chgData name="博人 武内" userId="ddc9036651f7ec6c" providerId="LiveId" clId="{24D506B8-97FD-4B68-96F2-E284FA93C354}" dt="2024-04-01T01:16:22.471" v="0"/>
        <pc:sldMkLst>
          <pc:docMk/>
          <pc:sldMk cId="274705559" sldId="266"/>
        </pc:sldMkLst>
      </pc:sldChg>
      <pc:sldChg chg="add">
        <pc:chgData name="博人 武内" userId="ddc9036651f7ec6c" providerId="LiveId" clId="{24D506B8-97FD-4B68-96F2-E284FA93C354}" dt="2024-04-01T01:16:22.471" v="0"/>
        <pc:sldMkLst>
          <pc:docMk/>
          <pc:sldMk cId="1812304109" sldId="440"/>
        </pc:sldMkLst>
      </pc:sldChg>
      <pc:sldChg chg="add">
        <pc:chgData name="博人 武内" userId="ddc9036651f7ec6c" providerId="LiveId" clId="{24D506B8-97FD-4B68-96F2-E284FA93C354}" dt="2024-04-01T01:16:22.471" v="0"/>
        <pc:sldMkLst>
          <pc:docMk/>
          <pc:sldMk cId="192769433" sldId="441"/>
        </pc:sldMkLst>
      </pc:sldChg>
      <pc:sldChg chg="del">
        <pc:chgData name="博人 武内" userId="ddc9036651f7ec6c" providerId="LiveId" clId="{24D506B8-97FD-4B68-96F2-E284FA93C354}" dt="2024-04-01T05:48:07.024" v="1067" actId="47"/>
        <pc:sldMkLst>
          <pc:docMk/>
          <pc:sldMk cId="4163154950" sldId="443"/>
        </pc:sldMkLst>
      </pc:sldChg>
      <pc:sldChg chg="add">
        <pc:chgData name="博人 武内" userId="ddc9036651f7ec6c" providerId="LiveId" clId="{24D506B8-97FD-4B68-96F2-E284FA93C354}" dt="2024-04-01T01:16:22.471" v="0"/>
        <pc:sldMkLst>
          <pc:docMk/>
          <pc:sldMk cId="2067038893" sldId="445"/>
        </pc:sldMkLst>
      </pc:sldChg>
      <pc:sldChg chg="add ord">
        <pc:chgData name="博人 武内" userId="ddc9036651f7ec6c" providerId="LiveId" clId="{24D506B8-97FD-4B68-96F2-E284FA93C354}" dt="2024-04-01T05:47:07.248" v="1043"/>
        <pc:sldMkLst>
          <pc:docMk/>
          <pc:sldMk cId="1363475005" sldId="446"/>
        </pc:sldMkLst>
      </pc:sldChg>
      <pc:sldChg chg="add ord">
        <pc:chgData name="博人 武内" userId="ddc9036651f7ec6c" providerId="LiveId" clId="{24D506B8-97FD-4B68-96F2-E284FA93C354}" dt="2024-04-01T05:47:07.248" v="1043"/>
        <pc:sldMkLst>
          <pc:docMk/>
          <pc:sldMk cId="2459836672" sldId="447"/>
        </pc:sldMkLst>
      </pc:sldChg>
      <pc:sldChg chg="delSp modSp add mod">
        <pc:chgData name="博人 武内" userId="ddc9036651f7ec6c" providerId="LiveId" clId="{24D506B8-97FD-4B68-96F2-E284FA93C354}" dt="2024-04-01T02:01:29.376" v="833" actId="1076"/>
        <pc:sldMkLst>
          <pc:docMk/>
          <pc:sldMk cId="3043918628" sldId="462"/>
        </pc:sldMkLst>
        <pc:spChg chg="del">
          <ac:chgData name="博人 武内" userId="ddc9036651f7ec6c" providerId="LiveId" clId="{24D506B8-97FD-4B68-96F2-E284FA93C354}" dt="2024-04-01T01:24:36.886" v="1" actId="478"/>
          <ac:spMkLst>
            <pc:docMk/>
            <pc:sldMk cId="3043918628" sldId="462"/>
            <ac:spMk id="4" creationId="{73EAA742-230C-1627-F1B2-E776C115026E}"/>
          </ac:spMkLst>
        </pc:spChg>
        <pc:picChg chg="mod">
          <ac:chgData name="博人 武内" userId="ddc9036651f7ec6c" providerId="LiveId" clId="{24D506B8-97FD-4B68-96F2-E284FA93C354}" dt="2024-04-01T02:01:29.376" v="833" actId="1076"/>
          <ac:picMkLst>
            <pc:docMk/>
            <pc:sldMk cId="3043918628" sldId="462"/>
            <ac:picMk id="3" creationId="{00000000-0000-0000-0000-000000000000}"/>
          </ac:picMkLst>
        </pc:picChg>
      </pc:sldChg>
      <pc:sldChg chg="delSp add mod">
        <pc:chgData name="博人 武内" userId="ddc9036651f7ec6c" providerId="LiveId" clId="{24D506B8-97FD-4B68-96F2-E284FA93C354}" dt="2024-04-01T01:24:42.892" v="2" actId="478"/>
        <pc:sldMkLst>
          <pc:docMk/>
          <pc:sldMk cId="530840927" sldId="463"/>
        </pc:sldMkLst>
        <pc:spChg chg="del">
          <ac:chgData name="博人 武内" userId="ddc9036651f7ec6c" providerId="LiveId" clId="{24D506B8-97FD-4B68-96F2-E284FA93C354}" dt="2024-04-01T01:24:42.892" v="2" actId="478"/>
          <ac:spMkLst>
            <pc:docMk/>
            <pc:sldMk cId="530840927" sldId="463"/>
            <ac:spMk id="5" creationId="{00000000-0000-0000-0000-000000000000}"/>
          </ac:spMkLst>
        </pc:spChg>
      </pc:sldChg>
      <pc:sldChg chg="add">
        <pc:chgData name="博人 武内" userId="ddc9036651f7ec6c" providerId="LiveId" clId="{24D506B8-97FD-4B68-96F2-E284FA93C354}" dt="2024-04-01T01:16:22.471" v="0"/>
        <pc:sldMkLst>
          <pc:docMk/>
          <pc:sldMk cId="749288056" sldId="464"/>
        </pc:sldMkLst>
      </pc:sldChg>
      <pc:sldChg chg="addSp modSp add mod ord">
        <pc:chgData name="博人 武内" userId="ddc9036651f7ec6c" providerId="LiveId" clId="{24D506B8-97FD-4B68-96F2-E284FA93C354}" dt="2024-04-01T05:48:30.836" v="1071"/>
        <pc:sldMkLst>
          <pc:docMk/>
          <pc:sldMk cId="3970863527" sldId="465"/>
        </pc:sldMkLst>
        <pc:spChg chg="add mod">
          <ac:chgData name="博人 武内" userId="ddc9036651f7ec6c" providerId="LiveId" clId="{24D506B8-97FD-4B68-96F2-E284FA93C354}" dt="2024-04-01T02:02:57.224" v="838" actId="1076"/>
          <ac:spMkLst>
            <pc:docMk/>
            <pc:sldMk cId="3970863527" sldId="465"/>
            <ac:spMk id="3" creationId="{987EB429-BC6A-DB5C-9287-ABB4D323313B}"/>
          </ac:spMkLst>
        </pc:spChg>
      </pc:sldChg>
      <pc:sldChg chg="add">
        <pc:chgData name="博人 武内" userId="ddc9036651f7ec6c" providerId="LiveId" clId="{24D506B8-97FD-4B68-96F2-E284FA93C354}" dt="2024-04-01T01:16:22.471" v="0"/>
        <pc:sldMkLst>
          <pc:docMk/>
          <pc:sldMk cId="1630778423" sldId="471"/>
        </pc:sldMkLst>
      </pc:sldChg>
      <pc:sldChg chg="addSp delSp modSp add mod ord">
        <pc:chgData name="博人 武内" userId="ddc9036651f7ec6c" providerId="LiveId" clId="{24D506B8-97FD-4B68-96F2-E284FA93C354}" dt="2024-04-01T02:06:11.199" v="846" actId="1076"/>
        <pc:sldMkLst>
          <pc:docMk/>
          <pc:sldMk cId="3668664415" sldId="476"/>
        </pc:sldMkLst>
        <pc:spChg chg="add mod">
          <ac:chgData name="博人 武内" userId="ddc9036651f7ec6c" providerId="LiveId" clId="{24D506B8-97FD-4B68-96F2-E284FA93C354}" dt="2024-04-01T02:06:11.199" v="846" actId="1076"/>
          <ac:spMkLst>
            <pc:docMk/>
            <pc:sldMk cId="3668664415" sldId="476"/>
            <ac:spMk id="3" creationId="{0E2EDC82-C11A-DDCD-9C7B-1756F61D03D3}"/>
          </ac:spMkLst>
        </pc:spChg>
        <pc:spChg chg="mod">
          <ac:chgData name="博人 武内" userId="ddc9036651f7ec6c" providerId="LiveId" clId="{24D506B8-97FD-4B68-96F2-E284FA93C354}" dt="2024-04-01T01:47:11.860" v="626" actId="207"/>
          <ac:spMkLst>
            <pc:docMk/>
            <pc:sldMk cId="3668664415" sldId="476"/>
            <ac:spMk id="4" creationId="{00000000-0000-0000-0000-000000000000}"/>
          </ac:spMkLst>
        </pc:spChg>
        <pc:spChg chg="add mod">
          <ac:chgData name="博人 武内" userId="ddc9036651f7ec6c" providerId="LiveId" clId="{24D506B8-97FD-4B68-96F2-E284FA93C354}" dt="2024-04-01T01:50:08.919" v="830" actId="1036"/>
          <ac:spMkLst>
            <pc:docMk/>
            <pc:sldMk cId="3668664415" sldId="476"/>
            <ac:spMk id="6" creationId="{E3762E4D-9498-6E40-4A95-0C4D8A5326A7}"/>
          </ac:spMkLst>
        </pc:spChg>
        <pc:spChg chg="add mod">
          <ac:chgData name="博人 武内" userId="ddc9036651f7ec6c" providerId="LiveId" clId="{24D506B8-97FD-4B68-96F2-E284FA93C354}" dt="2024-04-01T01:50:08.919" v="830" actId="1036"/>
          <ac:spMkLst>
            <pc:docMk/>
            <pc:sldMk cId="3668664415" sldId="476"/>
            <ac:spMk id="7" creationId="{683694BF-F8FD-E0C5-D070-B7CA699212D5}"/>
          </ac:spMkLst>
        </pc:spChg>
        <pc:spChg chg="mod">
          <ac:chgData name="博人 武内" userId="ddc9036651f7ec6c" providerId="LiveId" clId="{24D506B8-97FD-4B68-96F2-E284FA93C354}" dt="2024-04-01T01:39:34.152" v="431" actId="1036"/>
          <ac:spMkLst>
            <pc:docMk/>
            <pc:sldMk cId="3668664415" sldId="476"/>
            <ac:spMk id="14" creationId="{00000000-0000-0000-0000-000000000000}"/>
          </ac:spMkLst>
        </pc:spChg>
        <pc:spChg chg="del">
          <ac:chgData name="博人 武内" userId="ddc9036651f7ec6c" providerId="LiveId" clId="{24D506B8-97FD-4B68-96F2-E284FA93C354}" dt="2024-04-01T02:04:40.076" v="839" actId="478"/>
          <ac:spMkLst>
            <pc:docMk/>
            <pc:sldMk cId="3668664415" sldId="476"/>
            <ac:spMk id="15" creationId="{00000000-0000-0000-0000-000000000000}"/>
          </ac:spMkLst>
        </pc:spChg>
        <pc:spChg chg="mod">
          <ac:chgData name="博人 武内" userId="ddc9036651f7ec6c" providerId="LiveId" clId="{24D506B8-97FD-4B68-96F2-E284FA93C354}" dt="2024-04-01T01:39:34.152" v="431" actId="1036"/>
          <ac:spMkLst>
            <pc:docMk/>
            <pc:sldMk cId="3668664415" sldId="476"/>
            <ac:spMk id="16" creationId="{00000000-0000-0000-0000-000000000000}"/>
          </ac:spMkLst>
        </pc:spChg>
        <pc:spChg chg="mod">
          <ac:chgData name="博人 武内" userId="ddc9036651f7ec6c" providerId="LiveId" clId="{24D506B8-97FD-4B68-96F2-E284FA93C354}" dt="2024-04-01T01:39:34.152" v="431" actId="1036"/>
          <ac:spMkLst>
            <pc:docMk/>
            <pc:sldMk cId="3668664415" sldId="476"/>
            <ac:spMk id="17" creationId="{00000000-0000-0000-0000-000000000000}"/>
          </ac:spMkLst>
        </pc:spChg>
        <pc:spChg chg="mod">
          <ac:chgData name="博人 武内" userId="ddc9036651f7ec6c" providerId="LiveId" clId="{24D506B8-97FD-4B68-96F2-E284FA93C354}" dt="2024-04-01T01:39:34.152" v="431" actId="1036"/>
          <ac:spMkLst>
            <pc:docMk/>
            <pc:sldMk cId="3668664415" sldId="476"/>
            <ac:spMk id="18" creationId="{00000000-0000-0000-0000-000000000000}"/>
          </ac:spMkLst>
        </pc:spChg>
        <pc:spChg chg="mod">
          <ac:chgData name="博人 武内" userId="ddc9036651f7ec6c" providerId="LiveId" clId="{24D506B8-97FD-4B68-96F2-E284FA93C354}" dt="2024-04-01T01:39:34.152" v="431" actId="1036"/>
          <ac:spMkLst>
            <pc:docMk/>
            <pc:sldMk cId="3668664415" sldId="476"/>
            <ac:spMk id="19" creationId="{00000000-0000-0000-0000-000000000000}"/>
          </ac:spMkLst>
        </pc:spChg>
        <pc:spChg chg="mod">
          <ac:chgData name="博人 武内" userId="ddc9036651f7ec6c" providerId="LiveId" clId="{24D506B8-97FD-4B68-96F2-E284FA93C354}" dt="2024-04-01T01:39:34.152" v="431" actId="1036"/>
          <ac:spMkLst>
            <pc:docMk/>
            <pc:sldMk cId="3668664415" sldId="476"/>
            <ac:spMk id="20" creationId="{00000000-0000-0000-0000-000000000000}"/>
          </ac:spMkLst>
        </pc:spChg>
        <pc:spChg chg="mod">
          <ac:chgData name="博人 武内" userId="ddc9036651f7ec6c" providerId="LiveId" clId="{24D506B8-97FD-4B68-96F2-E284FA93C354}" dt="2024-04-01T01:39:34.152" v="431" actId="1036"/>
          <ac:spMkLst>
            <pc:docMk/>
            <pc:sldMk cId="3668664415" sldId="476"/>
            <ac:spMk id="21" creationId="{00000000-0000-0000-0000-000000000000}"/>
          </ac:spMkLst>
        </pc:spChg>
        <pc:spChg chg="mod">
          <ac:chgData name="博人 武内" userId="ddc9036651f7ec6c" providerId="LiveId" clId="{24D506B8-97FD-4B68-96F2-E284FA93C354}" dt="2024-04-01T01:39:34.152" v="431" actId="1036"/>
          <ac:spMkLst>
            <pc:docMk/>
            <pc:sldMk cId="3668664415" sldId="476"/>
            <ac:spMk id="22" creationId="{00000000-0000-0000-0000-000000000000}"/>
          </ac:spMkLst>
        </pc:spChg>
        <pc:spChg chg="mod">
          <ac:chgData name="博人 武内" userId="ddc9036651f7ec6c" providerId="LiveId" clId="{24D506B8-97FD-4B68-96F2-E284FA93C354}" dt="2024-04-01T01:39:34.152" v="431" actId="1036"/>
          <ac:spMkLst>
            <pc:docMk/>
            <pc:sldMk cId="3668664415" sldId="476"/>
            <ac:spMk id="23" creationId="{00000000-0000-0000-0000-000000000000}"/>
          </ac:spMkLst>
        </pc:spChg>
        <pc:spChg chg="mod">
          <ac:chgData name="博人 武内" userId="ddc9036651f7ec6c" providerId="LiveId" clId="{24D506B8-97FD-4B68-96F2-E284FA93C354}" dt="2024-04-01T01:39:34.152" v="431" actId="1036"/>
          <ac:spMkLst>
            <pc:docMk/>
            <pc:sldMk cId="3668664415" sldId="476"/>
            <ac:spMk id="24" creationId="{00000000-0000-0000-0000-000000000000}"/>
          </ac:spMkLst>
        </pc:spChg>
        <pc:spChg chg="mod">
          <ac:chgData name="博人 武内" userId="ddc9036651f7ec6c" providerId="LiveId" clId="{24D506B8-97FD-4B68-96F2-E284FA93C354}" dt="2024-04-01T01:39:34.152" v="431" actId="1036"/>
          <ac:spMkLst>
            <pc:docMk/>
            <pc:sldMk cId="3668664415" sldId="476"/>
            <ac:spMk id="25" creationId="{00000000-0000-0000-0000-000000000000}"/>
          </ac:spMkLst>
        </pc:spChg>
        <pc:spChg chg="mod">
          <ac:chgData name="博人 武内" userId="ddc9036651f7ec6c" providerId="LiveId" clId="{24D506B8-97FD-4B68-96F2-E284FA93C354}" dt="2024-04-01T01:39:34.152" v="431" actId="1036"/>
          <ac:spMkLst>
            <pc:docMk/>
            <pc:sldMk cId="3668664415" sldId="476"/>
            <ac:spMk id="26" creationId="{00000000-0000-0000-0000-000000000000}"/>
          </ac:spMkLst>
        </pc:spChg>
        <pc:spChg chg="mod">
          <ac:chgData name="博人 武内" userId="ddc9036651f7ec6c" providerId="LiveId" clId="{24D506B8-97FD-4B68-96F2-E284FA93C354}" dt="2024-04-01T01:39:34.152" v="431" actId="1036"/>
          <ac:spMkLst>
            <pc:docMk/>
            <pc:sldMk cId="3668664415" sldId="476"/>
            <ac:spMk id="27" creationId="{00000000-0000-0000-0000-000000000000}"/>
          </ac:spMkLst>
        </pc:spChg>
        <pc:spChg chg="mod">
          <ac:chgData name="博人 武内" userId="ddc9036651f7ec6c" providerId="LiveId" clId="{24D506B8-97FD-4B68-96F2-E284FA93C354}" dt="2024-04-01T01:39:34.152" v="431" actId="1036"/>
          <ac:spMkLst>
            <pc:docMk/>
            <pc:sldMk cId="3668664415" sldId="476"/>
            <ac:spMk id="28" creationId="{00000000-0000-0000-0000-000000000000}"/>
          </ac:spMkLst>
        </pc:spChg>
        <pc:spChg chg="mod">
          <ac:chgData name="博人 武内" userId="ddc9036651f7ec6c" providerId="LiveId" clId="{24D506B8-97FD-4B68-96F2-E284FA93C354}" dt="2024-04-01T01:39:34.152" v="431" actId="1036"/>
          <ac:spMkLst>
            <pc:docMk/>
            <pc:sldMk cId="3668664415" sldId="476"/>
            <ac:spMk id="29" creationId="{00000000-0000-0000-0000-000000000000}"/>
          </ac:spMkLst>
        </pc:spChg>
        <pc:spChg chg="mod">
          <ac:chgData name="博人 武内" userId="ddc9036651f7ec6c" providerId="LiveId" clId="{24D506B8-97FD-4B68-96F2-E284FA93C354}" dt="2024-04-01T01:39:34.152" v="431" actId="1036"/>
          <ac:spMkLst>
            <pc:docMk/>
            <pc:sldMk cId="3668664415" sldId="476"/>
            <ac:spMk id="30" creationId="{00000000-0000-0000-0000-000000000000}"/>
          </ac:spMkLst>
        </pc:spChg>
        <pc:spChg chg="mod">
          <ac:chgData name="博人 武内" userId="ddc9036651f7ec6c" providerId="LiveId" clId="{24D506B8-97FD-4B68-96F2-E284FA93C354}" dt="2024-04-01T01:39:34.152" v="431" actId="1036"/>
          <ac:spMkLst>
            <pc:docMk/>
            <pc:sldMk cId="3668664415" sldId="476"/>
            <ac:spMk id="31" creationId="{00000000-0000-0000-0000-000000000000}"/>
          </ac:spMkLst>
        </pc:spChg>
        <pc:spChg chg="mod">
          <ac:chgData name="博人 武内" userId="ddc9036651f7ec6c" providerId="LiveId" clId="{24D506B8-97FD-4B68-96F2-E284FA93C354}" dt="2024-04-01T01:39:34.152" v="431" actId="1036"/>
          <ac:spMkLst>
            <pc:docMk/>
            <pc:sldMk cId="3668664415" sldId="476"/>
            <ac:spMk id="32" creationId="{00000000-0000-0000-0000-000000000000}"/>
          </ac:spMkLst>
        </pc:spChg>
        <pc:spChg chg="mod">
          <ac:chgData name="博人 武内" userId="ddc9036651f7ec6c" providerId="LiveId" clId="{24D506B8-97FD-4B68-96F2-E284FA93C354}" dt="2024-04-01T01:39:34.152" v="431" actId="1036"/>
          <ac:spMkLst>
            <pc:docMk/>
            <pc:sldMk cId="3668664415" sldId="476"/>
            <ac:spMk id="33" creationId="{00000000-0000-0000-0000-000000000000}"/>
          </ac:spMkLst>
        </pc:spChg>
        <pc:spChg chg="mod">
          <ac:chgData name="博人 武内" userId="ddc9036651f7ec6c" providerId="LiveId" clId="{24D506B8-97FD-4B68-96F2-E284FA93C354}" dt="2024-04-01T01:39:34.152" v="431" actId="1036"/>
          <ac:spMkLst>
            <pc:docMk/>
            <pc:sldMk cId="3668664415" sldId="476"/>
            <ac:spMk id="37" creationId="{00000000-0000-0000-0000-000000000000}"/>
          </ac:spMkLst>
        </pc:spChg>
        <pc:spChg chg="mod">
          <ac:chgData name="博人 武内" userId="ddc9036651f7ec6c" providerId="LiveId" clId="{24D506B8-97FD-4B68-96F2-E284FA93C354}" dt="2024-04-01T01:39:34.152" v="431" actId="1036"/>
          <ac:spMkLst>
            <pc:docMk/>
            <pc:sldMk cId="3668664415" sldId="476"/>
            <ac:spMk id="40" creationId="{00000000-0000-0000-0000-000000000000}"/>
          </ac:spMkLst>
        </pc:spChg>
        <pc:spChg chg="mod">
          <ac:chgData name="博人 武内" userId="ddc9036651f7ec6c" providerId="LiveId" clId="{24D506B8-97FD-4B68-96F2-E284FA93C354}" dt="2024-04-01T01:39:34.152" v="431" actId="1036"/>
          <ac:spMkLst>
            <pc:docMk/>
            <pc:sldMk cId="3668664415" sldId="476"/>
            <ac:spMk id="41" creationId="{00000000-0000-0000-0000-000000000000}"/>
          </ac:spMkLst>
        </pc:spChg>
        <pc:spChg chg="mod">
          <ac:chgData name="博人 武内" userId="ddc9036651f7ec6c" providerId="LiveId" clId="{24D506B8-97FD-4B68-96F2-E284FA93C354}" dt="2024-04-01T01:39:34.152" v="431" actId="1036"/>
          <ac:spMkLst>
            <pc:docMk/>
            <pc:sldMk cId="3668664415" sldId="476"/>
            <ac:spMk id="42" creationId="{00000000-0000-0000-0000-000000000000}"/>
          </ac:spMkLst>
        </pc:spChg>
        <pc:spChg chg="mod">
          <ac:chgData name="博人 武内" userId="ddc9036651f7ec6c" providerId="LiveId" clId="{24D506B8-97FD-4B68-96F2-E284FA93C354}" dt="2024-04-01T01:39:34.152" v="431" actId="1036"/>
          <ac:spMkLst>
            <pc:docMk/>
            <pc:sldMk cId="3668664415" sldId="476"/>
            <ac:spMk id="43" creationId="{00000000-0000-0000-0000-000000000000}"/>
          </ac:spMkLst>
        </pc:spChg>
        <pc:spChg chg="mod">
          <ac:chgData name="博人 武内" userId="ddc9036651f7ec6c" providerId="LiveId" clId="{24D506B8-97FD-4B68-96F2-E284FA93C354}" dt="2024-04-01T01:39:34.152" v="431" actId="1036"/>
          <ac:spMkLst>
            <pc:docMk/>
            <pc:sldMk cId="3668664415" sldId="476"/>
            <ac:spMk id="44" creationId="{00000000-0000-0000-0000-000000000000}"/>
          </ac:spMkLst>
        </pc:spChg>
        <pc:spChg chg="mod">
          <ac:chgData name="博人 武内" userId="ddc9036651f7ec6c" providerId="LiveId" clId="{24D506B8-97FD-4B68-96F2-E284FA93C354}" dt="2024-04-01T01:39:34.152" v="431" actId="1036"/>
          <ac:spMkLst>
            <pc:docMk/>
            <pc:sldMk cId="3668664415" sldId="476"/>
            <ac:spMk id="45" creationId="{00000000-0000-0000-0000-000000000000}"/>
          </ac:spMkLst>
        </pc:spChg>
      </pc:sldChg>
      <pc:sldChg chg="delSp add mod ord">
        <pc:chgData name="博人 武内" userId="ddc9036651f7ec6c" providerId="LiveId" clId="{24D506B8-97FD-4B68-96F2-E284FA93C354}" dt="2024-04-01T02:04:47.490" v="840" actId="478"/>
        <pc:sldMkLst>
          <pc:docMk/>
          <pc:sldMk cId="3991614317" sldId="479"/>
        </pc:sldMkLst>
        <pc:spChg chg="del">
          <ac:chgData name="博人 武内" userId="ddc9036651f7ec6c" providerId="LiveId" clId="{24D506B8-97FD-4B68-96F2-E284FA93C354}" dt="2024-04-01T02:04:47.490" v="840" actId="478"/>
          <ac:spMkLst>
            <pc:docMk/>
            <pc:sldMk cId="3991614317" sldId="479"/>
            <ac:spMk id="15" creationId="{00000000-0000-0000-0000-000000000000}"/>
          </ac:spMkLst>
        </pc:spChg>
      </pc:sldChg>
      <pc:sldChg chg="addSp modSp add mod">
        <pc:chgData name="博人 武内" userId="ddc9036651f7ec6c" providerId="LiveId" clId="{24D506B8-97FD-4B68-96F2-E284FA93C354}" dt="2024-04-01T06:00:45.821" v="1342" actId="20577"/>
        <pc:sldMkLst>
          <pc:docMk/>
          <pc:sldMk cId="397167448" sldId="487"/>
        </pc:sldMkLst>
        <pc:spChg chg="add mod">
          <ac:chgData name="博人 武内" userId="ddc9036651f7ec6c" providerId="LiveId" clId="{24D506B8-97FD-4B68-96F2-E284FA93C354}" dt="2024-04-01T05:57:03.131" v="1185" actId="1076"/>
          <ac:spMkLst>
            <pc:docMk/>
            <pc:sldMk cId="397167448" sldId="487"/>
            <ac:spMk id="2" creationId="{F05D6A01-2038-4DB9-A462-11D9D2EAA445}"/>
          </ac:spMkLst>
        </pc:spChg>
        <pc:spChg chg="add mod">
          <ac:chgData name="博人 武内" userId="ddc9036651f7ec6c" providerId="LiveId" clId="{24D506B8-97FD-4B68-96F2-E284FA93C354}" dt="2024-04-01T06:00:23.399" v="1340" actId="20577"/>
          <ac:spMkLst>
            <pc:docMk/>
            <pc:sldMk cId="397167448" sldId="487"/>
            <ac:spMk id="3" creationId="{D88F96D0-B75F-257F-8CEA-0B044C064ECB}"/>
          </ac:spMkLst>
        </pc:spChg>
        <pc:spChg chg="add mod">
          <ac:chgData name="博人 武内" userId="ddc9036651f7ec6c" providerId="LiveId" clId="{24D506B8-97FD-4B68-96F2-E284FA93C354}" dt="2024-04-01T05:57:11.170" v="1186" actId="465"/>
          <ac:spMkLst>
            <pc:docMk/>
            <pc:sldMk cId="397167448" sldId="487"/>
            <ac:spMk id="4" creationId="{1977BF0B-DC5F-C26D-BEE7-DBDCA9362779}"/>
          </ac:spMkLst>
        </pc:spChg>
        <pc:spChg chg="mod">
          <ac:chgData name="博人 武内" userId="ddc9036651f7ec6c" providerId="LiveId" clId="{24D506B8-97FD-4B68-96F2-E284FA93C354}" dt="2024-04-01T05:57:03.131" v="1185" actId="1076"/>
          <ac:spMkLst>
            <pc:docMk/>
            <pc:sldMk cId="397167448" sldId="487"/>
            <ac:spMk id="6" creationId="{00000000-0000-0000-0000-000000000000}"/>
          </ac:spMkLst>
        </pc:spChg>
        <pc:spChg chg="mod">
          <ac:chgData name="博人 武内" userId="ddc9036651f7ec6c" providerId="LiveId" clId="{24D506B8-97FD-4B68-96F2-E284FA93C354}" dt="2024-04-01T05:57:11.170" v="1186" actId="465"/>
          <ac:spMkLst>
            <pc:docMk/>
            <pc:sldMk cId="397167448" sldId="487"/>
            <ac:spMk id="7" creationId="{00000000-0000-0000-0000-000000000000}"/>
          </ac:spMkLst>
        </pc:spChg>
        <pc:spChg chg="mod">
          <ac:chgData name="博人 武内" userId="ddc9036651f7ec6c" providerId="LiveId" clId="{24D506B8-97FD-4B68-96F2-E284FA93C354}" dt="2024-04-01T05:57:11.170" v="1186" actId="465"/>
          <ac:spMkLst>
            <pc:docMk/>
            <pc:sldMk cId="397167448" sldId="487"/>
            <ac:spMk id="8" creationId="{00000000-0000-0000-0000-000000000000}"/>
          </ac:spMkLst>
        </pc:spChg>
        <pc:spChg chg="mod">
          <ac:chgData name="博人 武内" userId="ddc9036651f7ec6c" providerId="LiveId" clId="{24D506B8-97FD-4B68-96F2-E284FA93C354}" dt="2024-04-01T05:57:11.170" v="1186" actId="465"/>
          <ac:spMkLst>
            <pc:docMk/>
            <pc:sldMk cId="397167448" sldId="487"/>
            <ac:spMk id="9" creationId="{00000000-0000-0000-0000-000000000000}"/>
          </ac:spMkLst>
        </pc:spChg>
        <pc:spChg chg="add mod">
          <ac:chgData name="博人 武内" userId="ddc9036651f7ec6c" providerId="LiveId" clId="{24D506B8-97FD-4B68-96F2-E284FA93C354}" dt="2024-04-01T06:00:45.821" v="1342" actId="20577"/>
          <ac:spMkLst>
            <pc:docMk/>
            <pc:sldMk cId="397167448" sldId="487"/>
            <ac:spMk id="10" creationId="{85D80113-0BE7-A8A0-E2F6-3E8BFD0619D3}"/>
          </ac:spMkLst>
        </pc:spChg>
        <pc:spChg chg="mod">
          <ac:chgData name="博人 武内" userId="ddc9036651f7ec6c" providerId="LiveId" clId="{24D506B8-97FD-4B68-96F2-E284FA93C354}" dt="2024-04-01T05:56:16.630" v="1180" actId="465"/>
          <ac:spMkLst>
            <pc:docMk/>
            <pc:sldMk cId="397167448" sldId="487"/>
            <ac:spMk id="12" creationId="{00000000-0000-0000-0000-000000000000}"/>
          </ac:spMkLst>
        </pc:spChg>
        <pc:spChg chg="mod">
          <ac:chgData name="博人 武内" userId="ddc9036651f7ec6c" providerId="LiveId" clId="{24D506B8-97FD-4B68-96F2-E284FA93C354}" dt="2024-04-01T05:56:16.630" v="1180" actId="465"/>
          <ac:spMkLst>
            <pc:docMk/>
            <pc:sldMk cId="397167448" sldId="487"/>
            <ac:spMk id="13" creationId="{00000000-0000-0000-0000-000000000000}"/>
          </ac:spMkLst>
        </pc:spChg>
        <pc:spChg chg="mod">
          <ac:chgData name="博人 武内" userId="ddc9036651f7ec6c" providerId="LiveId" clId="{24D506B8-97FD-4B68-96F2-E284FA93C354}" dt="2024-04-01T05:56:16.630" v="1180" actId="465"/>
          <ac:spMkLst>
            <pc:docMk/>
            <pc:sldMk cId="397167448" sldId="487"/>
            <ac:spMk id="14" creationId="{00000000-0000-0000-0000-000000000000}"/>
          </ac:spMkLst>
        </pc:spChg>
      </pc:sldChg>
      <pc:sldChg chg="add ord">
        <pc:chgData name="博人 武内" userId="ddc9036651f7ec6c" providerId="LiveId" clId="{24D506B8-97FD-4B68-96F2-E284FA93C354}" dt="2024-04-01T05:47:31.367" v="1047"/>
        <pc:sldMkLst>
          <pc:docMk/>
          <pc:sldMk cId="4194319805" sldId="490"/>
        </pc:sldMkLst>
      </pc:sldChg>
      <pc:sldChg chg="add ord">
        <pc:chgData name="博人 武内" userId="ddc9036651f7ec6c" providerId="LiveId" clId="{24D506B8-97FD-4B68-96F2-E284FA93C354}" dt="2024-04-01T05:47:07.248" v="1043"/>
        <pc:sldMkLst>
          <pc:docMk/>
          <pc:sldMk cId="843740388" sldId="491"/>
        </pc:sldMkLst>
      </pc:sldChg>
      <pc:sldChg chg="add">
        <pc:chgData name="博人 武内" userId="ddc9036651f7ec6c" providerId="LiveId" clId="{24D506B8-97FD-4B68-96F2-E284FA93C354}" dt="2024-04-01T01:16:22.471" v="0"/>
        <pc:sldMkLst>
          <pc:docMk/>
          <pc:sldMk cId="2202410500" sldId="493"/>
        </pc:sldMkLst>
      </pc:sldChg>
      <pc:sldChg chg="add">
        <pc:chgData name="博人 武内" userId="ddc9036651f7ec6c" providerId="LiveId" clId="{24D506B8-97FD-4B68-96F2-E284FA93C354}" dt="2024-04-01T01:16:22.471" v="0"/>
        <pc:sldMkLst>
          <pc:docMk/>
          <pc:sldMk cId="2321890018" sldId="494"/>
        </pc:sldMkLst>
      </pc:sldChg>
      <pc:sldChg chg="add">
        <pc:chgData name="博人 武内" userId="ddc9036651f7ec6c" providerId="LiveId" clId="{24D506B8-97FD-4B68-96F2-E284FA93C354}" dt="2024-04-01T01:16:22.471" v="0"/>
        <pc:sldMkLst>
          <pc:docMk/>
          <pc:sldMk cId="1573136316" sldId="495"/>
        </pc:sldMkLst>
      </pc:sldChg>
      <pc:sldChg chg="addSp modSp mod ord">
        <pc:chgData name="博人 武内" userId="ddc9036651f7ec6c" providerId="LiveId" clId="{24D506B8-97FD-4B68-96F2-E284FA93C354}" dt="2024-04-01T05:48:30.836" v="1071"/>
        <pc:sldMkLst>
          <pc:docMk/>
          <pc:sldMk cId="3481101876" sldId="496"/>
        </pc:sldMkLst>
        <pc:spChg chg="add mod">
          <ac:chgData name="博人 武内" userId="ddc9036651f7ec6c" providerId="LiveId" clId="{24D506B8-97FD-4B68-96F2-E284FA93C354}" dt="2024-04-01T02:02:42.923" v="836" actId="14100"/>
          <ac:spMkLst>
            <pc:docMk/>
            <pc:sldMk cId="3481101876" sldId="496"/>
            <ac:spMk id="14" creationId="{3286B9A6-CC67-BA2A-4F6D-F1C5D8B49758}"/>
          </ac:spMkLst>
        </pc:spChg>
      </pc:sldChg>
      <pc:sldChg chg="addSp modSp mod ord">
        <pc:chgData name="博人 武内" userId="ddc9036651f7ec6c" providerId="LiveId" clId="{24D506B8-97FD-4B68-96F2-E284FA93C354}" dt="2024-04-01T01:31:53.757" v="253" actId="1076"/>
        <pc:sldMkLst>
          <pc:docMk/>
          <pc:sldMk cId="3768861967" sldId="499"/>
        </pc:sldMkLst>
        <pc:spChg chg="add mod">
          <ac:chgData name="博人 武内" userId="ddc9036651f7ec6c" providerId="LiveId" clId="{24D506B8-97FD-4B68-96F2-E284FA93C354}" dt="2024-04-01T01:31:53.757" v="253" actId="1076"/>
          <ac:spMkLst>
            <pc:docMk/>
            <pc:sldMk cId="3768861967" sldId="499"/>
            <ac:spMk id="12" creationId="{2185192E-B6EE-9B3A-27FD-F1BC558AF067}"/>
          </ac:spMkLst>
        </pc:spChg>
      </pc:sldChg>
      <pc:sldChg chg="addSp modSp mod ord">
        <pc:chgData name="博人 武内" userId="ddc9036651f7ec6c" providerId="LiveId" clId="{24D506B8-97FD-4B68-96F2-E284FA93C354}" dt="2024-04-01T05:34:25.883" v="939" actId="20577"/>
        <pc:sldMkLst>
          <pc:docMk/>
          <pc:sldMk cId="988903461" sldId="502"/>
        </pc:sldMkLst>
        <pc:spChg chg="add mod">
          <ac:chgData name="博人 武内" userId="ddc9036651f7ec6c" providerId="LiveId" clId="{24D506B8-97FD-4B68-96F2-E284FA93C354}" dt="2024-04-01T05:34:25.883" v="939" actId="20577"/>
          <ac:spMkLst>
            <pc:docMk/>
            <pc:sldMk cId="988903461" sldId="502"/>
            <ac:spMk id="3" creationId="{5DC6E157-AAF5-7E83-9669-ECD22F5B928E}"/>
          </ac:spMkLst>
        </pc:spChg>
      </pc:sldChg>
      <pc:sldChg chg="addSp modSp ord">
        <pc:chgData name="博人 武内" userId="ddc9036651f7ec6c" providerId="LiveId" clId="{24D506B8-97FD-4B68-96F2-E284FA93C354}" dt="2024-04-01T05:36:24.969" v="940"/>
        <pc:sldMkLst>
          <pc:docMk/>
          <pc:sldMk cId="1807073039" sldId="503"/>
        </pc:sldMkLst>
        <pc:spChg chg="add mod">
          <ac:chgData name="博人 武内" userId="ddc9036651f7ec6c" providerId="LiveId" clId="{24D506B8-97FD-4B68-96F2-E284FA93C354}" dt="2024-04-01T05:36:24.969" v="940"/>
          <ac:spMkLst>
            <pc:docMk/>
            <pc:sldMk cId="1807073039" sldId="503"/>
            <ac:spMk id="3" creationId="{759BA213-E190-A97C-E936-CD6EAABCF403}"/>
          </ac:spMkLst>
        </pc:spChg>
      </pc:sldChg>
      <pc:sldChg chg="add">
        <pc:chgData name="博人 武内" userId="ddc9036651f7ec6c" providerId="LiveId" clId="{24D506B8-97FD-4B68-96F2-E284FA93C354}" dt="2024-04-01T01:16:22.471" v="0"/>
        <pc:sldMkLst>
          <pc:docMk/>
          <pc:sldMk cId="3567826674" sldId="504"/>
        </pc:sldMkLst>
      </pc:sldChg>
      <pc:sldChg chg="add">
        <pc:chgData name="博人 武内" userId="ddc9036651f7ec6c" providerId="LiveId" clId="{24D506B8-97FD-4B68-96F2-E284FA93C354}" dt="2024-04-01T01:16:22.471" v="0"/>
        <pc:sldMkLst>
          <pc:docMk/>
          <pc:sldMk cId="2707153866" sldId="505"/>
        </pc:sldMkLst>
      </pc:sldChg>
      <pc:sldChg chg="modSp add mod">
        <pc:chgData name="博人 武内" userId="ddc9036651f7ec6c" providerId="LiveId" clId="{24D506B8-97FD-4B68-96F2-E284FA93C354}" dt="2024-04-01T05:48:03.766" v="1066" actId="6549"/>
        <pc:sldMkLst>
          <pc:docMk/>
          <pc:sldMk cId="807368260" sldId="506"/>
        </pc:sldMkLst>
        <pc:spChg chg="mod">
          <ac:chgData name="博人 武内" userId="ddc9036651f7ec6c" providerId="LiveId" clId="{24D506B8-97FD-4B68-96F2-E284FA93C354}" dt="2024-04-01T05:48:03.766" v="1066" actId="6549"/>
          <ac:spMkLst>
            <pc:docMk/>
            <pc:sldMk cId="807368260" sldId="506"/>
            <ac:spMk id="4" creationId="{00000000-0000-0000-0000-000000000000}"/>
          </ac:spMkLst>
        </pc:spChg>
      </pc:sldChg>
      <pc:sldChg chg="modSp add mod">
        <pc:chgData name="博人 武内" userId="ddc9036651f7ec6c" providerId="LiveId" clId="{24D506B8-97FD-4B68-96F2-E284FA93C354}" dt="2024-04-01T05:58:23.131" v="1234" actId="20577"/>
        <pc:sldMkLst>
          <pc:docMk/>
          <pc:sldMk cId="1600311873" sldId="507"/>
        </pc:sldMkLst>
        <pc:spChg chg="mod">
          <ac:chgData name="博人 武内" userId="ddc9036651f7ec6c" providerId="LiveId" clId="{24D506B8-97FD-4B68-96F2-E284FA93C354}" dt="2024-04-01T05:58:23.131" v="1234" actId="20577"/>
          <ac:spMkLst>
            <pc:docMk/>
            <pc:sldMk cId="1600311873" sldId="507"/>
            <ac:spMk id="4" creationId="{00000000-0000-0000-0000-000000000000}"/>
          </ac:spMkLst>
        </pc:spChg>
      </pc:sldChg>
      <pc:sldChg chg="addSp delSp modSp add mod">
        <pc:chgData name="博人 武内" userId="ddc9036651f7ec6c" providerId="LiveId" clId="{24D506B8-97FD-4B68-96F2-E284FA93C354}" dt="2024-04-01T05:59:50.142" v="1338" actId="14100"/>
        <pc:sldMkLst>
          <pc:docMk/>
          <pc:sldMk cId="2553067286" sldId="508"/>
        </pc:sldMkLst>
        <pc:spChg chg="add mod">
          <ac:chgData name="博人 武内" userId="ddc9036651f7ec6c" providerId="LiveId" clId="{24D506B8-97FD-4B68-96F2-E284FA93C354}" dt="2024-04-01T05:59:50.142" v="1338" actId="14100"/>
          <ac:spMkLst>
            <pc:docMk/>
            <pc:sldMk cId="2553067286" sldId="508"/>
            <ac:spMk id="2" creationId="{DFA0528D-80D4-4078-8FED-708214EB3C27}"/>
          </ac:spMkLst>
        </pc:spChg>
        <pc:spChg chg="del">
          <ac:chgData name="博人 武内" userId="ddc9036651f7ec6c" providerId="LiveId" clId="{24D506B8-97FD-4B68-96F2-E284FA93C354}" dt="2024-04-01T05:58:32.917" v="1236" actId="478"/>
          <ac:spMkLst>
            <pc:docMk/>
            <pc:sldMk cId="2553067286" sldId="508"/>
            <ac:spMk id="4" creationId="{00000000-0000-0000-0000-000000000000}"/>
          </ac:spMkLst>
        </pc:spChg>
        <pc:cxnChg chg="del">
          <ac:chgData name="博人 武内" userId="ddc9036651f7ec6c" providerId="LiveId" clId="{24D506B8-97FD-4B68-96F2-E284FA93C354}" dt="2024-04-01T05:58:35.166" v="1237" actId="478"/>
          <ac:cxnSpMkLst>
            <pc:docMk/>
            <pc:sldMk cId="2553067286" sldId="508"/>
            <ac:cxnSpMk id="3"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image" Target="../media/image3.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4306888" cy="339724"/>
          </a:xfrm>
          <a:prstGeom prst="rect">
            <a:avLst/>
          </a:prstGeom>
          <a:noFill/>
          <a:ln>
            <a:noFill/>
          </a:ln>
        </p:spPr>
        <p:txBody>
          <a:bodyPr lIns="91425" tIns="91425" rIns="91425" bIns="91425" anchor="t" anchorCtr="0"/>
          <a:lstStyle>
            <a:lvl1pPr marL="0" marR="0" lvl="0" indent="0" algn="l" rtl="0">
              <a:spcBef>
                <a:spcPts val="0"/>
              </a:spcBef>
              <a:spcAft>
                <a:spcPts val="0"/>
              </a:spcAft>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5630862" y="0"/>
            <a:ext cx="4306887" cy="339724"/>
          </a:xfrm>
          <a:prstGeom prst="rect">
            <a:avLst/>
          </a:prstGeom>
          <a:noFill/>
          <a:ln>
            <a:noFill/>
          </a:ln>
        </p:spPr>
        <p:txBody>
          <a:bodyPr lIns="91425" tIns="91425" rIns="91425" bIns="91425" anchor="t" anchorCtr="0"/>
          <a:lstStyle>
            <a:lvl1pPr marL="0" marR="0" lvl="0" indent="0" algn="r" rtl="0">
              <a:spcBef>
                <a:spcPts val="0"/>
              </a:spcBef>
              <a:spcAft>
                <a:spcPts val="0"/>
              </a:spcAft>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3268663" y="511175"/>
            <a:ext cx="3402011" cy="2551113"/>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993775" y="3233738"/>
            <a:ext cx="7951787" cy="3062286"/>
          </a:xfrm>
          <a:prstGeom prst="rect">
            <a:avLst/>
          </a:prstGeom>
          <a:noFill/>
          <a:ln>
            <a:noFill/>
          </a:ln>
        </p:spPr>
        <p:txBody>
          <a:bodyPr lIns="91425" tIns="91425" rIns="91425" bIns="91425" anchor="t" anchorCtr="0"/>
          <a:lstStyle>
            <a:lvl1pPr marL="0" marR="0" lvl="0" indent="0" algn="l" rtl="0">
              <a:spcBef>
                <a:spcPts val="360"/>
              </a:spcBef>
              <a:spcAft>
                <a:spcPts val="0"/>
              </a:spcAft>
              <a:buNone/>
              <a:defRPr sz="1200" b="0" i="0" u="none" strike="noStrike" cap="none">
                <a:solidFill>
                  <a:schemeClr val="dk1"/>
                </a:solidFill>
                <a:latin typeface="Calibri"/>
                <a:ea typeface="Calibri"/>
                <a:cs typeface="Calibri"/>
                <a:sym typeface="Calibri"/>
              </a:defRPr>
            </a:lvl1pPr>
            <a:lvl2pPr marL="457200" marR="0" lvl="1" indent="0" algn="l" rtl="0">
              <a:spcBef>
                <a:spcPts val="360"/>
              </a:spcBef>
              <a:spcAft>
                <a:spcPts val="0"/>
              </a:spcAft>
              <a:buNone/>
              <a:defRPr sz="1200" b="0" i="0" u="none" strike="noStrike" cap="none">
                <a:solidFill>
                  <a:schemeClr val="dk1"/>
                </a:solidFill>
                <a:latin typeface="Calibri"/>
                <a:ea typeface="Calibri"/>
                <a:cs typeface="Calibri"/>
                <a:sym typeface="Calibri"/>
              </a:defRPr>
            </a:lvl2pPr>
            <a:lvl3pPr marL="914400" marR="0" lvl="2" indent="0" algn="l" rtl="0">
              <a:spcBef>
                <a:spcPts val="360"/>
              </a:spcBef>
              <a:spcAft>
                <a:spcPts val="0"/>
              </a:spcAft>
              <a:buNone/>
              <a:defRPr sz="1200" b="0" i="0" u="none" strike="noStrike" cap="none">
                <a:solidFill>
                  <a:schemeClr val="dk1"/>
                </a:solidFill>
                <a:latin typeface="Calibri"/>
                <a:ea typeface="Calibri"/>
                <a:cs typeface="Calibri"/>
                <a:sym typeface="Calibri"/>
              </a:defRPr>
            </a:lvl3pPr>
            <a:lvl4pPr marL="1371600" marR="0" lvl="3" indent="0" algn="l" rtl="0">
              <a:spcBef>
                <a:spcPts val="360"/>
              </a:spcBef>
              <a:spcAft>
                <a:spcPts val="0"/>
              </a:spcAft>
              <a:buNone/>
              <a:defRPr sz="1200" b="0" i="0" u="none" strike="noStrike" cap="none">
                <a:solidFill>
                  <a:schemeClr val="dk1"/>
                </a:solidFill>
                <a:latin typeface="Calibri"/>
                <a:ea typeface="Calibri"/>
                <a:cs typeface="Calibri"/>
                <a:sym typeface="Calibri"/>
              </a:defRPr>
            </a:lvl4pPr>
            <a:lvl5pPr marL="1828800" marR="0" lvl="4" indent="0" algn="l" rtl="0">
              <a:spcBef>
                <a:spcPts val="360"/>
              </a:spcBef>
              <a:spcAft>
                <a:spcPts val="0"/>
              </a:spcAft>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6465887"/>
            <a:ext cx="4306888" cy="339724"/>
          </a:xfrm>
          <a:prstGeom prst="rect">
            <a:avLst/>
          </a:prstGeom>
          <a:noFill/>
          <a:ln>
            <a:noFill/>
          </a:ln>
        </p:spPr>
        <p:txBody>
          <a:bodyPr lIns="91425" tIns="91425" rIns="91425" bIns="91425" anchor="b" anchorCtr="0"/>
          <a:lstStyle>
            <a:lvl1pPr marL="0" marR="0" lvl="0" indent="0" algn="l" rtl="0">
              <a:spcBef>
                <a:spcPts val="0"/>
              </a:spcBef>
              <a:spcAft>
                <a:spcPts val="0"/>
              </a:spcAft>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5630862" y="6465887"/>
            <a:ext cx="4306887" cy="339724"/>
          </a:xfrm>
          <a:prstGeom prst="rect">
            <a:avLst/>
          </a:prstGeom>
          <a:noFill/>
          <a:ln>
            <a:noFill/>
          </a:ln>
        </p:spPr>
        <p:txBody>
          <a:bodyPr lIns="91425" tIns="45700" rIns="91425" bIns="45700" anchor="b" anchorCtr="0">
            <a:noAutofit/>
          </a:bodyPr>
          <a:lstStyle/>
          <a:p>
            <a:pPr marL="0" marR="0" lvl="0" indent="0" algn="r" rtl="0">
              <a:spcBef>
                <a:spcPts val="0"/>
              </a:spcBef>
              <a:spcAft>
                <a:spcPts val="0"/>
              </a:spcAft>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dirty="0">
              <a:solidFill>
                <a:schemeClr val="dk1"/>
              </a:solidFill>
              <a:latin typeface="Calibri"/>
              <a:ea typeface="Calibri"/>
              <a:cs typeface="Calibri"/>
              <a:sym typeface="Calibri"/>
            </a:endParaRPr>
          </a:p>
        </p:txBody>
      </p:sp>
      <p:sp>
        <p:nvSpPr>
          <p:cNvPr id="9" name="Shape 9"/>
          <p:cNvSpPr txBox="1"/>
          <p:nvPr/>
        </p:nvSpPr>
        <p:spPr>
          <a:xfrm>
            <a:off x="5940425" y="4518025"/>
            <a:ext cx="7202487" cy="254000"/>
          </a:xfrm>
          <a:prstGeom prst="rect">
            <a:avLst/>
          </a:prstGeom>
          <a:noFill/>
          <a:ln>
            <a:noFill/>
          </a:ln>
        </p:spPr>
        <p:txBody>
          <a:bodyPr lIns="95775" tIns="47875" rIns="95775" bIns="47875" anchor="t" anchorCtr="0">
            <a:noAutofit/>
          </a:bodyPr>
          <a:lstStyle/>
          <a:p>
            <a:pPr marL="0" marR="0" lvl="0" indent="0" algn="r" rtl="0">
              <a:spcBef>
                <a:spcPts val="0"/>
              </a:spcBef>
              <a:spcAft>
                <a:spcPts val="0"/>
              </a:spcAft>
              <a:buSzPct val="25000"/>
              <a:buNone/>
            </a:pPr>
            <a:r>
              <a:rPr lang="en-US" sz="900" b="1" i="1" u="none" strike="noStrike" cap="none" dirty="0">
                <a:solidFill>
                  <a:srgbClr val="7F7F7F"/>
                </a:solidFill>
                <a:latin typeface="Times New Roman"/>
                <a:ea typeface="Times New Roman"/>
                <a:cs typeface="Times New Roman"/>
                <a:sym typeface="Times New Roman"/>
              </a:rPr>
              <a:t>Copyright ２０１３　AEON CREDIT SERVICE CO., LTD. </a:t>
            </a:r>
            <a:r>
              <a:rPr lang="en-US" sz="1000" b="1" i="1" u="none" strike="noStrike" cap="none" dirty="0">
                <a:solidFill>
                  <a:srgbClr val="7F7F7F"/>
                </a:solidFill>
                <a:latin typeface="Times New Roman"/>
                <a:ea typeface="Times New Roman"/>
                <a:cs typeface="Times New Roman"/>
                <a:sym typeface="Times New Roman"/>
              </a:rPr>
              <a:t>All Rights Reserved.</a:t>
            </a:r>
          </a:p>
        </p:txBody>
      </p:sp>
      <p:pic>
        <p:nvPicPr>
          <p:cNvPr id="10" name="Shape 10"/>
          <p:cNvPicPr preferRelativeResize="0"/>
          <p:nvPr/>
        </p:nvPicPr>
        <p:blipFill rotWithShape="1">
          <a:blip r:embed="rId2">
            <a:alphaModFix/>
          </a:blip>
          <a:srcRect/>
          <a:stretch/>
        </p:blipFill>
        <p:spPr>
          <a:xfrm>
            <a:off x="560387" y="4540250"/>
            <a:ext cx="4068761" cy="122237"/>
          </a:xfrm>
          <a:prstGeom prst="rect">
            <a:avLst/>
          </a:prstGeom>
          <a:noFill/>
          <a:ln>
            <a:noFill/>
          </a:ln>
        </p:spPr>
      </p:pic>
      <p:pic>
        <p:nvPicPr>
          <p:cNvPr id="11" name="Shape 11"/>
          <p:cNvPicPr preferRelativeResize="0"/>
          <p:nvPr/>
        </p:nvPicPr>
        <p:blipFill rotWithShape="1">
          <a:blip r:embed="rId3">
            <a:alphaModFix/>
          </a:blip>
          <a:srcRect l="10159" t="6736" r="9624" b="13989"/>
          <a:stretch/>
        </p:blipFill>
        <p:spPr>
          <a:xfrm>
            <a:off x="104775" y="4500562"/>
            <a:ext cx="404813" cy="196850"/>
          </a:xfrm>
          <a:prstGeom prst="rect">
            <a:avLst/>
          </a:prstGeom>
          <a:noFill/>
          <a:ln>
            <a:noFill/>
          </a:ln>
        </p:spPr>
      </p:pic>
    </p:spTree>
    <p:extLst>
      <p:ext uri="{BB962C8B-B14F-4D97-AF65-F5344CB8AC3E}">
        <p14:creationId xmlns:p14="http://schemas.microsoft.com/office/powerpoint/2010/main" val="3066633750"/>
      </p:ext>
    </p:extLst>
  </p:cSld>
  <p:clrMap bg1="lt1" tx1="dk1" bg2="dk2" tx2="lt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Shape 27"/>
        <p:cNvGrpSpPr/>
        <p:nvPr/>
      </p:nvGrpSpPr>
      <p:grpSpPr>
        <a:xfrm>
          <a:off x="0" y="0"/>
          <a:ext cx="0" cy="0"/>
          <a:chOff x="0" y="0"/>
          <a:chExt cx="0" cy="0"/>
        </a:xfrm>
      </p:grpSpPr>
      <p:sp>
        <p:nvSpPr>
          <p:cNvPr id="33" name="Shape 33"/>
          <p:cNvSpPr txBox="1"/>
          <p:nvPr/>
        </p:nvSpPr>
        <p:spPr>
          <a:xfrm>
            <a:off x="4427537" y="6629400"/>
            <a:ext cx="269874" cy="212724"/>
          </a:xfrm>
          <a:prstGeom prst="rect">
            <a:avLst/>
          </a:prstGeom>
          <a:solidFill>
            <a:srgbClr val="0081AF"/>
          </a:solidFill>
          <a:ln>
            <a:noFill/>
          </a:ln>
        </p:spPr>
        <p:txBody>
          <a:bodyPr lIns="0" tIns="0" rIns="0" bIns="0" anchor="ctr" anchorCtr="0">
            <a:noAutofit/>
          </a:bodyPr>
          <a:lstStyle/>
          <a:p>
            <a:pPr marL="0" marR="0" lvl="0" indent="0" algn="ctr" rtl="0">
              <a:spcBef>
                <a:spcPts val="0"/>
              </a:spcBef>
              <a:spcAft>
                <a:spcPts val="0"/>
              </a:spcAft>
              <a:buSzPct val="25000"/>
              <a:buNone/>
            </a:pPr>
            <a:fld id="{00000000-1234-1234-1234-123412341234}" type="slidenum">
              <a:rPr lang="en-US" sz="800" b="0" i="0" u="none" strike="noStrike" cap="none">
                <a:solidFill>
                  <a:schemeClr val="lt1"/>
                </a:solidFill>
                <a:latin typeface="Arial"/>
                <a:ea typeface="Arial"/>
                <a:cs typeface="Arial"/>
                <a:sym typeface="Arial"/>
              </a:rPr>
              <a:t>‹#›</a:t>
            </a:fld>
            <a:endParaRPr lang="en-US" sz="8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Shape 27"/>
        <p:cNvGrpSpPr/>
        <p:nvPr/>
      </p:nvGrpSpPr>
      <p:grpSpPr>
        <a:xfrm>
          <a:off x="0" y="0"/>
          <a:ext cx="0" cy="0"/>
          <a:chOff x="0" y="0"/>
          <a:chExt cx="0" cy="0"/>
        </a:xfrm>
      </p:grpSpPr>
      <p:sp>
        <p:nvSpPr>
          <p:cNvPr id="33" name="Shape 33"/>
          <p:cNvSpPr txBox="1"/>
          <p:nvPr/>
        </p:nvSpPr>
        <p:spPr>
          <a:xfrm>
            <a:off x="4427537" y="6629400"/>
            <a:ext cx="269874" cy="212724"/>
          </a:xfrm>
          <a:prstGeom prst="rect">
            <a:avLst/>
          </a:prstGeom>
          <a:solidFill>
            <a:srgbClr val="0081AF"/>
          </a:solidFill>
          <a:ln>
            <a:noFill/>
          </a:ln>
        </p:spPr>
        <p:txBody>
          <a:bodyPr lIns="0" tIns="0" rIns="0" bIns="0" anchor="ctr" anchorCtr="0">
            <a:noAutofit/>
          </a:bodyPr>
          <a:lstStyle/>
          <a:p>
            <a:pPr marL="0" marR="0" lvl="0" indent="0" algn="ctr" rtl="0">
              <a:spcBef>
                <a:spcPts val="0"/>
              </a:spcBef>
              <a:spcAft>
                <a:spcPts val="0"/>
              </a:spcAft>
              <a:buSzPct val="25000"/>
              <a:buNone/>
            </a:pPr>
            <a:fld id="{00000000-1234-1234-1234-123412341234}" type="slidenum">
              <a:rPr lang="en-US" sz="800" b="0" i="0" u="none" strike="noStrike" cap="none">
                <a:solidFill>
                  <a:schemeClr val="lt1"/>
                </a:solidFill>
                <a:latin typeface="Arial"/>
                <a:ea typeface="Arial"/>
                <a:cs typeface="Arial"/>
                <a:sym typeface="Arial"/>
              </a:rPr>
              <a:t>‹#›</a:t>
            </a:fld>
            <a:endParaRPr lang="en-US" sz="8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9955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Shape 27"/>
        <p:cNvGrpSpPr/>
        <p:nvPr/>
      </p:nvGrpSpPr>
      <p:grpSpPr>
        <a:xfrm>
          <a:off x="0" y="0"/>
          <a:ext cx="0" cy="0"/>
          <a:chOff x="0" y="0"/>
          <a:chExt cx="0" cy="0"/>
        </a:xfrm>
      </p:grpSpPr>
    </p:spTree>
    <p:extLst>
      <p:ext uri="{BB962C8B-B14F-4D97-AF65-F5344CB8AC3E}">
        <p14:creationId xmlns:p14="http://schemas.microsoft.com/office/powerpoint/2010/main" val="5730709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
        <p:cNvGrpSpPr/>
        <p:nvPr/>
      </p:nvGrpSpPr>
      <p:grpSpPr>
        <a:xfrm>
          <a:off x="0" y="0"/>
          <a:ext cx="0" cy="0"/>
          <a:chOff x="0" y="0"/>
          <a:chExt cx="0" cy="0"/>
        </a:xfrm>
      </p:grpSpPr>
      <p:grpSp>
        <p:nvGrpSpPr>
          <p:cNvPr id="18" name="Shape 18"/>
          <p:cNvGrpSpPr/>
          <p:nvPr userDrawn="1"/>
        </p:nvGrpSpPr>
        <p:grpSpPr>
          <a:xfrm>
            <a:off x="0" y="6381750"/>
            <a:ext cx="9213849" cy="431799"/>
            <a:chOff x="0" y="6381328"/>
            <a:chExt cx="9214592" cy="432162"/>
          </a:xfrm>
        </p:grpSpPr>
        <p:sp>
          <p:nvSpPr>
            <p:cNvPr id="19" name="Shape 19"/>
            <p:cNvSpPr txBox="1"/>
            <p:nvPr/>
          </p:nvSpPr>
          <p:spPr>
            <a:xfrm>
              <a:off x="6479344" y="6613328"/>
              <a:ext cx="2735248" cy="200161"/>
            </a:xfrm>
            <a:prstGeom prst="rect">
              <a:avLst/>
            </a:prstGeom>
            <a:noFill/>
            <a:ln>
              <a:noFill/>
            </a:ln>
          </p:spPr>
          <p:txBody>
            <a:bodyPr lIns="91425" tIns="45700" rIns="91425" bIns="45700" anchor="t" anchorCtr="0">
              <a:noAutofit/>
            </a:bodyPr>
            <a:lstStyle/>
            <a:p>
              <a:pPr marL="0" marR="0" lvl="0" indent="0" algn="r" rtl="0">
                <a:spcBef>
                  <a:spcPts val="0"/>
                </a:spcBef>
                <a:spcAft>
                  <a:spcPts val="0"/>
                </a:spcAft>
                <a:buSzPct val="25000"/>
                <a:buNone/>
              </a:pPr>
              <a:r>
                <a:rPr lang="en-US" sz="700" b="0" i="0" u="none" strike="noStrike" cap="none" dirty="0">
                  <a:solidFill>
                    <a:srgbClr val="000000"/>
                  </a:solidFill>
                  <a:latin typeface="Arial"/>
                  <a:ea typeface="Arial"/>
                  <a:cs typeface="Arial"/>
                  <a:sym typeface="Arial"/>
                </a:rPr>
                <a:t>© 2026 FeliCa Pocket Marketing Inc. All Rights Reserved.</a:t>
              </a:r>
            </a:p>
          </p:txBody>
        </p:sp>
        <p:cxnSp>
          <p:nvCxnSpPr>
            <p:cNvPr id="20" name="Shape 20"/>
            <p:cNvCxnSpPr/>
            <p:nvPr/>
          </p:nvCxnSpPr>
          <p:spPr>
            <a:xfrm>
              <a:off x="0" y="6381328"/>
              <a:ext cx="1619379" cy="0"/>
            </a:xfrm>
            <a:prstGeom prst="straightConnector1">
              <a:avLst/>
            </a:prstGeom>
            <a:noFill/>
            <a:ln w="15875" cap="flat" cmpd="sng">
              <a:solidFill>
                <a:srgbClr val="0081AF"/>
              </a:solidFill>
              <a:prstDash val="solid"/>
              <a:round/>
              <a:headEnd type="none" w="med" len="med"/>
              <a:tailEnd type="none" w="med" len="med"/>
            </a:ln>
          </p:spPr>
        </p:cxnSp>
        <p:cxnSp>
          <p:nvCxnSpPr>
            <p:cNvPr id="21" name="Shape 21"/>
            <p:cNvCxnSpPr/>
            <p:nvPr/>
          </p:nvCxnSpPr>
          <p:spPr>
            <a:xfrm>
              <a:off x="1908330" y="6597410"/>
              <a:ext cx="7236408" cy="0"/>
            </a:xfrm>
            <a:prstGeom prst="straightConnector1">
              <a:avLst/>
            </a:prstGeom>
            <a:noFill/>
            <a:ln w="15875" cap="flat" cmpd="sng">
              <a:solidFill>
                <a:srgbClr val="0081AF"/>
              </a:solidFill>
              <a:prstDash val="solid"/>
              <a:round/>
              <a:headEnd type="none" w="med" len="med"/>
              <a:tailEnd type="none" w="med" len="med"/>
            </a:ln>
          </p:spPr>
        </p:cxnSp>
        <p:cxnSp>
          <p:nvCxnSpPr>
            <p:cNvPr id="22" name="Shape 22"/>
            <p:cNvCxnSpPr/>
            <p:nvPr/>
          </p:nvCxnSpPr>
          <p:spPr>
            <a:xfrm>
              <a:off x="1619380" y="6381328"/>
              <a:ext cx="288948" cy="216080"/>
            </a:xfrm>
            <a:prstGeom prst="straightConnector1">
              <a:avLst/>
            </a:prstGeom>
            <a:noFill/>
            <a:ln w="15875" cap="flat" cmpd="sng">
              <a:solidFill>
                <a:srgbClr val="0081AF"/>
              </a:solidFill>
              <a:prstDash val="solid"/>
              <a:round/>
              <a:headEnd type="none" w="med" len="med"/>
              <a:tailEnd type="none" w="med" len="med"/>
            </a:ln>
          </p:spPr>
        </p:cxnSp>
        <p:pic>
          <p:nvPicPr>
            <p:cNvPr id="23" name="Shape 23" descr="FPMロゴ2 (Unicode エンコードの競合).bmp"/>
            <p:cNvPicPr preferRelativeResize="0"/>
            <p:nvPr/>
          </p:nvPicPr>
          <p:blipFill rotWithShape="1">
            <a:blip r:embed="rId3">
              <a:alphaModFix/>
            </a:blip>
            <a:srcRect/>
            <a:stretch/>
          </p:blipFill>
          <p:spPr>
            <a:xfrm>
              <a:off x="179511" y="6417378"/>
              <a:ext cx="1360866" cy="395997"/>
            </a:xfrm>
            <a:prstGeom prst="rect">
              <a:avLst/>
            </a:prstGeom>
            <a:noFill/>
            <a:ln>
              <a:noFill/>
            </a:ln>
          </p:spPr>
        </p:pic>
      </p:grpSp>
      <p:sp>
        <p:nvSpPr>
          <p:cNvPr id="24" name="Shape 24"/>
          <p:cNvSpPr txBox="1"/>
          <p:nvPr userDrawn="1"/>
        </p:nvSpPr>
        <p:spPr>
          <a:xfrm>
            <a:off x="4427537" y="6629400"/>
            <a:ext cx="269874" cy="212724"/>
          </a:xfrm>
          <a:prstGeom prst="rect">
            <a:avLst/>
          </a:prstGeom>
          <a:solidFill>
            <a:srgbClr val="0081AF"/>
          </a:solidFill>
          <a:ln>
            <a:noFill/>
          </a:ln>
        </p:spPr>
        <p:txBody>
          <a:bodyPr lIns="0" tIns="0" rIns="0" bIns="0" anchor="ctr" anchorCtr="0">
            <a:noAutofit/>
          </a:bodyPr>
          <a:lstStyle/>
          <a:p>
            <a:pPr marL="0" marR="0" lvl="0" indent="0" algn="ctr" rtl="0">
              <a:spcBef>
                <a:spcPts val="0"/>
              </a:spcBef>
              <a:spcAft>
                <a:spcPts val="0"/>
              </a:spcAft>
              <a:buSzPct val="25000"/>
              <a:buNone/>
            </a:pPr>
            <a:r>
              <a:rPr lang="en-US" sz="800" b="1" i="0" u="none" strike="noStrike" cap="none" dirty="0">
                <a:solidFill>
                  <a:srgbClr val="FFFFFF"/>
                </a:solidFill>
                <a:latin typeface="Arial"/>
                <a:ea typeface="Arial"/>
                <a:cs typeface="Arial"/>
                <a:sym typeface="Arial"/>
              </a:rPr>
              <a:t>&lt;#&gt;</a:t>
            </a:r>
          </a:p>
        </p:txBody>
      </p:sp>
      <p:cxnSp>
        <p:nvCxnSpPr>
          <p:cNvPr id="25" name="Shape 25"/>
          <p:cNvCxnSpPr/>
          <p:nvPr userDrawn="1"/>
        </p:nvCxnSpPr>
        <p:spPr>
          <a:xfrm>
            <a:off x="0" y="548680"/>
            <a:ext cx="9144000" cy="0"/>
          </a:xfrm>
          <a:prstGeom prst="straightConnector1">
            <a:avLst/>
          </a:prstGeom>
          <a:noFill/>
          <a:ln w="31750" cap="flat" cmpd="sng">
            <a:gradFill flip="none" rotWithShape="1">
              <a:gsLst>
                <a:gs pos="0">
                  <a:srgbClr val="0070C0"/>
                </a:gs>
                <a:gs pos="95000">
                  <a:schemeClr val="bg2">
                    <a:lumMod val="20000"/>
                    <a:lumOff val="80000"/>
                  </a:schemeClr>
                </a:gs>
              </a:gsLst>
              <a:lin ang="0" scaled="1"/>
              <a:tileRect/>
            </a:gradFill>
            <a:prstDash val="solid"/>
            <a:round/>
            <a:headEnd type="none" w="med" len="med"/>
            <a:tailEnd type="none" w="med" len="med"/>
          </a:ln>
        </p:spPr>
      </p:cxnSp>
      <p:sp>
        <p:nvSpPr>
          <p:cNvPr id="27" name="タイトル 1"/>
          <p:cNvSpPr txBox="1">
            <a:spLocks/>
          </p:cNvSpPr>
          <p:nvPr userDrawn="1"/>
        </p:nvSpPr>
        <p:spPr bwMode="auto">
          <a:xfrm>
            <a:off x="8027988" y="115888"/>
            <a:ext cx="1008062" cy="288925"/>
          </a:xfrm>
          <a:prstGeom prst="rect">
            <a:avLst/>
          </a:prstGeom>
          <a:noFill/>
          <a:ln w="38100">
            <a:solidFill>
              <a:srgbClr val="FF0000"/>
            </a:solidFill>
          </a:ln>
        </p:spPr>
        <p:txBody>
          <a:bodyPr anchor="ctr"/>
          <a:lstStyle>
            <a:lvl1pPr eaLnBrk="0" hangingPunct="0">
              <a:spcBef>
                <a:spcPct val="20000"/>
              </a:spcBef>
              <a:buClr>
                <a:srgbClr val="99CCFF"/>
              </a:buClr>
              <a:buFont typeface="Wingdings" pitchFamily="2" charset="2"/>
              <a:buChar char="n"/>
              <a:defRPr kumimoji="1" sz="2800">
                <a:solidFill>
                  <a:schemeClr val="tx1"/>
                </a:solidFill>
                <a:latin typeface="HGP創英角ｺﾞｼｯｸUB" pitchFamily="50" charset="-128"/>
                <a:ea typeface="ＭＳ Ｐゴシック" pitchFamily="50" charset="-128"/>
              </a:defRPr>
            </a:lvl1pPr>
            <a:lvl2pPr marL="742950" indent="-285750" eaLnBrk="0" hangingPunct="0">
              <a:spcBef>
                <a:spcPct val="20000"/>
              </a:spcBef>
              <a:buClr>
                <a:srgbClr val="99CCFF"/>
              </a:buClr>
              <a:buFont typeface="Wingdings" pitchFamily="2" charset="2"/>
              <a:buChar char="p"/>
              <a:defRPr kumimoji="1" sz="2400">
                <a:solidFill>
                  <a:schemeClr val="tx1"/>
                </a:solidFill>
                <a:latin typeface="HGP創英角ｺﾞｼｯｸUB" pitchFamily="50" charset="-128"/>
                <a:ea typeface="ＭＳ Ｐゴシック" pitchFamily="50" charset="-128"/>
              </a:defRPr>
            </a:lvl2pPr>
            <a:lvl3pPr marL="1143000" indent="-228600" eaLnBrk="0" hangingPunct="0">
              <a:spcBef>
                <a:spcPct val="20000"/>
              </a:spcBef>
              <a:buClr>
                <a:srgbClr val="99CCFF"/>
              </a:buClr>
              <a:buFont typeface="Wingdings" pitchFamily="2" charset="2"/>
              <a:buChar char="n"/>
              <a:defRPr kumimoji="1" sz="2000">
                <a:solidFill>
                  <a:schemeClr val="tx1"/>
                </a:solidFill>
                <a:latin typeface="HGP創英角ｺﾞｼｯｸUB" pitchFamily="50" charset="-128"/>
                <a:ea typeface="ＭＳ Ｐゴシック" pitchFamily="50" charset="-128"/>
              </a:defRPr>
            </a:lvl3pPr>
            <a:lvl4pPr marL="1600200" indent="-228600" eaLnBrk="0" hangingPunct="0">
              <a:spcBef>
                <a:spcPct val="20000"/>
              </a:spcBef>
              <a:buClr>
                <a:srgbClr val="99CCFF"/>
              </a:buClr>
              <a:buFont typeface="Wingdings" pitchFamily="2" charset="2"/>
              <a:buChar char="p"/>
              <a:defRPr kumimoji="1">
                <a:solidFill>
                  <a:schemeClr val="tx1"/>
                </a:solidFill>
                <a:latin typeface="HGP創英角ｺﾞｼｯｸUB" pitchFamily="50" charset="-128"/>
                <a:ea typeface="ＭＳ Ｐゴシック" pitchFamily="50" charset="-128"/>
              </a:defRPr>
            </a:lvl4pPr>
            <a:lvl5pPr marL="2057400" indent="-228600" eaLnBrk="0" hangingPunct="0">
              <a:spcBef>
                <a:spcPct val="20000"/>
              </a:spcBef>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5pPr>
            <a:lvl6pPr marL="25146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6pPr>
            <a:lvl7pPr marL="29718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7pPr>
            <a:lvl8pPr marL="34290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8pPr>
            <a:lvl9pPr marL="38862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9pPr>
          </a:lstStyle>
          <a:p>
            <a:pPr algn="ctr" eaLnBrk="1" hangingPunct="1">
              <a:spcBef>
                <a:spcPct val="0"/>
              </a:spcBef>
              <a:buClrTx/>
              <a:buFontTx/>
              <a:buNone/>
              <a:defRPr/>
            </a:pPr>
            <a:r>
              <a:rPr lang="en-US" altLang="ja-JP" sz="1050" dirty="0">
                <a:solidFill>
                  <a:srgbClr val="FF3300"/>
                </a:solidFill>
                <a:latin typeface="Meiryo UI" pitchFamily="50" charset="-128"/>
                <a:ea typeface="Meiryo UI" pitchFamily="50" charset="-128"/>
                <a:cs typeface="Meiryo UI" pitchFamily="50" charset="-128"/>
              </a:rPr>
              <a:t>Confidential</a:t>
            </a: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12"/>
        <p:cNvGrpSpPr/>
        <p:nvPr/>
      </p:nvGrpSpPr>
      <p:grpSpPr>
        <a:xfrm>
          <a:off x="0" y="0"/>
          <a:ext cx="0" cy="0"/>
          <a:chOff x="0" y="0"/>
          <a:chExt cx="0" cy="0"/>
        </a:xfrm>
      </p:grpSpPr>
      <p:grpSp>
        <p:nvGrpSpPr>
          <p:cNvPr id="18" name="Shape 18"/>
          <p:cNvGrpSpPr/>
          <p:nvPr userDrawn="1"/>
        </p:nvGrpSpPr>
        <p:grpSpPr>
          <a:xfrm>
            <a:off x="0" y="6381750"/>
            <a:ext cx="9213849" cy="431799"/>
            <a:chOff x="0" y="6381328"/>
            <a:chExt cx="9214592" cy="432162"/>
          </a:xfrm>
        </p:grpSpPr>
        <p:sp>
          <p:nvSpPr>
            <p:cNvPr id="19" name="Shape 19"/>
            <p:cNvSpPr txBox="1"/>
            <p:nvPr/>
          </p:nvSpPr>
          <p:spPr>
            <a:xfrm>
              <a:off x="6479344" y="6613328"/>
              <a:ext cx="2735248" cy="200161"/>
            </a:xfrm>
            <a:prstGeom prst="rect">
              <a:avLst/>
            </a:prstGeom>
            <a:noFill/>
            <a:ln>
              <a:noFill/>
            </a:ln>
          </p:spPr>
          <p:txBody>
            <a:bodyPr lIns="91425" tIns="45700" rIns="91425" bIns="45700" anchor="t" anchorCtr="0">
              <a:noAutofit/>
            </a:bodyPr>
            <a:lstStyle/>
            <a:p>
              <a:pPr marL="0" marR="0" lvl="0" indent="0" algn="r" rtl="0">
                <a:spcBef>
                  <a:spcPts val="0"/>
                </a:spcBef>
                <a:spcAft>
                  <a:spcPts val="0"/>
                </a:spcAft>
                <a:buSzPct val="25000"/>
                <a:buNone/>
              </a:pPr>
              <a:r>
                <a:rPr lang="en-US" sz="700" b="0" i="0" u="none" strike="noStrike" cap="none" dirty="0">
                  <a:solidFill>
                    <a:srgbClr val="000000"/>
                  </a:solidFill>
                  <a:latin typeface="Arial"/>
                  <a:ea typeface="Arial"/>
                  <a:cs typeface="Arial"/>
                  <a:sym typeface="Arial"/>
                </a:rPr>
                <a:t>© 2026 FeliCa Pocket Marketing Inc. All Rights Reserved.</a:t>
              </a:r>
            </a:p>
          </p:txBody>
        </p:sp>
        <p:cxnSp>
          <p:nvCxnSpPr>
            <p:cNvPr id="20" name="Shape 20"/>
            <p:cNvCxnSpPr/>
            <p:nvPr/>
          </p:nvCxnSpPr>
          <p:spPr>
            <a:xfrm>
              <a:off x="0" y="6381328"/>
              <a:ext cx="1619379" cy="0"/>
            </a:xfrm>
            <a:prstGeom prst="straightConnector1">
              <a:avLst/>
            </a:prstGeom>
            <a:noFill/>
            <a:ln w="15875" cap="flat" cmpd="sng">
              <a:solidFill>
                <a:srgbClr val="0081AF"/>
              </a:solidFill>
              <a:prstDash val="solid"/>
              <a:round/>
              <a:headEnd type="none" w="med" len="med"/>
              <a:tailEnd type="none" w="med" len="med"/>
            </a:ln>
          </p:spPr>
        </p:cxnSp>
        <p:cxnSp>
          <p:nvCxnSpPr>
            <p:cNvPr id="21" name="Shape 21"/>
            <p:cNvCxnSpPr/>
            <p:nvPr/>
          </p:nvCxnSpPr>
          <p:spPr>
            <a:xfrm>
              <a:off x="1908330" y="6597410"/>
              <a:ext cx="7236408" cy="0"/>
            </a:xfrm>
            <a:prstGeom prst="straightConnector1">
              <a:avLst/>
            </a:prstGeom>
            <a:noFill/>
            <a:ln w="15875" cap="flat" cmpd="sng">
              <a:solidFill>
                <a:srgbClr val="0081AF"/>
              </a:solidFill>
              <a:prstDash val="solid"/>
              <a:round/>
              <a:headEnd type="none" w="med" len="med"/>
              <a:tailEnd type="none" w="med" len="med"/>
            </a:ln>
          </p:spPr>
        </p:cxnSp>
        <p:cxnSp>
          <p:nvCxnSpPr>
            <p:cNvPr id="22" name="Shape 22"/>
            <p:cNvCxnSpPr/>
            <p:nvPr/>
          </p:nvCxnSpPr>
          <p:spPr>
            <a:xfrm>
              <a:off x="1619380" y="6381328"/>
              <a:ext cx="288948" cy="216080"/>
            </a:xfrm>
            <a:prstGeom prst="straightConnector1">
              <a:avLst/>
            </a:prstGeom>
            <a:noFill/>
            <a:ln w="15875" cap="flat" cmpd="sng">
              <a:solidFill>
                <a:srgbClr val="0081AF"/>
              </a:solidFill>
              <a:prstDash val="solid"/>
              <a:round/>
              <a:headEnd type="none" w="med" len="med"/>
              <a:tailEnd type="none" w="med" len="med"/>
            </a:ln>
          </p:spPr>
        </p:cxnSp>
        <p:pic>
          <p:nvPicPr>
            <p:cNvPr id="23" name="Shape 23" descr="FPMロゴ2 (Unicode エンコードの競合).bmp"/>
            <p:cNvPicPr preferRelativeResize="0"/>
            <p:nvPr/>
          </p:nvPicPr>
          <p:blipFill rotWithShape="1">
            <a:blip r:embed="rId3">
              <a:alphaModFix/>
            </a:blip>
            <a:srcRect/>
            <a:stretch/>
          </p:blipFill>
          <p:spPr>
            <a:xfrm>
              <a:off x="179511" y="6417378"/>
              <a:ext cx="1360866" cy="395997"/>
            </a:xfrm>
            <a:prstGeom prst="rect">
              <a:avLst/>
            </a:prstGeom>
            <a:noFill/>
            <a:ln>
              <a:noFill/>
            </a:ln>
          </p:spPr>
        </p:pic>
      </p:grpSp>
      <p:sp>
        <p:nvSpPr>
          <p:cNvPr id="24" name="Shape 24"/>
          <p:cNvSpPr txBox="1"/>
          <p:nvPr userDrawn="1"/>
        </p:nvSpPr>
        <p:spPr>
          <a:xfrm>
            <a:off x="4427537" y="6629400"/>
            <a:ext cx="269874" cy="212724"/>
          </a:xfrm>
          <a:prstGeom prst="rect">
            <a:avLst/>
          </a:prstGeom>
          <a:solidFill>
            <a:srgbClr val="0081AF"/>
          </a:solidFill>
          <a:ln>
            <a:noFill/>
          </a:ln>
        </p:spPr>
        <p:txBody>
          <a:bodyPr lIns="0" tIns="0" rIns="0" bIns="0" anchor="ctr" anchorCtr="0">
            <a:noAutofit/>
          </a:bodyPr>
          <a:lstStyle/>
          <a:p>
            <a:pPr marL="0" marR="0" lvl="0" indent="0" algn="ctr" rtl="0">
              <a:spcBef>
                <a:spcPts val="0"/>
              </a:spcBef>
              <a:spcAft>
                <a:spcPts val="0"/>
              </a:spcAft>
              <a:buSzPct val="25000"/>
              <a:buNone/>
            </a:pPr>
            <a:r>
              <a:rPr lang="en-US" sz="800" b="1" i="0" u="none" strike="noStrike" cap="none" dirty="0">
                <a:solidFill>
                  <a:srgbClr val="FFFFFF"/>
                </a:solidFill>
                <a:latin typeface="Arial"/>
                <a:ea typeface="Arial"/>
                <a:cs typeface="Arial"/>
                <a:sym typeface="Arial"/>
              </a:rPr>
              <a:t>&lt;#&gt;</a:t>
            </a:r>
          </a:p>
        </p:txBody>
      </p:sp>
      <p:sp>
        <p:nvSpPr>
          <p:cNvPr id="27" name="タイトル 1"/>
          <p:cNvSpPr txBox="1">
            <a:spLocks/>
          </p:cNvSpPr>
          <p:nvPr userDrawn="1"/>
        </p:nvSpPr>
        <p:spPr bwMode="auto">
          <a:xfrm>
            <a:off x="8027988" y="115888"/>
            <a:ext cx="1008062" cy="288925"/>
          </a:xfrm>
          <a:prstGeom prst="rect">
            <a:avLst/>
          </a:prstGeom>
          <a:noFill/>
          <a:ln w="38100">
            <a:solidFill>
              <a:srgbClr val="FF0000"/>
            </a:solidFill>
          </a:ln>
        </p:spPr>
        <p:txBody>
          <a:bodyPr anchor="ctr"/>
          <a:lstStyle>
            <a:lvl1pPr eaLnBrk="0" hangingPunct="0">
              <a:spcBef>
                <a:spcPct val="20000"/>
              </a:spcBef>
              <a:buClr>
                <a:srgbClr val="99CCFF"/>
              </a:buClr>
              <a:buFont typeface="Wingdings" pitchFamily="2" charset="2"/>
              <a:buChar char="n"/>
              <a:defRPr kumimoji="1" sz="2800">
                <a:solidFill>
                  <a:schemeClr val="tx1"/>
                </a:solidFill>
                <a:latin typeface="HGP創英角ｺﾞｼｯｸUB" pitchFamily="50" charset="-128"/>
                <a:ea typeface="ＭＳ Ｐゴシック" pitchFamily="50" charset="-128"/>
              </a:defRPr>
            </a:lvl1pPr>
            <a:lvl2pPr marL="742950" indent="-285750" eaLnBrk="0" hangingPunct="0">
              <a:spcBef>
                <a:spcPct val="20000"/>
              </a:spcBef>
              <a:buClr>
                <a:srgbClr val="99CCFF"/>
              </a:buClr>
              <a:buFont typeface="Wingdings" pitchFamily="2" charset="2"/>
              <a:buChar char="p"/>
              <a:defRPr kumimoji="1" sz="2400">
                <a:solidFill>
                  <a:schemeClr val="tx1"/>
                </a:solidFill>
                <a:latin typeface="HGP創英角ｺﾞｼｯｸUB" pitchFamily="50" charset="-128"/>
                <a:ea typeface="ＭＳ Ｐゴシック" pitchFamily="50" charset="-128"/>
              </a:defRPr>
            </a:lvl2pPr>
            <a:lvl3pPr marL="1143000" indent="-228600" eaLnBrk="0" hangingPunct="0">
              <a:spcBef>
                <a:spcPct val="20000"/>
              </a:spcBef>
              <a:buClr>
                <a:srgbClr val="99CCFF"/>
              </a:buClr>
              <a:buFont typeface="Wingdings" pitchFamily="2" charset="2"/>
              <a:buChar char="n"/>
              <a:defRPr kumimoji="1" sz="2000">
                <a:solidFill>
                  <a:schemeClr val="tx1"/>
                </a:solidFill>
                <a:latin typeface="HGP創英角ｺﾞｼｯｸUB" pitchFamily="50" charset="-128"/>
                <a:ea typeface="ＭＳ Ｐゴシック" pitchFamily="50" charset="-128"/>
              </a:defRPr>
            </a:lvl3pPr>
            <a:lvl4pPr marL="1600200" indent="-228600" eaLnBrk="0" hangingPunct="0">
              <a:spcBef>
                <a:spcPct val="20000"/>
              </a:spcBef>
              <a:buClr>
                <a:srgbClr val="99CCFF"/>
              </a:buClr>
              <a:buFont typeface="Wingdings" pitchFamily="2" charset="2"/>
              <a:buChar char="p"/>
              <a:defRPr kumimoji="1">
                <a:solidFill>
                  <a:schemeClr val="tx1"/>
                </a:solidFill>
                <a:latin typeface="HGP創英角ｺﾞｼｯｸUB" pitchFamily="50" charset="-128"/>
                <a:ea typeface="ＭＳ Ｐゴシック" pitchFamily="50" charset="-128"/>
              </a:defRPr>
            </a:lvl4pPr>
            <a:lvl5pPr marL="2057400" indent="-228600" eaLnBrk="0" hangingPunct="0">
              <a:spcBef>
                <a:spcPct val="20000"/>
              </a:spcBef>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5pPr>
            <a:lvl6pPr marL="25146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6pPr>
            <a:lvl7pPr marL="29718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7pPr>
            <a:lvl8pPr marL="34290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8pPr>
            <a:lvl9pPr marL="38862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9pPr>
          </a:lstStyle>
          <a:p>
            <a:pPr algn="ctr" eaLnBrk="1" hangingPunct="1">
              <a:spcBef>
                <a:spcPct val="0"/>
              </a:spcBef>
              <a:buClrTx/>
              <a:buFontTx/>
              <a:buNone/>
              <a:defRPr/>
            </a:pPr>
            <a:r>
              <a:rPr lang="en-US" altLang="ja-JP" sz="1050" dirty="0">
                <a:solidFill>
                  <a:srgbClr val="FF3300"/>
                </a:solidFill>
                <a:latin typeface="Meiryo UI" pitchFamily="50" charset="-128"/>
                <a:ea typeface="Meiryo UI" pitchFamily="50" charset="-128"/>
                <a:cs typeface="Meiryo UI" pitchFamily="50" charset="-128"/>
              </a:rPr>
              <a:t>Confidential</a:t>
            </a:r>
          </a:p>
        </p:txBody>
      </p:sp>
    </p:spTree>
    <p:extLst>
      <p:ext uri="{BB962C8B-B14F-4D97-AF65-F5344CB8AC3E}">
        <p14:creationId xmlns:p14="http://schemas.microsoft.com/office/powerpoint/2010/main" val="1881331867"/>
      </p:ext>
    </p:extLst>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12"/>
        <p:cNvGrpSpPr/>
        <p:nvPr/>
      </p:nvGrpSpPr>
      <p:grpSpPr>
        <a:xfrm>
          <a:off x="0" y="0"/>
          <a:ext cx="0" cy="0"/>
          <a:chOff x="0" y="0"/>
          <a:chExt cx="0" cy="0"/>
        </a:xfrm>
      </p:grpSpPr>
      <p:sp>
        <p:nvSpPr>
          <p:cNvPr id="19" name="Shape 19"/>
          <p:cNvSpPr txBox="1"/>
          <p:nvPr/>
        </p:nvSpPr>
        <p:spPr>
          <a:xfrm>
            <a:off x="6478822" y="6613555"/>
            <a:ext cx="2735027" cy="199993"/>
          </a:xfrm>
          <a:prstGeom prst="rect">
            <a:avLst/>
          </a:prstGeom>
          <a:noFill/>
          <a:ln>
            <a:noFill/>
          </a:ln>
        </p:spPr>
        <p:txBody>
          <a:bodyPr lIns="91425" tIns="45700" rIns="91425" bIns="45700" anchor="t" anchorCtr="0">
            <a:noAutofit/>
          </a:bodyPr>
          <a:lstStyle/>
          <a:p>
            <a:pPr marL="0" marR="0" lvl="0" indent="0" algn="r" rtl="0">
              <a:spcBef>
                <a:spcPts val="0"/>
              </a:spcBef>
              <a:spcAft>
                <a:spcPts val="0"/>
              </a:spcAft>
              <a:buSzPct val="25000"/>
              <a:buNone/>
            </a:pPr>
            <a:r>
              <a:rPr lang="en-US" sz="700" b="0" i="0" u="none" strike="noStrike" cap="none" dirty="0">
                <a:solidFill>
                  <a:srgbClr val="000000"/>
                </a:solidFill>
                <a:latin typeface="Arial"/>
                <a:ea typeface="Arial"/>
                <a:cs typeface="Arial"/>
                <a:sym typeface="Arial"/>
              </a:rPr>
              <a:t>© 2026 FeliCa Pocket Marketing Inc. All Rights Reserved.</a:t>
            </a:r>
          </a:p>
        </p:txBody>
      </p:sp>
      <p:pic>
        <p:nvPicPr>
          <p:cNvPr id="23" name="Shape 23" descr="FPMロゴ2 (Unicode エンコードの競合).bmp"/>
          <p:cNvPicPr preferRelativeResize="0"/>
          <p:nvPr/>
        </p:nvPicPr>
        <p:blipFill rotWithShape="1">
          <a:blip r:embed="rId3">
            <a:alphaModFix/>
          </a:blip>
          <a:srcRect/>
          <a:stretch/>
        </p:blipFill>
        <p:spPr>
          <a:xfrm>
            <a:off x="179497" y="6417770"/>
            <a:ext cx="1360756" cy="395664"/>
          </a:xfrm>
          <a:prstGeom prst="rect">
            <a:avLst/>
          </a:prstGeom>
          <a:noFill/>
          <a:ln>
            <a:noFill/>
          </a:ln>
        </p:spPr>
      </p:pic>
      <p:sp>
        <p:nvSpPr>
          <p:cNvPr id="27" name="タイトル 1"/>
          <p:cNvSpPr txBox="1">
            <a:spLocks/>
          </p:cNvSpPr>
          <p:nvPr userDrawn="1"/>
        </p:nvSpPr>
        <p:spPr bwMode="auto">
          <a:xfrm>
            <a:off x="8027988" y="115888"/>
            <a:ext cx="1008062" cy="288925"/>
          </a:xfrm>
          <a:prstGeom prst="rect">
            <a:avLst/>
          </a:prstGeom>
          <a:noFill/>
          <a:ln w="38100">
            <a:solidFill>
              <a:srgbClr val="FF0000"/>
            </a:solidFill>
          </a:ln>
        </p:spPr>
        <p:txBody>
          <a:bodyPr anchor="ctr"/>
          <a:lstStyle>
            <a:lvl1pPr eaLnBrk="0" hangingPunct="0">
              <a:spcBef>
                <a:spcPct val="20000"/>
              </a:spcBef>
              <a:buClr>
                <a:srgbClr val="99CCFF"/>
              </a:buClr>
              <a:buFont typeface="Wingdings" pitchFamily="2" charset="2"/>
              <a:buChar char="n"/>
              <a:defRPr kumimoji="1" sz="2800">
                <a:solidFill>
                  <a:schemeClr val="tx1"/>
                </a:solidFill>
                <a:latin typeface="HGP創英角ｺﾞｼｯｸUB" pitchFamily="50" charset="-128"/>
                <a:ea typeface="ＭＳ Ｐゴシック" pitchFamily="50" charset="-128"/>
              </a:defRPr>
            </a:lvl1pPr>
            <a:lvl2pPr marL="742950" indent="-285750" eaLnBrk="0" hangingPunct="0">
              <a:spcBef>
                <a:spcPct val="20000"/>
              </a:spcBef>
              <a:buClr>
                <a:srgbClr val="99CCFF"/>
              </a:buClr>
              <a:buFont typeface="Wingdings" pitchFamily="2" charset="2"/>
              <a:buChar char="p"/>
              <a:defRPr kumimoji="1" sz="2400">
                <a:solidFill>
                  <a:schemeClr val="tx1"/>
                </a:solidFill>
                <a:latin typeface="HGP創英角ｺﾞｼｯｸUB" pitchFamily="50" charset="-128"/>
                <a:ea typeface="ＭＳ Ｐゴシック" pitchFamily="50" charset="-128"/>
              </a:defRPr>
            </a:lvl2pPr>
            <a:lvl3pPr marL="1143000" indent="-228600" eaLnBrk="0" hangingPunct="0">
              <a:spcBef>
                <a:spcPct val="20000"/>
              </a:spcBef>
              <a:buClr>
                <a:srgbClr val="99CCFF"/>
              </a:buClr>
              <a:buFont typeface="Wingdings" pitchFamily="2" charset="2"/>
              <a:buChar char="n"/>
              <a:defRPr kumimoji="1" sz="2000">
                <a:solidFill>
                  <a:schemeClr val="tx1"/>
                </a:solidFill>
                <a:latin typeface="HGP創英角ｺﾞｼｯｸUB" pitchFamily="50" charset="-128"/>
                <a:ea typeface="ＭＳ Ｐゴシック" pitchFamily="50" charset="-128"/>
              </a:defRPr>
            </a:lvl3pPr>
            <a:lvl4pPr marL="1600200" indent="-228600" eaLnBrk="0" hangingPunct="0">
              <a:spcBef>
                <a:spcPct val="20000"/>
              </a:spcBef>
              <a:buClr>
                <a:srgbClr val="99CCFF"/>
              </a:buClr>
              <a:buFont typeface="Wingdings" pitchFamily="2" charset="2"/>
              <a:buChar char="p"/>
              <a:defRPr kumimoji="1">
                <a:solidFill>
                  <a:schemeClr val="tx1"/>
                </a:solidFill>
                <a:latin typeface="HGP創英角ｺﾞｼｯｸUB" pitchFamily="50" charset="-128"/>
                <a:ea typeface="ＭＳ Ｐゴシック" pitchFamily="50" charset="-128"/>
              </a:defRPr>
            </a:lvl4pPr>
            <a:lvl5pPr marL="2057400" indent="-228600" eaLnBrk="0" hangingPunct="0">
              <a:spcBef>
                <a:spcPct val="20000"/>
              </a:spcBef>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5pPr>
            <a:lvl6pPr marL="25146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6pPr>
            <a:lvl7pPr marL="29718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7pPr>
            <a:lvl8pPr marL="34290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8pPr>
            <a:lvl9pPr marL="3886200" indent="-228600" eaLnBrk="0" fontAlgn="base" hangingPunct="0">
              <a:spcBef>
                <a:spcPct val="20000"/>
              </a:spcBef>
              <a:spcAft>
                <a:spcPct val="0"/>
              </a:spcAft>
              <a:buClr>
                <a:srgbClr val="99CCFF"/>
              </a:buClr>
              <a:buFont typeface="Wingdings" pitchFamily="2" charset="2"/>
              <a:buChar char="n"/>
              <a:defRPr kumimoji="1">
                <a:solidFill>
                  <a:schemeClr val="tx1"/>
                </a:solidFill>
                <a:latin typeface="HGP創英角ｺﾞｼｯｸUB" pitchFamily="50" charset="-128"/>
                <a:ea typeface="ＭＳ Ｐゴシック" pitchFamily="50" charset="-128"/>
              </a:defRPr>
            </a:lvl9pPr>
          </a:lstStyle>
          <a:p>
            <a:pPr algn="ctr" eaLnBrk="1" hangingPunct="1">
              <a:spcBef>
                <a:spcPct val="0"/>
              </a:spcBef>
              <a:buClrTx/>
              <a:buFontTx/>
              <a:buNone/>
              <a:defRPr/>
            </a:pPr>
            <a:r>
              <a:rPr lang="en-US" altLang="ja-JP" sz="1050" dirty="0">
                <a:solidFill>
                  <a:srgbClr val="FF3300"/>
                </a:solidFill>
                <a:latin typeface="Meiryo UI" pitchFamily="50" charset="-128"/>
                <a:ea typeface="Meiryo UI" pitchFamily="50" charset="-128"/>
                <a:cs typeface="Meiryo UI" pitchFamily="50" charset="-128"/>
              </a:rPr>
              <a:t>Confidential</a:t>
            </a:r>
          </a:p>
        </p:txBody>
      </p:sp>
    </p:spTree>
    <p:extLst>
      <p:ext uri="{BB962C8B-B14F-4D97-AF65-F5344CB8AC3E}">
        <p14:creationId xmlns:p14="http://schemas.microsoft.com/office/powerpoint/2010/main" val="2517518805"/>
      </p:ext>
    </p:extLst>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0"/>
            <a:ext cx="5486400" cy="41148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600" b="0">
                <a:solidFill>
                  <a:srgbClr val="00587A"/>
                </a:solidFill>
                <a:latin typeface="Meiryo UI"/>
                <a:ea typeface="Meiryo UI"/>
                <a:cs typeface="Meiryo UI"/>
              </a:rPr>
              <a:t>広島市 御中</a:t>
            </a:r>
          </a:p>
        </p:txBody>
      </p:sp>
      <p:sp>
        <p:nvSpPr>
          <p:cNvPr id="3" name="TextBox 2"/>
          <p:cNvSpPr txBox="1"/>
          <p:nvPr/>
        </p:nvSpPr>
        <p:spPr>
          <a:xfrm>
            <a:off x="256032" y="1920240"/>
            <a:ext cx="8641080" cy="1554480"/>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3200" b="0">
                <a:solidFill>
                  <a:srgbClr val="404040"/>
                </a:solidFill>
                <a:latin typeface="Meiryo UI"/>
                <a:ea typeface="Meiryo UI"/>
                <a:cs typeface="Meiryo UI"/>
              </a:rPr>
              <a:t>広島市モード・電子申請・広報・防災</a:t>
            </a:r>
          </a:p>
          <a:p>
            <a:pPr algn="l" marL="0" indent="0">
              <a:lnSpc>
                <a:spcPct val="112000"/>
              </a:lnSpc>
              <a:spcBef>
                <a:spcPts val="0"/>
              </a:spcBef>
              <a:spcAft>
                <a:spcPts val="300"/>
              </a:spcAft>
              <a:buNone/>
            </a:pPr>
            <a:r>
              <a:rPr sz="3200" b="0">
                <a:solidFill>
                  <a:srgbClr val="404040"/>
                </a:solidFill>
                <a:latin typeface="Meiryo UI"/>
                <a:ea typeface="Meiryo UI"/>
                <a:cs typeface="Meiryo UI"/>
              </a:rPr>
              <a:t>機能拡張のご提案</a:t>
            </a:r>
          </a:p>
        </p:txBody>
      </p:sp>
      <p:sp>
        <p:nvSpPr>
          <p:cNvPr id="4" name="Rectangle 3"/>
          <p:cNvSpPr/>
          <p:nvPr/>
        </p:nvSpPr>
        <p:spPr>
          <a:xfrm>
            <a:off x="274320" y="3611880"/>
            <a:ext cx="2011680" cy="45720"/>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 name="TextBox 4"/>
          <p:cNvSpPr txBox="1"/>
          <p:nvPr/>
        </p:nvSpPr>
        <p:spPr>
          <a:xfrm>
            <a:off x="256032" y="3794760"/>
            <a:ext cx="7772400" cy="45720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600" b="0">
                <a:solidFill>
                  <a:srgbClr val="00587A"/>
                </a:solidFill>
                <a:latin typeface="Meiryo UI"/>
                <a:ea typeface="Meiryo UI"/>
                <a:cs typeface="Meiryo UI"/>
              </a:rPr>
              <a:t>〜 としポ基盤を活用した、広島市統合ポータルの実現 〜</a:t>
            </a:r>
          </a:p>
        </p:txBody>
      </p:sp>
      <p:sp>
        <p:nvSpPr>
          <p:cNvPr id="6" name="TextBox 5"/>
          <p:cNvSpPr txBox="1"/>
          <p:nvPr/>
        </p:nvSpPr>
        <p:spPr>
          <a:xfrm>
            <a:off x="1673352" y="4864608"/>
            <a:ext cx="7059168" cy="731520"/>
          </a:xfrm>
          <a:prstGeom prst="rect">
            <a:avLst/>
          </a:prstGeom>
          <a:noFill/>
        </p:spPr>
        <p:txBody>
          <a:bodyPr wrap="square" anchor="ctr" lIns="45720" rIns="45720" tIns="18288" bIns="18288">
            <a:spAutoFit/>
          </a:bodyPr>
          <a:lstStyle/>
          <a:p>
            <a:pPr algn="r" marL="0" indent="0">
              <a:lnSpc>
                <a:spcPct val="112000"/>
              </a:lnSpc>
              <a:spcBef>
                <a:spcPts val="0"/>
              </a:spcBef>
              <a:spcAft>
                <a:spcPts val="300"/>
              </a:spcAft>
              <a:buNone/>
            </a:pPr>
            <a:r>
              <a:rPr sz="2000" b="0">
                <a:solidFill>
                  <a:srgbClr val="404040"/>
                </a:solidFill>
                <a:latin typeface="Meiryo UI"/>
                <a:ea typeface="Meiryo UI"/>
                <a:cs typeface="Meiryo UI"/>
              </a:rPr>
              <a:t>2026年8月27日</a:t>
            </a:r>
          </a:p>
          <a:p>
            <a:pPr algn="r" marL="0" indent="0">
              <a:lnSpc>
                <a:spcPct val="112000"/>
              </a:lnSpc>
              <a:spcBef>
                <a:spcPts val="0"/>
              </a:spcBef>
              <a:spcAft>
                <a:spcPts val="300"/>
              </a:spcAft>
              <a:buNone/>
            </a:pPr>
            <a:r>
              <a:rPr sz="2000" b="0">
                <a:solidFill>
                  <a:srgbClr val="404040"/>
                </a:solidFill>
                <a:latin typeface="Meiryo UI"/>
                <a:ea typeface="Meiryo UI"/>
                <a:cs typeface="Meiryo UI"/>
              </a:rPr>
              <a:t>フェリカポケットマーケティング株式会社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目次</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本資料は、営業ヒアリングを踏まえた4要件のご提案内容と、防災機能の中長期ロードマップで構成しています。</a:t>
            </a:r>
          </a:p>
        </p:txBody>
      </p:sp>
      <p:sp>
        <p:nvSpPr>
          <p:cNvPr id="4" name="Rectangle 3"/>
          <p:cNvSpPr/>
          <p:nvPr/>
        </p:nvSpPr>
        <p:spPr>
          <a:xfrm>
            <a:off x="274320" y="11887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1．ご提案の背景と目的</a:t>
            </a:r>
          </a:p>
        </p:txBody>
      </p:sp>
      <p:sp>
        <p:nvSpPr>
          <p:cNvPr id="5" name="Rectangle 4"/>
          <p:cNvSpPr/>
          <p:nvPr/>
        </p:nvSpPr>
        <p:spPr>
          <a:xfrm>
            <a:off x="6858000" y="11887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P3</a:t>
            </a:r>
          </a:p>
        </p:txBody>
      </p:sp>
      <p:sp>
        <p:nvSpPr>
          <p:cNvPr id="6" name="Rectangle 5"/>
          <p:cNvSpPr/>
          <p:nvPr/>
        </p:nvSpPr>
        <p:spPr>
          <a:xfrm>
            <a:off x="274320" y="16459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2．ご提案の全体像</a:t>
            </a:r>
          </a:p>
        </p:txBody>
      </p:sp>
      <p:sp>
        <p:nvSpPr>
          <p:cNvPr id="7" name="Rectangle 6"/>
          <p:cNvSpPr/>
          <p:nvPr/>
        </p:nvSpPr>
        <p:spPr>
          <a:xfrm>
            <a:off x="6858000" y="16459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P4</a:t>
            </a:r>
          </a:p>
        </p:txBody>
      </p:sp>
      <p:sp>
        <p:nvSpPr>
          <p:cNvPr id="8" name="Rectangle 7"/>
          <p:cNvSpPr/>
          <p:nvPr/>
        </p:nvSpPr>
        <p:spPr>
          <a:xfrm>
            <a:off x="274320" y="21031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3．4要件の全体整理</a:t>
            </a:r>
          </a:p>
        </p:txBody>
      </p:sp>
      <p:sp>
        <p:nvSpPr>
          <p:cNvPr id="9" name="Rectangle 8"/>
          <p:cNvSpPr/>
          <p:nvPr/>
        </p:nvSpPr>
        <p:spPr>
          <a:xfrm>
            <a:off x="6858000" y="21031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P5</a:t>
            </a:r>
          </a:p>
        </p:txBody>
      </p:sp>
      <p:sp>
        <p:nvSpPr>
          <p:cNvPr id="10" name="Rectangle 9"/>
          <p:cNvSpPr/>
          <p:nvPr/>
        </p:nvSpPr>
        <p:spPr>
          <a:xfrm>
            <a:off x="274320" y="25603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4．機能概要と利用フロー</a:t>
            </a:r>
          </a:p>
        </p:txBody>
      </p:sp>
      <p:sp>
        <p:nvSpPr>
          <p:cNvPr id="11" name="Rectangle 10"/>
          <p:cNvSpPr/>
          <p:nvPr/>
        </p:nvSpPr>
        <p:spPr>
          <a:xfrm>
            <a:off x="6858000" y="25603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P6〜P8</a:t>
            </a:r>
          </a:p>
        </p:txBody>
      </p:sp>
      <p:sp>
        <p:nvSpPr>
          <p:cNvPr id="12" name="Rectangle 11"/>
          <p:cNvSpPr/>
          <p:nvPr/>
        </p:nvSpPr>
        <p:spPr>
          <a:xfrm>
            <a:off x="274320" y="30175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5．画面イメージ（アプリ／管理画面）</a:t>
            </a:r>
          </a:p>
        </p:txBody>
      </p:sp>
      <p:sp>
        <p:nvSpPr>
          <p:cNvPr id="13" name="Rectangle 12"/>
          <p:cNvSpPr/>
          <p:nvPr/>
        </p:nvSpPr>
        <p:spPr>
          <a:xfrm>
            <a:off x="6858000" y="30175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P9〜P16</a:t>
            </a:r>
          </a:p>
        </p:txBody>
      </p:sp>
      <p:sp>
        <p:nvSpPr>
          <p:cNvPr id="14" name="Rectangle 13"/>
          <p:cNvSpPr/>
          <p:nvPr/>
        </p:nvSpPr>
        <p:spPr>
          <a:xfrm>
            <a:off x="274320" y="34747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6．防災機能の拡張ロードマップ</a:t>
            </a:r>
          </a:p>
        </p:txBody>
      </p:sp>
      <p:sp>
        <p:nvSpPr>
          <p:cNvPr id="15" name="Rectangle 14"/>
          <p:cNvSpPr/>
          <p:nvPr/>
        </p:nvSpPr>
        <p:spPr>
          <a:xfrm>
            <a:off x="6858000" y="34747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P17〜P20</a:t>
            </a:r>
          </a:p>
        </p:txBody>
      </p:sp>
      <p:sp>
        <p:nvSpPr>
          <p:cNvPr id="16" name="Rectangle 15"/>
          <p:cNvSpPr/>
          <p:nvPr/>
        </p:nvSpPr>
        <p:spPr>
          <a:xfrm>
            <a:off x="274320" y="39319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7．運用・分析・システム基盤</a:t>
            </a:r>
          </a:p>
        </p:txBody>
      </p:sp>
      <p:sp>
        <p:nvSpPr>
          <p:cNvPr id="17" name="Rectangle 16"/>
          <p:cNvSpPr/>
          <p:nvPr/>
        </p:nvSpPr>
        <p:spPr>
          <a:xfrm>
            <a:off x="6858000" y="39319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P21〜P23</a:t>
            </a:r>
          </a:p>
        </p:txBody>
      </p:sp>
      <p:sp>
        <p:nvSpPr>
          <p:cNvPr id="18" name="Rectangle 17"/>
          <p:cNvSpPr/>
          <p:nvPr/>
        </p:nvSpPr>
        <p:spPr>
          <a:xfrm>
            <a:off x="274320" y="43891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8．実施スケジュールと今後の進め方</a:t>
            </a:r>
          </a:p>
        </p:txBody>
      </p:sp>
      <p:sp>
        <p:nvSpPr>
          <p:cNvPr id="19" name="Rectangle 18"/>
          <p:cNvSpPr/>
          <p:nvPr/>
        </p:nvSpPr>
        <p:spPr>
          <a:xfrm>
            <a:off x="6858000" y="43891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P24〜P25</a:t>
            </a:r>
          </a:p>
        </p:txBody>
      </p:sp>
      <p:sp>
        <p:nvSpPr>
          <p:cNvPr id="20" name="Rectangle 19"/>
          <p:cNvSpPr/>
          <p:nvPr/>
        </p:nvSpPr>
        <p:spPr>
          <a:xfrm>
            <a:off x="274320" y="4846320"/>
            <a:ext cx="6583680" cy="40233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200" b="0">
                <a:solidFill>
                  <a:srgbClr val="262626"/>
                </a:solidFill>
                <a:latin typeface="Meiryo UI"/>
                <a:ea typeface="Meiryo UI"/>
                <a:cs typeface="Meiryo UI"/>
              </a:rPr>
              <a:t>　　別紙一覧</a:t>
            </a:r>
          </a:p>
        </p:txBody>
      </p:sp>
      <p:sp>
        <p:nvSpPr>
          <p:cNvPr id="21" name="Rectangle 20"/>
          <p:cNvSpPr/>
          <p:nvPr/>
        </p:nvSpPr>
        <p:spPr>
          <a:xfrm>
            <a:off x="6858000" y="4846320"/>
            <a:ext cx="2011680" cy="40233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P26</a:t>
            </a:r>
          </a:p>
        </p:txBody>
      </p:sp>
      <p:sp>
        <p:nvSpPr>
          <p:cNvPr id="22" name="TextBox 21"/>
          <p:cNvSpPr txBox="1"/>
          <p:nvPr/>
        </p:nvSpPr>
        <p:spPr>
          <a:xfrm>
            <a:off x="274320" y="5394959"/>
            <a:ext cx="8595360" cy="54864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50" b="0">
                <a:solidFill>
                  <a:srgbClr val="77888E"/>
                </a:solidFill>
                <a:latin typeface="Meiryo UI"/>
                <a:ea typeface="Meiryo UI"/>
                <a:cs typeface="Meiryo UI"/>
              </a:rPr>
              <a:t>別紙：アプリワイヤーフレーム_draft1_20260824.pdf ／ 管理画面ワイヤーフレーム_draft1_20260824.pdf ／ 20260824_現状機能概要まとめ.xlsx</a:t>
            </a:r>
          </a:p>
          <a:p>
            <a:pPr algn="l" marL="0" indent="0">
              <a:lnSpc>
                <a:spcPct val="112000"/>
              </a:lnSpc>
              <a:spcBef>
                <a:spcPts val="0"/>
              </a:spcBef>
              <a:spcAft>
                <a:spcPts val="300"/>
              </a:spcAft>
              <a:buNone/>
            </a:pPr>
            <a:r>
              <a:rPr sz="950" b="0">
                <a:solidFill>
                  <a:srgbClr val="77888E"/>
                </a:solidFill>
                <a:latin typeface="Meiryo UI"/>
                <a:ea typeface="Meiryo UI"/>
                <a:cs typeface="Meiryo UI"/>
              </a:rPr>
              <a:t>※「休日保育予約」は別資料にて整理のため、本資料の対象外としています。</a:t>
            </a:r>
          </a:p>
        </p:txBody>
      </p:sp>
      <p:sp>
        <p:nvSpPr>
          <p:cNvPr id="23" name="TextBox 22"/>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1．ご提案の背景と目的</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広島市が保有する既存資産を最大限に活かし、短期間・低リスクで統合ポータルの第一歩を実現します。</a:t>
            </a:r>
          </a:p>
        </p:txBody>
      </p:sp>
      <p:sp>
        <p:nvSpPr>
          <p:cNvPr id="4" name="Rectangle 3"/>
          <p:cNvSpPr/>
          <p:nvPr/>
        </p:nvSpPr>
        <p:spPr>
          <a:xfrm>
            <a:off x="274320" y="1143000"/>
            <a:ext cx="155448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背景</a:t>
            </a:r>
          </a:p>
        </p:txBody>
      </p:sp>
      <p:sp>
        <p:nvSpPr>
          <p:cNvPr id="5" name="TextBox 4"/>
          <p:cNvSpPr txBox="1"/>
          <p:nvPr/>
        </p:nvSpPr>
        <p:spPr>
          <a:xfrm>
            <a:off x="1920240" y="1143000"/>
            <a:ext cx="6949440" cy="96012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市民向けサービス・情報が複数のサイト・アプリに分散し、必要な情報に到達するまでの導線が長い</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広島広域都市圏ポイント「としポ」は弊社開発アプリであり、事業者間調整なく最小限の負担で拡張が可能</a:t>
            </a:r>
          </a:p>
        </p:txBody>
      </p:sp>
      <p:sp>
        <p:nvSpPr>
          <p:cNvPr id="6" name="Rectangle 5"/>
          <p:cNvSpPr/>
          <p:nvPr/>
        </p:nvSpPr>
        <p:spPr>
          <a:xfrm>
            <a:off x="274320" y="2240280"/>
            <a:ext cx="1554480" cy="128016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ご提案の目的</a:t>
            </a:r>
          </a:p>
        </p:txBody>
      </p:sp>
      <p:sp>
        <p:nvSpPr>
          <p:cNvPr id="7" name="TextBox 6"/>
          <p:cNvSpPr txBox="1"/>
          <p:nvPr/>
        </p:nvSpPr>
        <p:spPr>
          <a:xfrm>
            <a:off x="1920240" y="2240280"/>
            <a:ext cx="6949440" cy="128016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「広島市モード」を新設し、市のサービス・情報をとしポアプリ上に一元集約する</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電子申請・広報・防災は既存資産への導線提供を基本とし、初年度は確実にリリースできる範囲に絞る</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デジタル庁のデジタル地方創生サービスカタログ掲載パッケージ「よむすび」を活用し、開発リスクを抑制する</a:t>
            </a:r>
          </a:p>
        </p:txBody>
      </p:sp>
      <p:sp>
        <p:nvSpPr>
          <p:cNvPr id="8" name="Rectangle 7"/>
          <p:cNvSpPr/>
          <p:nvPr/>
        </p:nvSpPr>
        <p:spPr>
          <a:xfrm>
            <a:off x="274320" y="3657600"/>
            <a:ext cx="155448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ご提供価値</a:t>
            </a:r>
          </a:p>
        </p:txBody>
      </p:sp>
      <p:sp>
        <p:nvSpPr>
          <p:cNvPr id="9" name="TextBox 8"/>
          <p:cNvSpPr txBox="1"/>
          <p:nvPr/>
        </p:nvSpPr>
        <p:spPr>
          <a:xfrm>
            <a:off x="1920240" y="3657600"/>
            <a:ext cx="6949440" cy="96012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市民：手続・広報・防災の入口がひとつになり、必要な情報が必要なタイミングで届く</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広島市：アプリ改修を伴わない管理画面運用と、利用状況データに基づく施策改善が可能となる</a:t>
            </a:r>
          </a:p>
        </p:txBody>
      </p:sp>
      <p:sp>
        <p:nvSpPr>
          <p:cNvPr id="10" name="TextBox 9"/>
          <p:cNvSpPr txBox="1"/>
          <p:nvPr/>
        </p:nvSpPr>
        <p:spPr>
          <a:xfrm>
            <a:off x="274320" y="4800600"/>
            <a:ext cx="3657600" cy="329184"/>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1">
                <a:solidFill>
                  <a:srgbClr val="00587A"/>
                </a:solidFill>
                <a:latin typeface="Meiryo UI"/>
                <a:ea typeface="Meiryo UI"/>
                <a:cs typeface="Meiryo UI"/>
              </a:rPr>
              <a:t>今後の進め方</a:t>
            </a:r>
          </a:p>
        </p:txBody>
      </p:sp>
      <p:sp>
        <p:nvSpPr>
          <p:cNvPr id="11" name="Rectangle 10"/>
          <p:cNvSpPr/>
          <p:nvPr/>
        </p:nvSpPr>
        <p:spPr>
          <a:xfrm>
            <a:off x="320040" y="5193792"/>
            <a:ext cx="1481328"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①提案内容の</a:t>
            </a:r>
          </a:p>
          <a:p>
            <a:pPr algn="ctr" marL="0" indent="0">
              <a:lnSpc>
                <a:spcPct val="112000"/>
              </a:lnSpc>
              <a:spcBef>
                <a:spcPts val="0"/>
              </a:spcBef>
              <a:spcAft>
                <a:spcPts val="300"/>
              </a:spcAft>
              <a:buNone/>
            </a:pPr>
            <a:r>
              <a:rPr sz="1100" b="0">
                <a:solidFill>
                  <a:srgbClr val="00587A"/>
                </a:solidFill>
                <a:latin typeface="Meiryo UI"/>
                <a:ea typeface="Meiryo UI"/>
                <a:cs typeface="Meiryo UI"/>
              </a:rPr>
              <a:t>ご確認</a:t>
            </a:r>
          </a:p>
        </p:txBody>
      </p:sp>
      <p:sp>
        <p:nvSpPr>
          <p:cNvPr id="12" name="Right Arrow 11"/>
          <p:cNvSpPr/>
          <p:nvPr/>
        </p:nvSpPr>
        <p:spPr>
          <a:xfrm>
            <a:off x="1819655" y="5550408"/>
            <a:ext cx="182880" cy="201168"/>
          </a:xfrm>
          <a:prstGeom prst="rightArrow">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20824" y="5193792"/>
            <a:ext cx="1481328"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②要求仕様の</a:t>
            </a:r>
          </a:p>
          <a:p>
            <a:pPr algn="ctr" marL="0" indent="0">
              <a:lnSpc>
                <a:spcPct val="112000"/>
              </a:lnSpc>
              <a:spcBef>
                <a:spcPts val="0"/>
              </a:spcBef>
              <a:spcAft>
                <a:spcPts val="300"/>
              </a:spcAft>
              <a:buNone/>
            </a:pPr>
            <a:r>
              <a:rPr sz="1100" b="0">
                <a:solidFill>
                  <a:srgbClr val="00587A"/>
                </a:solidFill>
                <a:latin typeface="Meiryo UI"/>
                <a:ea typeface="Meiryo UI"/>
                <a:cs typeface="Meiryo UI"/>
              </a:rPr>
              <a:t>確定</a:t>
            </a:r>
          </a:p>
        </p:txBody>
      </p:sp>
      <p:sp>
        <p:nvSpPr>
          <p:cNvPr id="14" name="Right Arrow 13"/>
          <p:cNvSpPr/>
          <p:nvPr/>
        </p:nvSpPr>
        <p:spPr>
          <a:xfrm>
            <a:off x="3520439" y="5550408"/>
            <a:ext cx="182880" cy="201168"/>
          </a:xfrm>
          <a:prstGeom prst="rightArrow">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21608" y="5193792"/>
            <a:ext cx="1481328"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③要件定義</a:t>
            </a:r>
          </a:p>
          <a:p>
            <a:pPr algn="ctr" marL="0" indent="0">
              <a:lnSpc>
                <a:spcPct val="112000"/>
              </a:lnSpc>
              <a:spcBef>
                <a:spcPts val="0"/>
              </a:spcBef>
              <a:spcAft>
                <a:spcPts val="300"/>
              </a:spcAft>
              <a:buNone/>
            </a:pPr>
            <a:r>
              <a:rPr sz="1100" b="0">
                <a:solidFill>
                  <a:srgbClr val="00587A"/>
                </a:solidFill>
                <a:latin typeface="Meiryo UI"/>
                <a:ea typeface="Meiryo UI"/>
                <a:cs typeface="Meiryo UI"/>
              </a:rPr>
              <a:t>・設計</a:t>
            </a:r>
          </a:p>
        </p:txBody>
      </p:sp>
      <p:sp>
        <p:nvSpPr>
          <p:cNvPr id="16" name="Right Arrow 15"/>
          <p:cNvSpPr/>
          <p:nvPr/>
        </p:nvSpPr>
        <p:spPr>
          <a:xfrm>
            <a:off x="5221224" y="5550408"/>
            <a:ext cx="182880" cy="201168"/>
          </a:xfrm>
          <a:prstGeom prst="rightArrow">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22392" y="5193792"/>
            <a:ext cx="1481328"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④開発</a:t>
            </a:r>
          </a:p>
          <a:p>
            <a:pPr algn="ctr" marL="0" indent="0">
              <a:lnSpc>
                <a:spcPct val="112000"/>
              </a:lnSpc>
              <a:spcBef>
                <a:spcPts val="0"/>
              </a:spcBef>
              <a:spcAft>
                <a:spcPts val="300"/>
              </a:spcAft>
              <a:buNone/>
            </a:pPr>
            <a:r>
              <a:rPr sz="1100" b="0">
                <a:solidFill>
                  <a:srgbClr val="00587A"/>
                </a:solidFill>
                <a:latin typeface="Meiryo UI"/>
                <a:ea typeface="Meiryo UI"/>
                <a:cs typeface="Meiryo UI"/>
              </a:rPr>
              <a:t>・テスト</a:t>
            </a:r>
          </a:p>
        </p:txBody>
      </p:sp>
      <p:sp>
        <p:nvSpPr>
          <p:cNvPr id="18" name="Right Arrow 17"/>
          <p:cNvSpPr/>
          <p:nvPr/>
        </p:nvSpPr>
        <p:spPr>
          <a:xfrm>
            <a:off x="6922008" y="5550408"/>
            <a:ext cx="182880" cy="201168"/>
          </a:xfrm>
          <a:prstGeom prst="rightArrow">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23176" y="5193792"/>
            <a:ext cx="1481328"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00587A"/>
                </a:solidFill>
                <a:latin typeface="Meiryo UI"/>
                <a:ea typeface="Meiryo UI"/>
                <a:cs typeface="Meiryo UI"/>
              </a:rPr>
              <a:t>⑤リリース</a:t>
            </a:r>
          </a:p>
          <a:p>
            <a:pPr algn="ctr" marL="0" indent="0">
              <a:lnSpc>
                <a:spcPct val="112000"/>
              </a:lnSpc>
              <a:spcBef>
                <a:spcPts val="0"/>
              </a:spcBef>
              <a:spcAft>
                <a:spcPts val="300"/>
              </a:spcAft>
              <a:buNone/>
            </a:pPr>
            <a:r>
              <a:rPr sz="1100" b="0">
                <a:solidFill>
                  <a:srgbClr val="00587A"/>
                </a:solidFill>
                <a:latin typeface="Meiryo UI"/>
                <a:ea typeface="Meiryo UI"/>
                <a:cs typeface="Meiryo UI"/>
              </a:rPr>
              <a:t>・運用</a:t>
            </a:r>
          </a:p>
        </p:txBody>
      </p:sp>
      <p:sp>
        <p:nvSpPr>
          <p:cNvPr id="20" name="TextBox 19"/>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本資料の内容は、要件定義の結果により細部を調整させていただく場合があります。</a:t>
            </a:r>
          </a:p>
        </p:txBody>
      </p:sp>
      <p:sp>
        <p:nvSpPr>
          <p:cNvPr id="21" name="TextBox 20"/>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2．ご提案の全体像</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としポアプリ内に「広島市モード」を新設し、市独自メニューと共通メニューを1画面に集約します。</a:t>
            </a:r>
          </a:p>
        </p:txBody>
      </p:sp>
      <p:sp>
        <p:nvSpPr>
          <p:cNvPr id="4" name="Rectangle 3"/>
          <p:cNvSpPr/>
          <p:nvPr/>
        </p:nvSpPr>
        <p:spPr>
          <a:xfrm>
            <a:off x="274320" y="1115568"/>
            <a:ext cx="8595360"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市民（アプリ利用者）</a:t>
            </a:r>
          </a:p>
        </p:txBody>
      </p:sp>
      <p:sp>
        <p:nvSpPr>
          <p:cNvPr id="5" name="Rectangle 4"/>
          <p:cNvSpPr/>
          <p:nvPr/>
        </p:nvSpPr>
        <p:spPr>
          <a:xfrm>
            <a:off x="274320" y="1481328"/>
            <a:ext cx="8595360" cy="566928"/>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200" b="0">
                <a:solidFill>
                  <a:srgbClr val="FFFFFF"/>
                </a:solidFill>
                <a:latin typeface="Meiryo UI"/>
                <a:ea typeface="Meiryo UI"/>
                <a:cs typeface="Meiryo UI"/>
              </a:rPr>
              <a:t>広島市モード ホーム（統合ポータル）　※居住地属性によりON／OFFを初期設定</a:t>
            </a:r>
          </a:p>
        </p:txBody>
      </p:sp>
      <p:sp>
        <p:nvSpPr>
          <p:cNvPr id="6" name="Rectangle 5"/>
          <p:cNvSpPr/>
          <p:nvPr/>
        </p:nvSpPr>
        <p:spPr>
          <a:xfrm>
            <a:off x="274320" y="2212848"/>
            <a:ext cx="2066543"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A．広島市モード</a:t>
            </a:r>
          </a:p>
        </p:txBody>
      </p:sp>
      <p:sp>
        <p:nvSpPr>
          <p:cNvPr id="7" name="Rectangle 6"/>
          <p:cNvSpPr/>
          <p:nvPr/>
        </p:nvSpPr>
        <p:spPr>
          <a:xfrm>
            <a:off x="274320" y="2523744"/>
            <a:ext cx="2066543" cy="8412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262626"/>
                </a:solidFill>
                <a:latin typeface="Meiryo UI"/>
                <a:ea typeface="Meiryo UI"/>
                <a:cs typeface="Meiryo UI"/>
              </a:rPr>
              <a:t>マルチテナント方式で</a:t>
            </a:r>
          </a:p>
          <a:p>
            <a:pPr algn="ctr" marL="0" indent="0">
              <a:lnSpc>
                <a:spcPct val="112000"/>
              </a:lnSpc>
              <a:spcBef>
                <a:spcPts val="0"/>
              </a:spcBef>
              <a:spcAft>
                <a:spcPts val="300"/>
              </a:spcAft>
              <a:buNone/>
            </a:pPr>
            <a:r>
              <a:rPr sz="1050" b="0">
                <a:solidFill>
                  <a:srgbClr val="262626"/>
                </a:solidFill>
                <a:latin typeface="Meiryo UI"/>
                <a:ea typeface="Meiryo UI"/>
                <a:cs typeface="Meiryo UI"/>
              </a:rPr>
              <a:t>市独自メニューを表示</a:t>
            </a:r>
          </a:p>
        </p:txBody>
      </p:sp>
      <p:sp>
        <p:nvSpPr>
          <p:cNvPr id="8" name="Rectangle 7"/>
          <p:cNvSpPr/>
          <p:nvPr/>
        </p:nvSpPr>
        <p:spPr>
          <a:xfrm>
            <a:off x="2450591" y="2212848"/>
            <a:ext cx="2066543"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B．電子申請</a:t>
            </a:r>
          </a:p>
        </p:txBody>
      </p:sp>
      <p:sp>
        <p:nvSpPr>
          <p:cNvPr id="9" name="Rectangle 8"/>
          <p:cNvSpPr/>
          <p:nvPr/>
        </p:nvSpPr>
        <p:spPr>
          <a:xfrm>
            <a:off x="2450591" y="2523744"/>
            <a:ext cx="2066543" cy="8412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262626"/>
                </a:solidFill>
                <a:latin typeface="Meiryo UI"/>
                <a:ea typeface="Meiryo UI"/>
                <a:cs typeface="Meiryo UI"/>
              </a:rPr>
              <a:t>オンライン手続</a:t>
            </a:r>
          </a:p>
          <a:p>
            <a:pPr algn="ctr" marL="0" indent="0">
              <a:lnSpc>
                <a:spcPct val="112000"/>
              </a:lnSpc>
              <a:spcBef>
                <a:spcPts val="0"/>
              </a:spcBef>
              <a:spcAft>
                <a:spcPts val="300"/>
              </a:spcAft>
              <a:buNone/>
            </a:pPr>
            <a:r>
              <a:rPr sz="1050" b="0">
                <a:solidFill>
                  <a:srgbClr val="262626"/>
                </a:solidFill>
                <a:latin typeface="Meiryo UI"/>
                <a:ea typeface="Meiryo UI"/>
                <a:cs typeface="Meiryo UI"/>
              </a:rPr>
              <a:t>ポータルサイトへ誘導</a:t>
            </a:r>
          </a:p>
        </p:txBody>
      </p:sp>
      <p:sp>
        <p:nvSpPr>
          <p:cNvPr id="10" name="Rectangle 9"/>
          <p:cNvSpPr/>
          <p:nvPr/>
        </p:nvSpPr>
        <p:spPr>
          <a:xfrm>
            <a:off x="4626864" y="2212848"/>
            <a:ext cx="2066543"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C．広報</a:t>
            </a:r>
          </a:p>
        </p:txBody>
      </p:sp>
      <p:sp>
        <p:nvSpPr>
          <p:cNvPr id="11" name="Rectangle 10"/>
          <p:cNvSpPr/>
          <p:nvPr/>
        </p:nvSpPr>
        <p:spPr>
          <a:xfrm>
            <a:off x="4626864" y="2523744"/>
            <a:ext cx="2066543" cy="8412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262626"/>
                </a:solidFill>
                <a:latin typeface="Meiryo UI"/>
                <a:ea typeface="Meiryo UI"/>
                <a:cs typeface="Meiryo UI"/>
              </a:rPr>
              <a:t>広報紙PDFを</a:t>
            </a:r>
          </a:p>
          <a:p>
            <a:pPr algn="ctr" marL="0" indent="0">
              <a:lnSpc>
                <a:spcPct val="112000"/>
              </a:lnSpc>
              <a:spcBef>
                <a:spcPts val="0"/>
              </a:spcBef>
              <a:spcAft>
                <a:spcPts val="300"/>
              </a:spcAft>
              <a:buNone/>
            </a:pPr>
            <a:r>
              <a:rPr sz="1050" b="0">
                <a:solidFill>
                  <a:srgbClr val="262626"/>
                </a:solidFill>
                <a:latin typeface="Meiryo UI"/>
                <a:ea typeface="Meiryo UI"/>
                <a:cs typeface="Meiryo UI"/>
              </a:rPr>
              <a:t>アプリ内で閲覧</a:t>
            </a:r>
          </a:p>
        </p:txBody>
      </p:sp>
      <p:sp>
        <p:nvSpPr>
          <p:cNvPr id="12" name="Rectangle 11"/>
          <p:cNvSpPr/>
          <p:nvPr/>
        </p:nvSpPr>
        <p:spPr>
          <a:xfrm>
            <a:off x="6803136" y="2212848"/>
            <a:ext cx="2066543"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D．防災</a:t>
            </a:r>
          </a:p>
        </p:txBody>
      </p:sp>
      <p:sp>
        <p:nvSpPr>
          <p:cNvPr id="13" name="Rectangle 12"/>
          <p:cNvSpPr/>
          <p:nvPr/>
        </p:nvSpPr>
        <p:spPr>
          <a:xfrm>
            <a:off x="6803136" y="2523744"/>
            <a:ext cx="2066543" cy="8412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262626"/>
                </a:solidFill>
                <a:latin typeface="Meiryo UI"/>
                <a:ea typeface="Meiryo UI"/>
                <a:cs typeface="Meiryo UI"/>
              </a:rPr>
              <a:t>「避難所へGo!」を起動</a:t>
            </a:r>
          </a:p>
          <a:p>
            <a:pPr algn="ctr" marL="0" indent="0">
              <a:lnSpc>
                <a:spcPct val="112000"/>
              </a:lnSpc>
              <a:spcBef>
                <a:spcPts val="0"/>
              </a:spcBef>
              <a:spcAft>
                <a:spcPts val="300"/>
              </a:spcAft>
              <a:buNone/>
            </a:pPr>
            <a:r>
              <a:rPr sz="1050" b="0">
                <a:solidFill>
                  <a:srgbClr val="262626"/>
                </a:solidFill>
                <a:latin typeface="Meiryo UI"/>
                <a:ea typeface="Meiryo UI"/>
                <a:cs typeface="Meiryo UI"/>
              </a:rPr>
              <a:t>未導入時はストアへ</a:t>
            </a:r>
          </a:p>
        </p:txBody>
      </p:sp>
      <p:sp>
        <p:nvSpPr>
          <p:cNvPr id="14" name="Rectangle 13"/>
          <p:cNvSpPr/>
          <p:nvPr/>
        </p:nvSpPr>
        <p:spPr>
          <a:xfrm>
            <a:off x="274320" y="3529584"/>
            <a:ext cx="85953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200" b="0">
                <a:solidFill>
                  <a:srgbClr val="FFFFFF"/>
                </a:solidFill>
                <a:latin typeface="Meiryo UI"/>
                <a:ea typeface="Meiryo UI"/>
                <a:cs typeface="Meiryo UI"/>
              </a:rPr>
              <a:t>としポ基盤（よむすびパッケージ）／マルチテナント</a:t>
            </a:r>
          </a:p>
        </p:txBody>
      </p:sp>
      <p:sp>
        <p:nvSpPr>
          <p:cNvPr id="15" name="Rectangle 14"/>
          <p:cNvSpPr/>
          <p:nvPr/>
        </p:nvSpPr>
        <p:spPr>
          <a:xfrm>
            <a:off x="274320" y="3895344"/>
            <a:ext cx="2798064"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FFFFFF"/>
                </a:solidFill>
                <a:latin typeface="Meiryo UI"/>
                <a:ea typeface="Meiryo UI"/>
                <a:cs typeface="Meiryo UI"/>
              </a:rPr>
              <a:t>管理画面（よむすび管理画面）</a:t>
            </a:r>
          </a:p>
        </p:txBody>
      </p:sp>
      <p:sp>
        <p:nvSpPr>
          <p:cNvPr id="16" name="Rectangle 15"/>
          <p:cNvSpPr/>
          <p:nvPr/>
        </p:nvSpPr>
        <p:spPr>
          <a:xfrm>
            <a:off x="274320" y="4206240"/>
            <a:ext cx="2798064" cy="78638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262626"/>
                </a:solidFill>
                <a:latin typeface="Meiryo UI"/>
                <a:ea typeface="Meiryo UI"/>
                <a:cs typeface="Meiryo UI"/>
              </a:rPr>
              <a:t>メニュー・コンテンツ管理</a:t>
            </a:r>
          </a:p>
          <a:p>
            <a:pPr algn="ctr" marL="0" indent="0">
              <a:lnSpc>
                <a:spcPct val="112000"/>
              </a:lnSpc>
              <a:spcBef>
                <a:spcPts val="0"/>
              </a:spcBef>
              <a:spcAft>
                <a:spcPts val="300"/>
              </a:spcAft>
              <a:buNone/>
            </a:pPr>
            <a:r>
              <a:rPr sz="1000" b="0">
                <a:solidFill>
                  <a:srgbClr val="262626"/>
                </a:solidFill>
                <a:latin typeface="Meiryo UI"/>
                <a:ea typeface="Meiryo UI"/>
                <a:cs typeface="Meiryo UI"/>
              </a:rPr>
              <a:t>お知らせ／広報誌管理</a:t>
            </a:r>
          </a:p>
          <a:p>
            <a:pPr algn="ctr" marL="0" indent="0">
              <a:lnSpc>
                <a:spcPct val="112000"/>
              </a:lnSpc>
              <a:spcBef>
                <a:spcPts val="0"/>
              </a:spcBef>
              <a:spcAft>
                <a:spcPts val="300"/>
              </a:spcAft>
              <a:buNone/>
            </a:pPr>
            <a:r>
              <a:rPr sz="1000" b="0">
                <a:solidFill>
                  <a:srgbClr val="262626"/>
                </a:solidFill>
                <a:latin typeface="Meiryo UI"/>
                <a:ea typeface="Meiryo UI"/>
                <a:cs typeface="Meiryo UI"/>
              </a:rPr>
              <a:t>配信・承認管理</a:t>
            </a:r>
          </a:p>
        </p:txBody>
      </p:sp>
      <p:sp>
        <p:nvSpPr>
          <p:cNvPr id="17" name="Rectangle 16"/>
          <p:cNvSpPr/>
          <p:nvPr/>
        </p:nvSpPr>
        <p:spPr>
          <a:xfrm>
            <a:off x="3172968" y="3895344"/>
            <a:ext cx="2798064"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FFFFFF"/>
                </a:solidFill>
                <a:latin typeface="Meiryo UI"/>
                <a:ea typeface="Meiryo UI"/>
                <a:cs typeface="Meiryo UI"/>
              </a:rPr>
              <a:t>配信基盤</a:t>
            </a:r>
          </a:p>
        </p:txBody>
      </p:sp>
      <p:sp>
        <p:nvSpPr>
          <p:cNvPr id="18" name="Rectangle 17"/>
          <p:cNvSpPr/>
          <p:nvPr/>
        </p:nvSpPr>
        <p:spPr>
          <a:xfrm>
            <a:off x="3172968" y="4206240"/>
            <a:ext cx="2798064" cy="78638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262626"/>
                </a:solidFill>
                <a:latin typeface="Meiryo UI"/>
                <a:ea typeface="Meiryo UI"/>
                <a:cs typeface="Meiryo UI"/>
              </a:rPr>
              <a:t>プッシュ通知</a:t>
            </a:r>
          </a:p>
          <a:p>
            <a:pPr algn="ctr" marL="0" indent="0">
              <a:lnSpc>
                <a:spcPct val="112000"/>
              </a:lnSpc>
              <a:spcBef>
                <a:spcPts val="0"/>
              </a:spcBef>
              <a:spcAft>
                <a:spcPts val="300"/>
              </a:spcAft>
              <a:buNone/>
            </a:pPr>
            <a:r>
              <a:rPr sz="1000" b="0">
                <a:solidFill>
                  <a:srgbClr val="262626"/>
                </a:solidFill>
                <a:latin typeface="Meiryo UI"/>
                <a:ea typeface="Meiryo UI"/>
                <a:cs typeface="Meiryo UI"/>
              </a:rPr>
              <a:t>予約配信・エリア指定配信</a:t>
            </a:r>
          </a:p>
        </p:txBody>
      </p:sp>
      <p:sp>
        <p:nvSpPr>
          <p:cNvPr id="19" name="Rectangle 18"/>
          <p:cNvSpPr/>
          <p:nvPr/>
        </p:nvSpPr>
        <p:spPr>
          <a:xfrm>
            <a:off x="6071616" y="3895344"/>
            <a:ext cx="2798064" cy="310896"/>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50" b="0">
                <a:solidFill>
                  <a:srgbClr val="FFFFFF"/>
                </a:solidFill>
                <a:latin typeface="Meiryo UI"/>
                <a:ea typeface="Meiryo UI"/>
                <a:cs typeface="Meiryo UI"/>
              </a:rPr>
              <a:t>分析基盤（GCP／BigQuery）</a:t>
            </a:r>
          </a:p>
        </p:txBody>
      </p:sp>
      <p:sp>
        <p:nvSpPr>
          <p:cNvPr id="20" name="Rectangle 19"/>
          <p:cNvSpPr/>
          <p:nvPr/>
        </p:nvSpPr>
        <p:spPr>
          <a:xfrm>
            <a:off x="6071616" y="4206240"/>
            <a:ext cx="2798064" cy="78638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262626"/>
                </a:solidFill>
                <a:latin typeface="Meiryo UI"/>
                <a:ea typeface="Meiryo UI"/>
                <a:cs typeface="Meiryo UI"/>
              </a:rPr>
              <a:t>利用状況・KPIの可視化</a:t>
            </a:r>
          </a:p>
          <a:p>
            <a:pPr algn="ctr" marL="0" indent="0">
              <a:lnSpc>
                <a:spcPct val="112000"/>
              </a:lnSpc>
              <a:spcBef>
                <a:spcPts val="0"/>
              </a:spcBef>
              <a:spcAft>
                <a:spcPts val="300"/>
              </a:spcAft>
              <a:buNone/>
            </a:pPr>
            <a:r>
              <a:rPr sz="1000" b="0">
                <a:solidFill>
                  <a:srgbClr val="262626"/>
                </a:solidFill>
                <a:latin typeface="Meiryo UI"/>
                <a:ea typeface="Meiryo UI"/>
                <a:cs typeface="Meiryo UI"/>
              </a:rPr>
              <a:t>CSV出力・ダッシュボード</a:t>
            </a:r>
          </a:p>
        </p:txBody>
      </p:sp>
      <p:sp>
        <p:nvSpPr>
          <p:cNvPr id="21" name="Rectangle 20"/>
          <p:cNvSpPr/>
          <p:nvPr/>
        </p:nvSpPr>
        <p:spPr>
          <a:xfrm>
            <a:off x="274320" y="5175504"/>
            <a:ext cx="1554480" cy="109728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ご提案の</a:t>
            </a:r>
          </a:p>
          <a:p>
            <a:pPr algn="ctr" marL="0" indent="0">
              <a:lnSpc>
                <a:spcPct val="112000"/>
              </a:lnSpc>
              <a:spcBef>
                <a:spcPts val="0"/>
              </a:spcBef>
              <a:spcAft>
                <a:spcPts val="300"/>
              </a:spcAft>
              <a:buNone/>
            </a:pPr>
            <a:r>
              <a:rPr sz="1100" b="0">
                <a:solidFill>
                  <a:srgbClr val="FFFFFF"/>
                </a:solidFill>
                <a:latin typeface="Meiryo UI"/>
                <a:ea typeface="Meiryo UI"/>
                <a:cs typeface="Meiryo UI"/>
              </a:rPr>
              <a:t>ポイント</a:t>
            </a:r>
          </a:p>
        </p:txBody>
      </p:sp>
      <p:sp>
        <p:nvSpPr>
          <p:cNvPr id="22" name="TextBox 21"/>
          <p:cNvSpPr txBox="1"/>
          <p:nvPr/>
        </p:nvSpPr>
        <p:spPr>
          <a:xfrm>
            <a:off x="1920240" y="5175504"/>
            <a:ext cx="6949440" cy="109728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決済（としポ）への到達速度を損なわない構成とし、ポイント機能は広島市モードに搭載しない</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メニュー・アイコン・遷移先はアプリ改修なしに管理画面から変更できる（Firebase Remote Config等を活用）</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防災は初年度リンク設置から開始し、R9年度以降に「避難所へGo!」同等機能の内製化へ段階的に拡張する</a:t>
            </a:r>
          </a:p>
        </p:txBody>
      </p:sp>
      <p:sp>
        <p:nvSpPr>
          <p:cNvPr id="23" name="TextBox 22"/>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576"/>
          <p:cNvSpPr txBox="1"/>
          <p:nvPr/>
        </p:nvSpPr>
        <p:spPr>
          <a:xfrm>
            <a:off x="269875" y="141288"/>
            <a:ext cx="8874125" cy="346074"/>
          </a:xfrm>
          <a:prstGeom prst="rect">
            <a:avLst/>
          </a:prstGeom>
          <a:noFill/>
          <a:ln>
            <a:noFill/>
          </a:ln>
        </p:spPr>
        <p:txBody>
          <a:bodyPr lIns="72000" tIns="72000" rIns="72000" bIns="72000" anchor="ctr" anchorCtr="0">
            <a:noAutofit/>
          </a:bodyPr>
          <a:lstStyle/>
          <a:p>
            <a:pPr>
              <a:buClr>
                <a:schemeClr val="dk1"/>
              </a:buClr>
              <a:buSzPct val="25000"/>
            </a:pPr>
            <a:r>
              <a:rPr lang="ja-JP" altLang="en-US" sz="2000" b="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3．4要件の全体整理｜目的・背景／実現方針／今回のスコープ外</a:t>
            </a:r>
            <a:endParaRPr lang="ja-JP" altLang="en-US" sz="2000" b="0" dirty="0">
              <a:solidFill>
                <a:schemeClr val="dk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TextBox 2"/>
          <p:cNvSpPr txBox="1"/>
          <p:nvPr/>
        </p:nvSpPr>
        <p:spPr>
          <a:xfrm>
            <a:off x="274320" y="603504"/>
            <a:ext cx="8595359" cy="360850"/>
          </a:xfrm>
          <a:prstGeom prst="rect">
            <a:avLst/>
          </a:prstGeom>
          <a:noFill/>
        </p:spPr>
        <p:txBody>
          <a:bodyPr wrap="square" lIns="72000" tIns="72000" rIns="72000" bIns="72000" anchor="t">
            <a:spAutoFit/>
          </a:bodyPr>
          <a:lstStyle/>
          <a:p>
            <a:pPr algn="l"/>
            <a:r>
              <a:rPr b="0" dirty="0">
                <a:solidFill>
                  <a:srgbClr val="262626"/>
                </a:solidFill>
                <a:latin typeface="Meiryo UI"/>
                <a:ea typeface="Meiryo UI"/>
              </a:rPr>
              <a:t>4要件とも、としポ基盤（広島市モード）を土台に、既存資産の活用と導線提供を基本方針とします。</a:t>
            </a:r>
            <a:endParaRPr b="0" dirty="0">
              <a:solidFill>
                <a:srgbClr val="262626"/>
              </a:solidFill>
              <a:latin typeface="Meiryo UI"/>
              <a:ea typeface="Meiryo UI"/>
            </a:endParaRPr>
          </a:p>
        </p:txBody>
      </p:sp>
      <p:sp>
        <p:nvSpPr>
          <p:cNvPr id="4" name="Rectangle 3"/>
          <p:cNvSpPr/>
          <p:nvPr/>
        </p:nvSpPr>
        <p:spPr>
          <a:xfrm>
            <a:off x="274320" y="1280160"/>
            <a:ext cx="1005840" cy="347472"/>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要件</a:t>
            </a:r>
          </a:p>
        </p:txBody>
      </p:sp>
      <p:sp>
        <p:nvSpPr>
          <p:cNvPr id="5" name="Rectangle 4"/>
          <p:cNvSpPr/>
          <p:nvPr/>
        </p:nvSpPr>
        <p:spPr>
          <a:xfrm>
            <a:off x="1280160" y="1280160"/>
            <a:ext cx="2377440" cy="347472"/>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実現する目的・背景</a:t>
            </a:r>
          </a:p>
        </p:txBody>
      </p:sp>
      <p:sp>
        <p:nvSpPr>
          <p:cNvPr id="6" name="Rectangle 5"/>
          <p:cNvSpPr/>
          <p:nvPr/>
        </p:nvSpPr>
        <p:spPr>
          <a:xfrm>
            <a:off x="3657600" y="1280160"/>
            <a:ext cx="2697480" cy="347472"/>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実現方針</a:t>
            </a:r>
          </a:p>
        </p:txBody>
      </p:sp>
      <p:sp>
        <p:nvSpPr>
          <p:cNvPr id="7" name="Rectangle 6"/>
          <p:cNvSpPr/>
          <p:nvPr/>
        </p:nvSpPr>
        <p:spPr>
          <a:xfrm>
            <a:off x="6355080" y="1280160"/>
            <a:ext cx="2514600" cy="347472"/>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今回のスコープ外（将来拡張として想定）</a:t>
            </a:r>
          </a:p>
        </p:txBody>
      </p:sp>
      <p:sp>
        <p:nvSpPr>
          <p:cNvPr id="8" name="Rectangle 7"/>
          <p:cNvSpPr/>
          <p:nvPr/>
        </p:nvSpPr>
        <p:spPr>
          <a:xfrm>
            <a:off x="274320" y="1627631"/>
            <a:ext cx="1005840" cy="13716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lang="en-US" altLang="ja-JP" sz="1100" b="0" dirty="0">
                <a:solidFill>
                  <a:srgbClr val="00587A"/>
                </a:solidFill>
                <a:latin typeface="Meiryo UI"/>
                <a:ea typeface="Meiryo UI"/>
              </a:rPr>
              <a:t>A.</a:t>
            </a:r>
          </a:p>
          <a:p>
            <a:pPr algn="ctr"/>
            <a:r>
              <a:rPr sz="1100" b="0" dirty="0" err="1">
                <a:solidFill>
                  <a:srgbClr val="00587A"/>
                </a:solidFill>
                <a:latin typeface="Meiryo UI"/>
                <a:ea typeface="Meiryo UI"/>
              </a:rPr>
              <a:t>広島市モード</a:t>
            </a:r>
            <a:endParaRPr sz="1100" b="0" dirty="0">
              <a:solidFill>
                <a:srgbClr val="00587A"/>
              </a:solidFill>
              <a:latin typeface="Meiryo UI"/>
              <a:ea typeface="Meiryo UI"/>
            </a:endParaRPr>
          </a:p>
        </p:txBody>
      </p:sp>
      <p:sp>
        <p:nvSpPr>
          <p:cNvPr id="9" name="Rectangle 8"/>
          <p:cNvSpPr/>
          <p:nvPr/>
        </p:nvSpPr>
        <p:spPr>
          <a:xfrm>
            <a:off x="1280160" y="1627631"/>
            <a:ext cx="237744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分散した市サービス・情報を一元集約し、必要な情報を必要なタイミングで届ける統合ポータルを実現する</a:t>
            </a:r>
          </a:p>
        </p:txBody>
      </p:sp>
      <p:sp>
        <p:nvSpPr>
          <p:cNvPr id="10" name="Rectangle 9"/>
          <p:cNvSpPr/>
          <p:nvPr/>
        </p:nvSpPr>
        <p:spPr>
          <a:xfrm>
            <a:off x="3657600" y="1627631"/>
            <a:ext cx="269748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としポ基盤上にマルチテナント方式で構築</a:t>
            </a:r>
          </a:p>
          <a:p>
            <a:pPr algn="l"/>
            <a:r>
              <a:rPr sz="1050" b="0">
                <a:solidFill>
                  <a:srgbClr val="262626"/>
                </a:solidFill>
                <a:latin typeface="Meiryo UI"/>
                <a:ea typeface="Meiryo UI"/>
              </a:rPr>
              <a:t>利用はアカウント設定でon／off（将来的にはマイナ認証などに拡張）</a:t>
            </a:r>
          </a:p>
          <a:p>
            <a:pPr algn="l"/>
            <a:r>
              <a:rPr sz="1050" b="0">
                <a:solidFill>
                  <a:srgbClr val="262626"/>
                </a:solidFill>
                <a:latin typeface="Meiryo UI"/>
                <a:ea typeface="Meiryo UI"/>
              </a:rPr>
              <a:t>決済機能へのアクセス迅速性を損なわない</a:t>
            </a:r>
          </a:p>
        </p:txBody>
      </p:sp>
      <p:sp>
        <p:nvSpPr>
          <p:cNvPr id="11" name="Rectangle 10"/>
          <p:cNvSpPr/>
          <p:nvPr/>
        </p:nvSpPr>
        <p:spPr>
          <a:xfrm>
            <a:off x="6355080" y="1627631"/>
            <a:ext cx="251460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広島市モード特有のポイントやマネー・商品券といったサービス提供</a:t>
            </a:r>
          </a:p>
          <a:p>
            <a:pPr algn="l"/>
            <a:r>
              <a:rPr sz="1050" b="0">
                <a:solidFill>
                  <a:srgbClr val="262626"/>
                </a:solidFill>
                <a:latin typeface="Meiryo UI"/>
                <a:ea typeface="Meiryo UI"/>
              </a:rPr>
              <a:t>属性情報や行動履歴ベースのレコメンド・パーソナライズ</a:t>
            </a:r>
          </a:p>
          <a:p>
            <a:pPr algn="l"/>
            <a:r>
              <a:rPr sz="1050" b="0">
                <a:solidFill>
                  <a:srgbClr val="262626"/>
                </a:solidFill>
                <a:latin typeface="Meiryo UI"/>
                <a:ea typeface="Meiryo UI"/>
              </a:rPr>
              <a:t>マイナンバーカード連携などによる広島市モード利用者の厳密化</a:t>
            </a:r>
          </a:p>
        </p:txBody>
      </p:sp>
      <p:sp>
        <p:nvSpPr>
          <p:cNvPr id="12" name="Rectangle 11"/>
          <p:cNvSpPr/>
          <p:nvPr/>
        </p:nvSpPr>
        <p:spPr>
          <a:xfrm>
            <a:off x="274320" y="2999232"/>
            <a:ext cx="1005840" cy="86868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lang="en-US" altLang="ja-JP" sz="1100" dirty="0">
                <a:solidFill>
                  <a:srgbClr val="00587A"/>
                </a:solidFill>
                <a:latin typeface="Meiryo UI"/>
                <a:ea typeface="Meiryo UI"/>
              </a:rPr>
              <a:t>B.</a:t>
            </a:r>
            <a:endParaRPr lang="en-US" altLang="ja-JP" sz="1100" b="0" dirty="0">
              <a:solidFill>
                <a:srgbClr val="00587A"/>
              </a:solidFill>
              <a:latin typeface="Meiryo UI"/>
              <a:ea typeface="Meiryo UI"/>
            </a:endParaRPr>
          </a:p>
          <a:p>
            <a:pPr algn="ctr"/>
            <a:r>
              <a:rPr sz="1100" b="0" dirty="0" err="1">
                <a:solidFill>
                  <a:srgbClr val="00587A"/>
                </a:solidFill>
                <a:latin typeface="Meiryo UI"/>
                <a:ea typeface="Meiryo UI"/>
              </a:rPr>
              <a:t>電子申請</a:t>
            </a:r>
            <a:endParaRPr sz="1100" b="0" dirty="0">
              <a:solidFill>
                <a:srgbClr val="00587A"/>
              </a:solidFill>
              <a:latin typeface="Meiryo UI"/>
              <a:ea typeface="Meiryo UI"/>
            </a:endParaRPr>
          </a:p>
        </p:txBody>
      </p:sp>
      <p:sp>
        <p:nvSpPr>
          <p:cNvPr id="13" name="Rectangle 12"/>
          <p:cNvSpPr/>
          <p:nvPr/>
        </p:nvSpPr>
        <p:spPr>
          <a:xfrm>
            <a:off x="1280160" y="2999232"/>
            <a:ext cx="2377440" cy="86868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アプリを申請手続の入口として集約し、双方向コミュニケーション円滑化の第一歩とする</a:t>
            </a:r>
          </a:p>
        </p:txBody>
      </p:sp>
      <p:sp>
        <p:nvSpPr>
          <p:cNvPr id="14" name="Rectangle 13"/>
          <p:cNvSpPr/>
          <p:nvPr/>
        </p:nvSpPr>
        <p:spPr>
          <a:xfrm>
            <a:off x="3657600" y="2999232"/>
            <a:ext cx="2697480" cy="86868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既存の「広島市オンライン手続ポータルサイト」への導線提供</a:t>
            </a:r>
          </a:p>
        </p:txBody>
      </p:sp>
      <p:sp>
        <p:nvSpPr>
          <p:cNvPr id="15" name="Rectangle 14"/>
          <p:cNvSpPr/>
          <p:nvPr/>
        </p:nvSpPr>
        <p:spPr>
          <a:xfrm>
            <a:off x="6355080" y="2999232"/>
            <a:ext cx="2514600" cy="86868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API連携などとしぽアプリで完結可能とした機能の提供（将来想定）</a:t>
            </a:r>
          </a:p>
        </p:txBody>
      </p:sp>
      <p:sp>
        <p:nvSpPr>
          <p:cNvPr id="16" name="Rectangle 15"/>
          <p:cNvSpPr/>
          <p:nvPr/>
        </p:nvSpPr>
        <p:spPr>
          <a:xfrm>
            <a:off x="274320" y="3867911"/>
            <a:ext cx="1005840" cy="13716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lang="en-US" altLang="ja-JP" sz="1100" b="0" dirty="0">
                <a:solidFill>
                  <a:srgbClr val="00587A"/>
                </a:solidFill>
                <a:latin typeface="Meiryo UI"/>
                <a:ea typeface="Meiryo UI"/>
              </a:rPr>
              <a:t>C.</a:t>
            </a:r>
          </a:p>
          <a:p>
            <a:pPr algn="ctr"/>
            <a:r>
              <a:rPr sz="1100" b="0" dirty="0" err="1">
                <a:solidFill>
                  <a:srgbClr val="00587A"/>
                </a:solidFill>
                <a:latin typeface="Meiryo UI"/>
                <a:ea typeface="Meiryo UI"/>
              </a:rPr>
              <a:t>広報</a:t>
            </a:r>
            <a:endParaRPr sz="1100" b="0" dirty="0">
              <a:solidFill>
                <a:srgbClr val="00587A"/>
              </a:solidFill>
              <a:latin typeface="Meiryo UI"/>
              <a:ea typeface="Meiryo UI"/>
            </a:endParaRPr>
          </a:p>
        </p:txBody>
      </p:sp>
      <p:sp>
        <p:nvSpPr>
          <p:cNvPr id="17" name="Rectangle 16"/>
          <p:cNvSpPr/>
          <p:nvPr/>
        </p:nvSpPr>
        <p:spPr>
          <a:xfrm>
            <a:off x="1280160" y="3867911"/>
            <a:ext cx="237744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広報紙をアプリ上で表示・閲覧可能にし、市政情報への日常的な接点をつくる</a:t>
            </a:r>
          </a:p>
        </p:txBody>
      </p:sp>
      <p:sp>
        <p:nvSpPr>
          <p:cNvPr id="18" name="Rectangle 17"/>
          <p:cNvSpPr/>
          <p:nvPr/>
        </p:nvSpPr>
        <p:spPr>
          <a:xfrm>
            <a:off x="3657600" y="3867911"/>
            <a:ext cx="269748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PDFの広報紙をアプリ内で参照可能とする（過去分含め）</a:t>
            </a:r>
          </a:p>
          <a:p>
            <a:pPr algn="l"/>
            <a:r>
              <a:rPr sz="1050" b="0">
                <a:solidFill>
                  <a:srgbClr val="262626"/>
                </a:solidFill>
                <a:latin typeface="Meiryo UI"/>
                <a:ea typeface="Meiryo UI"/>
              </a:rPr>
              <a:t>住所情報に基づき表示対象をデフォルト選定（変更可）</a:t>
            </a:r>
          </a:p>
          <a:p>
            <a:pPr algn="l"/>
            <a:r>
              <a:rPr sz="1050" b="0">
                <a:solidFill>
                  <a:srgbClr val="262626"/>
                </a:solidFill>
                <a:latin typeface="Meiryo UI"/>
                <a:ea typeface="Meiryo UI"/>
              </a:rPr>
              <a:t>PDF閲覧時のセキュリティ配慮（外部ファイル起因のリスク対策）</a:t>
            </a:r>
          </a:p>
        </p:txBody>
      </p:sp>
      <p:sp>
        <p:nvSpPr>
          <p:cNvPr id="19" name="Rectangle 18"/>
          <p:cNvSpPr/>
          <p:nvPr/>
        </p:nvSpPr>
        <p:spPr>
          <a:xfrm>
            <a:off x="6355080" y="3867911"/>
            <a:ext cx="251460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紙面のHTML化・記事単位の再構成やRSS連携</a:t>
            </a:r>
          </a:p>
          <a:p>
            <a:pPr algn="l"/>
            <a:r>
              <a:rPr sz="1050" b="0">
                <a:solidFill>
                  <a:srgbClr val="262626"/>
                </a:solidFill>
                <a:latin typeface="Meiryo UI"/>
                <a:ea typeface="Meiryo UI"/>
              </a:rPr>
              <a:t>本文の翻訳掲載</a:t>
            </a:r>
          </a:p>
          <a:p>
            <a:pPr algn="l"/>
            <a:r>
              <a:rPr sz="1050" b="0">
                <a:solidFill>
                  <a:srgbClr val="262626"/>
                </a:solidFill>
                <a:latin typeface="Meiryo UI"/>
                <a:ea typeface="Meiryo UI"/>
              </a:rPr>
              <a:t>アクセシビリティ（文字サイズ・読み上げ）への対応</a:t>
            </a:r>
          </a:p>
        </p:txBody>
      </p:sp>
      <p:sp>
        <p:nvSpPr>
          <p:cNvPr id="20" name="Rectangle 19"/>
          <p:cNvSpPr/>
          <p:nvPr/>
        </p:nvSpPr>
        <p:spPr>
          <a:xfrm>
            <a:off x="274320" y="5239512"/>
            <a:ext cx="1005840" cy="10698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100" b="0" dirty="0">
                <a:solidFill>
                  <a:srgbClr val="00587A"/>
                </a:solidFill>
                <a:latin typeface="Meiryo UI"/>
                <a:ea typeface="Meiryo UI"/>
              </a:rPr>
              <a:t>D.</a:t>
            </a:r>
          </a:p>
          <a:p>
            <a:pPr algn="ctr"/>
            <a:r>
              <a:rPr sz="1100" b="0" dirty="0" err="1">
                <a:solidFill>
                  <a:srgbClr val="00587A"/>
                </a:solidFill>
                <a:latin typeface="Meiryo UI"/>
                <a:ea typeface="Meiryo UI"/>
              </a:rPr>
              <a:t>防災</a:t>
            </a:r>
            <a:endParaRPr sz="1100" b="0" dirty="0">
              <a:solidFill>
                <a:srgbClr val="00587A"/>
              </a:solidFill>
              <a:latin typeface="Meiryo UI"/>
              <a:ea typeface="Meiryo UI"/>
            </a:endParaRPr>
          </a:p>
          <a:p>
            <a:pPr algn="ctr"/>
            <a:r>
              <a:rPr sz="1100" b="0" dirty="0">
                <a:solidFill>
                  <a:srgbClr val="00587A"/>
                </a:solidFill>
                <a:latin typeface="Meiryo UI"/>
                <a:ea typeface="Meiryo UI"/>
              </a:rPr>
              <a:t>（</a:t>
            </a:r>
            <a:r>
              <a:rPr sz="1100" b="0" dirty="0" err="1">
                <a:solidFill>
                  <a:srgbClr val="00587A"/>
                </a:solidFill>
                <a:latin typeface="Meiryo UI"/>
                <a:ea typeface="Meiryo UI"/>
              </a:rPr>
              <a:t>避難所へ</a:t>
            </a:r>
            <a:r>
              <a:rPr lang="en" sz="1100" b="0" dirty="0">
                <a:solidFill>
                  <a:srgbClr val="00587A"/>
                </a:solidFill>
                <a:latin typeface="Meiryo UI"/>
                <a:ea typeface="Meiryo UI"/>
              </a:rPr>
              <a:t>G</a:t>
            </a:r>
            <a:r>
              <a:rPr sz="1100" b="0" dirty="0">
                <a:solidFill>
                  <a:srgbClr val="00587A"/>
                </a:solidFill>
                <a:latin typeface="Meiryo UI"/>
                <a:ea typeface="Meiryo UI"/>
              </a:rPr>
              <a:t>o!）</a:t>
            </a:r>
          </a:p>
        </p:txBody>
      </p:sp>
      <p:sp>
        <p:nvSpPr>
          <p:cNvPr id="21" name="Rectangle 20"/>
          <p:cNvSpPr/>
          <p:nvPr/>
        </p:nvSpPr>
        <p:spPr>
          <a:xfrm>
            <a:off x="1280160" y="5239512"/>
            <a:ext cx="2377440" cy="10698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既存の避難誘導アプリ「避難所へGo!」への入口を提供し、将来的な拡張の足がかりとする</a:t>
            </a:r>
          </a:p>
        </p:txBody>
      </p:sp>
      <p:sp>
        <p:nvSpPr>
          <p:cNvPr id="22" name="Rectangle 21"/>
          <p:cNvSpPr/>
          <p:nvPr/>
        </p:nvSpPr>
        <p:spPr>
          <a:xfrm>
            <a:off x="3657600" y="5239512"/>
            <a:ext cx="2697480" cy="10698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外部アプリ連携＋未インストール時はアプリストアへ誘導</a:t>
            </a:r>
          </a:p>
        </p:txBody>
      </p:sp>
      <p:sp>
        <p:nvSpPr>
          <p:cNvPr id="23" name="Rectangle 22"/>
          <p:cNvSpPr/>
          <p:nvPr/>
        </p:nvSpPr>
        <p:spPr>
          <a:xfrm>
            <a:off x="6355080" y="5239512"/>
            <a:ext cx="2514600" cy="10698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50" b="0">
                <a:solidFill>
                  <a:srgbClr val="262626"/>
                </a:solidFill>
                <a:latin typeface="Meiryo UI"/>
                <a:ea typeface="Meiryo UI"/>
              </a:rPr>
              <a:t>としぽアプリにおける防災関連機能の実装</a:t>
            </a:r>
          </a:p>
          <a:p>
            <a:pPr algn="l"/>
            <a:r>
              <a:rPr sz="1050" b="0">
                <a:solidFill>
                  <a:srgbClr val="262626"/>
                </a:solidFill>
                <a:latin typeface="Meiryo UI"/>
                <a:ea typeface="Meiryo UI"/>
              </a:rPr>
              <a:t>当該アプリとの機能連携や機能拡張</a:t>
            </a:r>
          </a:p>
          <a:p>
            <a:pPr algn="l"/>
            <a:r>
              <a:rPr sz="1050" b="0">
                <a:solidFill>
                  <a:srgbClr val="262626"/>
                </a:solidFill>
                <a:latin typeface="Meiryo UI"/>
                <a:ea typeface="Meiryo UI"/>
              </a:rPr>
              <a:t>※どちらも将来想定</a:t>
            </a:r>
          </a:p>
        </p:txBody>
      </p:sp>
      <p:sp>
        <p:nvSpPr>
          <p:cNvPr id="24" name="TextBox 23"/>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65176" y="2651760"/>
            <a:ext cx="8613648" cy="45720"/>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 name="TextBox 2"/>
          <p:cNvSpPr txBox="1"/>
          <p:nvPr/>
        </p:nvSpPr>
        <p:spPr>
          <a:xfrm>
            <a:off x="265176" y="2834640"/>
            <a:ext cx="8613648" cy="566928"/>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3200" b="0">
                <a:solidFill>
                  <a:srgbClr val="000000"/>
                </a:solidFill>
                <a:latin typeface="Meiryo UI"/>
                <a:ea typeface="Meiryo UI"/>
                <a:cs typeface="Meiryo UI"/>
              </a:rPr>
              <a:t>4．機能概要と利用フロー</a:t>
            </a:r>
          </a:p>
        </p:txBody>
      </p:sp>
      <p:sp>
        <p:nvSpPr>
          <p:cNvPr id="4" name="TextBox 3"/>
          <p:cNvSpPr txBox="1"/>
          <p:nvPr/>
        </p:nvSpPr>
        <p:spPr>
          <a:xfrm>
            <a:off x="265176" y="3520440"/>
            <a:ext cx="8613648" cy="36576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400" b="0">
                <a:solidFill>
                  <a:srgbClr val="00587A"/>
                </a:solidFill>
                <a:latin typeface="Meiryo UI"/>
                <a:ea typeface="Meiryo UI"/>
                <a:cs typeface="Meiryo UI"/>
              </a:rPr>
              <a:t>A．広島市モード／B．電子申請／C．広報／D．防災</a:t>
            </a:r>
          </a:p>
        </p:txBody>
      </p:sp>
      <p:sp>
        <p:nvSpPr>
          <p:cNvPr id="5" name="TextBox 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576"/>
          <p:cNvSpPr txBox="1"/>
          <p:nvPr/>
        </p:nvSpPr>
        <p:spPr>
          <a:xfrm>
            <a:off x="269875" y="141288"/>
            <a:ext cx="8874125" cy="346074"/>
          </a:xfrm>
          <a:prstGeom prst="rect">
            <a:avLst/>
          </a:prstGeom>
          <a:noFill/>
          <a:ln>
            <a:noFill/>
          </a:ln>
        </p:spPr>
        <p:txBody>
          <a:bodyPr lIns="72000" tIns="72000" rIns="72000" bIns="72000" anchor="ctr" anchorCtr="0">
            <a:noAutofit/>
          </a:bodyPr>
          <a:lstStyle/>
          <a:p>
            <a:pPr>
              <a:buClr>
                <a:schemeClr val="dk1"/>
              </a:buClr>
              <a:buSzPct val="25000"/>
            </a:pPr>
            <a:r>
              <a:rPr lang="en-US" altLang="ja-JP" sz="2000" b="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4-1．A．広島市モード／B．電子申請／D．防災｜機能概要と利用フロー</a:t>
            </a:r>
          </a:p>
        </p:txBody>
      </p:sp>
      <p:sp>
        <p:nvSpPr>
          <p:cNvPr id="3" name="TextBox 2"/>
          <p:cNvSpPr txBox="1"/>
          <p:nvPr/>
        </p:nvSpPr>
        <p:spPr>
          <a:xfrm>
            <a:off x="274320" y="603504"/>
            <a:ext cx="8595359" cy="360850"/>
          </a:xfrm>
          <a:prstGeom prst="rect">
            <a:avLst/>
          </a:prstGeom>
          <a:noFill/>
        </p:spPr>
        <p:txBody>
          <a:bodyPr wrap="square" lIns="72000" tIns="72000" rIns="72000" bIns="72000" anchor="t">
            <a:spAutoFit/>
          </a:bodyPr>
          <a:lstStyle/>
          <a:p>
            <a:pPr algn="l"/>
            <a:r>
              <a:rPr b="0">
                <a:solidFill>
                  <a:srgbClr val="262626"/>
                </a:solidFill>
                <a:latin typeface="Meiryo UI"/>
                <a:ea typeface="Meiryo UI"/>
              </a:rPr>
              <a:t>利用設定を起点にホーム（統合ポータル）から各サービスへ誘導し、配信・分析までを一体で運用します。</a:t>
            </a:r>
          </a:p>
        </p:txBody>
      </p:sp>
      <p:sp>
        <p:nvSpPr>
          <p:cNvPr id="4" name="TextBox 3"/>
          <p:cNvSpPr txBox="1"/>
          <p:nvPr/>
        </p:nvSpPr>
        <p:spPr>
          <a:xfrm>
            <a:off x="274320" y="1200320"/>
            <a:ext cx="4572000" cy="360850"/>
          </a:xfrm>
          <a:prstGeom prst="rect">
            <a:avLst/>
          </a:prstGeom>
          <a:noFill/>
        </p:spPr>
        <p:txBody>
          <a:bodyPr wrap="square" lIns="72000" tIns="72000" rIns="72000" bIns="72000" anchor="ctr">
            <a:spAutoFit/>
          </a:bodyPr>
          <a:lstStyle/>
          <a:p>
            <a:pPr algn="l"/>
            <a:r>
              <a:rPr b="0" dirty="0" err="1">
                <a:solidFill>
                  <a:srgbClr val="262626"/>
                </a:solidFill>
                <a:latin typeface="Meiryo UI"/>
                <a:ea typeface="Meiryo UI"/>
              </a:rPr>
              <a:t>利用フロ</a:t>
            </a:r>
            <a:r>
              <a:rPr b="0" dirty="0">
                <a:solidFill>
                  <a:srgbClr val="262626"/>
                </a:solidFill>
                <a:latin typeface="Meiryo UI"/>
                <a:ea typeface="Meiryo UI"/>
              </a:rPr>
              <a:t>ー（</a:t>
            </a:r>
            <a:r>
              <a:rPr b="0" dirty="0" err="1">
                <a:solidFill>
                  <a:srgbClr val="262626"/>
                </a:solidFill>
                <a:latin typeface="Meiryo UI"/>
                <a:ea typeface="Meiryo UI"/>
              </a:rPr>
              <a:t>アプリ利用者×バックオフィス</a:t>
            </a:r>
            <a:r>
              <a:rPr b="0" dirty="0">
                <a:solidFill>
                  <a:srgbClr val="262626"/>
                </a:solidFill>
                <a:latin typeface="Meiryo UI"/>
                <a:ea typeface="Meiryo UI"/>
              </a:rPr>
              <a:t>）</a:t>
            </a:r>
          </a:p>
        </p:txBody>
      </p:sp>
      <p:sp>
        <p:nvSpPr>
          <p:cNvPr id="5" name="Rectangle 4"/>
          <p:cNvSpPr/>
          <p:nvPr/>
        </p:nvSpPr>
        <p:spPr>
          <a:xfrm>
            <a:off x="274320" y="1572768"/>
            <a:ext cx="914400" cy="822960"/>
          </a:xfrm>
          <a:prstGeom prst="rect">
            <a:avLst/>
          </a:prstGeom>
          <a:solidFill>
            <a:srgbClr val="00587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アプリ</a:t>
            </a:r>
          </a:p>
          <a:p>
            <a:pPr algn="ctr"/>
            <a:r>
              <a:rPr sz="1200" b="0">
                <a:solidFill>
                  <a:srgbClr val="FFFFFF"/>
                </a:solidFill>
                <a:latin typeface="Meiryo UI"/>
                <a:ea typeface="Meiryo UI"/>
              </a:rPr>
              <a:t>利用者</a:t>
            </a:r>
          </a:p>
        </p:txBody>
      </p:sp>
      <p:sp>
        <p:nvSpPr>
          <p:cNvPr id="8" name="Rectangle 7"/>
          <p:cNvSpPr/>
          <p:nvPr/>
        </p:nvSpPr>
        <p:spPr>
          <a:xfrm>
            <a:off x="2843784" y="1572768"/>
            <a:ext cx="1371600"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262626"/>
                </a:solidFill>
                <a:latin typeface="Meiryo UI"/>
                <a:ea typeface="Meiryo UI"/>
              </a:rPr>
              <a:t>②広島市モード</a:t>
            </a:r>
          </a:p>
          <a:p>
            <a:pPr algn="ctr"/>
            <a:r>
              <a:rPr sz="1200" b="0">
                <a:solidFill>
                  <a:srgbClr val="262626"/>
                </a:solidFill>
                <a:latin typeface="Meiryo UI"/>
                <a:ea typeface="Meiryo UI"/>
              </a:rPr>
              <a:t>設定ON・属性登録</a:t>
            </a:r>
          </a:p>
        </p:txBody>
      </p:sp>
      <p:sp>
        <p:nvSpPr>
          <p:cNvPr id="9" name="Right Arrow 8"/>
          <p:cNvSpPr/>
          <p:nvPr/>
        </p:nvSpPr>
        <p:spPr>
          <a:xfrm>
            <a:off x="4215383" y="1883664"/>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endParaRPr/>
          </a:p>
        </p:txBody>
      </p:sp>
      <p:sp>
        <p:nvSpPr>
          <p:cNvPr id="10" name="Rectangle 9"/>
          <p:cNvSpPr/>
          <p:nvPr/>
        </p:nvSpPr>
        <p:spPr>
          <a:xfrm>
            <a:off x="4361688" y="1572768"/>
            <a:ext cx="1371600"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dirty="0">
                <a:solidFill>
                  <a:srgbClr val="262626"/>
                </a:solidFill>
                <a:latin typeface="Meiryo UI"/>
                <a:ea typeface="Meiryo UI"/>
              </a:rPr>
              <a:t>③</a:t>
            </a:r>
            <a:endParaRPr lang="en-US" sz="1200" b="0" dirty="0">
              <a:solidFill>
                <a:srgbClr val="262626"/>
              </a:solidFill>
              <a:latin typeface="Meiryo UI"/>
              <a:ea typeface="Meiryo UI"/>
            </a:endParaRPr>
          </a:p>
          <a:p>
            <a:pPr algn="ctr"/>
            <a:r>
              <a:rPr sz="1200" b="0" dirty="0" err="1">
                <a:solidFill>
                  <a:srgbClr val="262626"/>
                </a:solidFill>
                <a:latin typeface="Meiryo UI"/>
                <a:ea typeface="Meiryo UI"/>
              </a:rPr>
              <a:t>ホームで</a:t>
            </a:r>
            <a:endParaRPr sz="1200" b="0" dirty="0">
              <a:solidFill>
                <a:srgbClr val="262626"/>
              </a:solidFill>
              <a:latin typeface="Meiryo UI"/>
              <a:ea typeface="Meiryo UI"/>
            </a:endParaRPr>
          </a:p>
          <a:p>
            <a:pPr algn="ctr"/>
            <a:r>
              <a:rPr sz="1200" b="0" dirty="0" err="1">
                <a:solidFill>
                  <a:srgbClr val="262626"/>
                </a:solidFill>
                <a:latin typeface="Meiryo UI"/>
                <a:ea typeface="Meiryo UI"/>
              </a:rPr>
              <a:t>メニュー表示</a:t>
            </a:r>
            <a:endParaRPr sz="1200" b="0" dirty="0">
              <a:solidFill>
                <a:srgbClr val="262626"/>
              </a:solidFill>
              <a:latin typeface="Meiryo UI"/>
              <a:ea typeface="Meiryo UI"/>
            </a:endParaRPr>
          </a:p>
        </p:txBody>
      </p:sp>
      <p:sp>
        <p:nvSpPr>
          <p:cNvPr id="11" name="Right Arrow 10"/>
          <p:cNvSpPr/>
          <p:nvPr/>
        </p:nvSpPr>
        <p:spPr>
          <a:xfrm>
            <a:off x="5733288" y="1883664"/>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endParaRPr/>
          </a:p>
        </p:txBody>
      </p:sp>
      <p:sp>
        <p:nvSpPr>
          <p:cNvPr id="12" name="Rectangle 11"/>
          <p:cNvSpPr/>
          <p:nvPr/>
        </p:nvSpPr>
        <p:spPr>
          <a:xfrm>
            <a:off x="5879592" y="1572768"/>
            <a:ext cx="1371600"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dirty="0">
                <a:solidFill>
                  <a:srgbClr val="262626"/>
                </a:solidFill>
                <a:latin typeface="Meiryo UI"/>
                <a:ea typeface="Meiryo UI"/>
              </a:rPr>
              <a:t>④</a:t>
            </a:r>
            <a:endParaRPr lang="en-US" sz="1200" b="0" dirty="0">
              <a:solidFill>
                <a:srgbClr val="262626"/>
              </a:solidFill>
              <a:latin typeface="Meiryo UI"/>
              <a:ea typeface="Meiryo UI"/>
            </a:endParaRPr>
          </a:p>
          <a:p>
            <a:pPr algn="ctr"/>
            <a:r>
              <a:rPr sz="1200" b="0" dirty="0" err="1">
                <a:solidFill>
                  <a:srgbClr val="262626"/>
                </a:solidFill>
                <a:latin typeface="Meiryo UI"/>
                <a:ea typeface="Meiryo UI"/>
              </a:rPr>
              <a:t>各サービス</a:t>
            </a:r>
            <a:endParaRPr sz="1200" b="0" dirty="0">
              <a:solidFill>
                <a:srgbClr val="262626"/>
              </a:solidFill>
              <a:latin typeface="Meiryo UI"/>
              <a:ea typeface="Meiryo UI"/>
            </a:endParaRPr>
          </a:p>
          <a:p>
            <a:pPr algn="ctr"/>
            <a:r>
              <a:rPr sz="1200" b="0" dirty="0" err="1">
                <a:solidFill>
                  <a:srgbClr val="262626"/>
                </a:solidFill>
                <a:latin typeface="Meiryo UI"/>
                <a:ea typeface="Meiryo UI"/>
              </a:rPr>
              <a:t>を利用</a:t>
            </a:r>
            <a:r>
              <a:rPr lang="ja-JP" altLang="en-US" sz="1200" b="0">
                <a:solidFill>
                  <a:srgbClr val="262626"/>
                </a:solidFill>
                <a:latin typeface="Meiryo UI"/>
                <a:ea typeface="Meiryo UI"/>
              </a:rPr>
              <a:t>・</a:t>
            </a:r>
            <a:endParaRPr lang="en-US" altLang="ja-JP" sz="1200" b="0" dirty="0">
              <a:solidFill>
                <a:srgbClr val="262626"/>
              </a:solidFill>
              <a:latin typeface="Meiryo UI"/>
              <a:ea typeface="Meiryo UI"/>
            </a:endParaRPr>
          </a:p>
          <a:p>
            <a:pPr algn="ctr"/>
            <a:r>
              <a:rPr lang="ja-JP" altLang="en-US" sz="1200" b="0">
                <a:solidFill>
                  <a:srgbClr val="262626"/>
                </a:solidFill>
                <a:latin typeface="Meiryo UI"/>
                <a:ea typeface="Meiryo UI"/>
              </a:rPr>
              <a:t>配信内容閲覧</a:t>
            </a:r>
            <a:endParaRPr sz="1200" b="0" dirty="0">
              <a:solidFill>
                <a:srgbClr val="262626"/>
              </a:solidFill>
              <a:latin typeface="Meiryo UI"/>
              <a:ea typeface="Meiryo UI"/>
            </a:endParaRPr>
          </a:p>
        </p:txBody>
      </p:sp>
      <p:sp>
        <p:nvSpPr>
          <p:cNvPr id="15" name="Rectangle 14"/>
          <p:cNvSpPr/>
          <p:nvPr/>
        </p:nvSpPr>
        <p:spPr>
          <a:xfrm>
            <a:off x="274320" y="2505456"/>
            <a:ext cx="914400" cy="822960"/>
          </a:xfrm>
          <a:prstGeom prst="rect">
            <a:avLst/>
          </a:prstGeom>
          <a:solidFill>
            <a:srgbClr val="00587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FFFFFF"/>
                </a:solidFill>
                <a:latin typeface="Meiryo UI"/>
                <a:ea typeface="Meiryo UI"/>
              </a:rPr>
              <a:t>バック</a:t>
            </a:r>
          </a:p>
          <a:p>
            <a:pPr algn="ctr"/>
            <a:r>
              <a:rPr sz="1200" b="0">
                <a:solidFill>
                  <a:srgbClr val="FFFFFF"/>
                </a:solidFill>
                <a:latin typeface="Meiryo UI"/>
                <a:ea typeface="Meiryo UI"/>
              </a:rPr>
              <a:t>オフィス</a:t>
            </a:r>
          </a:p>
        </p:txBody>
      </p:sp>
      <p:sp>
        <p:nvSpPr>
          <p:cNvPr id="16" name="Rectangle 15"/>
          <p:cNvSpPr/>
          <p:nvPr/>
        </p:nvSpPr>
        <p:spPr>
          <a:xfrm>
            <a:off x="1325880" y="2505456"/>
            <a:ext cx="1371600"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262626"/>
                </a:solidFill>
                <a:latin typeface="Meiryo UI"/>
                <a:ea typeface="Meiryo UI"/>
              </a:rPr>
              <a:t>①メニュー・</a:t>
            </a:r>
          </a:p>
          <a:p>
            <a:pPr algn="ctr"/>
            <a:r>
              <a:rPr sz="1200" b="0">
                <a:solidFill>
                  <a:srgbClr val="262626"/>
                </a:solidFill>
                <a:latin typeface="Meiryo UI"/>
                <a:ea typeface="Meiryo UI"/>
              </a:rPr>
              <a:t>コンテンツ登録</a:t>
            </a:r>
          </a:p>
        </p:txBody>
      </p:sp>
      <p:sp>
        <p:nvSpPr>
          <p:cNvPr id="22" name="Rectangle 21"/>
          <p:cNvSpPr/>
          <p:nvPr/>
        </p:nvSpPr>
        <p:spPr>
          <a:xfrm>
            <a:off x="5879592" y="2505456"/>
            <a:ext cx="1371600"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a:solidFill>
                  <a:srgbClr val="262626"/>
                </a:solidFill>
                <a:latin typeface="Meiryo UI"/>
                <a:ea typeface="Meiryo UI"/>
              </a:rPr>
              <a:t>④利用状況・</a:t>
            </a:r>
          </a:p>
          <a:p>
            <a:pPr algn="ctr"/>
            <a:r>
              <a:rPr sz="1200" b="0">
                <a:solidFill>
                  <a:srgbClr val="262626"/>
                </a:solidFill>
                <a:latin typeface="Meiryo UI"/>
                <a:ea typeface="Meiryo UI"/>
              </a:rPr>
              <a:t>KPI確認</a:t>
            </a:r>
          </a:p>
        </p:txBody>
      </p:sp>
      <p:sp>
        <p:nvSpPr>
          <p:cNvPr id="24" name="Rectangle 23"/>
          <p:cNvSpPr/>
          <p:nvPr/>
        </p:nvSpPr>
        <p:spPr>
          <a:xfrm>
            <a:off x="4356519" y="2505456"/>
            <a:ext cx="1371600"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lang="en-US" altLang="ja-JP" sz="1200" dirty="0">
                <a:solidFill>
                  <a:srgbClr val="262626"/>
                </a:solidFill>
                <a:latin typeface="Meiryo UI"/>
                <a:ea typeface="Meiryo UI"/>
              </a:rPr>
              <a:t>③</a:t>
            </a:r>
            <a:endParaRPr lang="ja-JP" altLang="en-US" sz="1200">
              <a:solidFill>
                <a:srgbClr val="262626"/>
              </a:solidFill>
              <a:latin typeface="Meiryo UI"/>
              <a:ea typeface="Meiryo UI"/>
            </a:endParaRPr>
          </a:p>
          <a:p>
            <a:pPr algn="ctr"/>
            <a:r>
              <a:rPr lang="ja-JP" altLang="en-US" sz="1200">
                <a:solidFill>
                  <a:srgbClr val="262626"/>
                </a:solidFill>
                <a:latin typeface="Meiryo UI"/>
                <a:ea typeface="Meiryo UI"/>
              </a:rPr>
              <a:t>お知らせ等の</a:t>
            </a:r>
          </a:p>
          <a:p>
            <a:pPr algn="ctr"/>
            <a:r>
              <a:rPr lang="ja-JP" altLang="en-US" sz="1200">
                <a:solidFill>
                  <a:srgbClr val="262626"/>
                </a:solidFill>
                <a:latin typeface="Meiryo UI"/>
                <a:ea typeface="Meiryo UI"/>
              </a:rPr>
              <a:t>承認・配信</a:t>
            </a:r>
            <a:endParaRPr lang="ja-JP" altLang="en-US" sz="1200" dirty="0">
              <a:solidFill>
                <a:srgbClr val="262626"/>
              </a:solidFill>
              <a:latin typeface="Meiryo UI"/>
              <a:ea typeface="Meiryo UI"/>
            </a:endParaRPr>
          </a:p>
        </p:txBody>
      </p:sp>
      <p:sp>
        <p:nvSpPr>
          <p:cNvPr id="25" name="Rectangle 24"/>
          <p:cNvSpPr/>
          <p:nvPr/>
        </p:nvSpPr>
        <p:spPr>
          <a:xfrm>
            <a:off x="274320" y="3566160"/>
            <a:ext cx="1554480" cy="121268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0">
                <a:solidFill>
                  <a:srgbClr val="FFFFFF"/>
                </a:solidFill>
                <a:latin typeface="Meiryo UI"/>
                <a:ea typeface="Meiryo UI"/>
              </a:rPr>
              <a:t>機能の</a:t>
            </a:r>
          </a:p>
          <a:p>
            <a:pPr algn="ctr"/>
            <a:r>
              <a:rPr sz="1600" b="0">
                <a:solidFill>
                  <a:srgbClr val="FFFFFF"/>
                </a:solidFill>
                <a:latin typeface="Meiryo UI"/>
                <a:ea typeface="Meiryo UI"/>
              </a:rPr>
              <a:t>ポイント</a:t>
            </a:r>
          </a:p>
        </p:txBody>
      </p:sp>
      <p:sp>
        <p:nvSpPr>
          <p:cNvPr id="26" name="TextBox 25"/>
          <p:cNvSpPr txBox="1"/>
          <p:nvPr/>
        </p:nvSpPr>
        <p:spPr>
          <a:xfrm>
            <a:off x="1920240" y="3566160"/>
            <a:ext cx="6949440" cy="1212686"/>
          </a:xfrm>
          <a:prstGeom prst="rect">
            <a:avLst/>
          </a:prstGeom>
          <a:noFill/>
        </p:spPr>
        <p:txBody>
          <a:bodyPr wrap="square" lIns="72000" tIns="72000" rIns="72000" bIns="72000" anchor="t">
            <a:spAutoFit/>
          </a:bodyPr>
          <a:lstStyle/>
          <a:p>
            <a:pPr marL="256032" indent="-219456">
              <a:lnSpc>
                <a:spcPct val="115000"/>
              </a:lnSpc>
              <a:spcBef>
                <a:spcPts val="0"/>
              </a:spcBef>
              <a:spcAft>
                <a:spcPts val="400"/>
              </a:spcAft>
              <a:buClr>
                <a:srgbClr val="0081AF"/>
              </a:buClr>
              <a:buSzPct val="55000"/>
              <a:buFont typeface="Arial"/>
              <a:buChar char="●"/>
            </a:pPr>
            <a:r>
              <a:rPr b="0" dirty="0" err="1">
                <a:solidFill>
                  <a:srgbClr val="262626"/>
                </a:solidFill>
                <a:latin typeface="Meiryo UI"/>
                <a:ea typeface="Meiryo UI"/>
              </a:rPr>
              <a:t>利用者属性（居住地）により、広島市民＝広島市モード／市民以外＝としポへシームレスに振り分ける</a:t>
            </a:r>
            <a:endParaRPr b="0" dirty="0">
              <a:solidFill>
                <a:srgbClr val="262626"/>
              </a:solidFill>
              <a:latin typeface="Meiryo UI"/>
              <a:ea typeface="Meiryo UI"/>
            </a:endParaRPr>
          </a:p>
          <a:p>
            <a:pPr marL="256032" indent="-219456">
              <a:lnSpc>
                <a:spcPct val="115000"/>
              </a:lnSpc>
              <a:spcBef>
                <a:spcPts val="0"/>
              </a:spcBef>
              <a:spcAft>
                <a:spcPts val="400"/>
              </a:spcAft>
              <a:buClr>
                <a:srgbClr val="0081AF"/>
              </a:buClr>
              <a:buSzPct val="55000"/>
              <a:buFont typeface="Arial"/>
              <a:buChar char="●"/>
            </a:pPr>
            <a:r>
              <a:rPr b="0" dirty="0" err="1">
                <a:solidFill>
                  <a:srgbClr val="262626"/>
                </a:solidFill>
                <a:latin typeface="Meiryo UI"/>
                <a:ea typeface="Meiryo UI"/>
              </a:rPr>
              <a:t>メニュー・アイコン・遷移先の変更はアプリ改修なしに管理画面から実施できる（項番89）</a:t>
            </a:r>
          </a:p>
          <a:p>
            <a:pPr marL="256032" indent="-219456">
              <a:lnSpc>
                <a:spcPct val="115000"/>
              </a:lnSpc>
              <a:spcBef>
                <a:spcPts val="0"/>
              </a:spcBef>
              <a:spcAft>
                <a:spcPts val="400"/>
              </a:spcAft>
              <a:buClr>
                <a:srgbClr val="0081AF"/>
              </a:buClr>
              <a:buSzPct val="55000"/>
              <a:buFont typeface="Arial"/>
              <a:buChar char="●"/>
            </a:pPr>
            <a:r>
              <a:rPr b="0" dirty="0" err="1">
                <a:solidFill>
                  <a:srgbClr val="262626"/>
                </a:solidFill>
                <a:latin typeface="Meiryo UI"/>
                <a:ea typeface="Meiryo UI"/>
              </a:rPr>
              <a:t>お知らせ配信は予約配信・承認フローに対応する</a:t>
            </a:r>
            <a:endParaRPr b="0" dirty="0">
              <a:solidFill>
                <a:srgbClr val="262626"/>
              </a:solidFill>
              <a:latin typeface="Meiryo UI"/>
              <a:ea typeface="Meiryo UI"/>
            </a:endParaRPr>
          </a:p>
        </p:txBody>
      </p:sp>
      <p:sp>
        <p:nvSpPr>
          <p:cNvPr id="27" name="TextBox 26"/>
          <p:cNvSpPr txBox="1"/>
          <p:nvPr/>
        </p:nvSpPr>
        <p:spPr>
          <a:xfrm>
            <a:off x="274320" y="4803365"/>
            <a:ext cx="8595360" cy="314683"/>
          </a:xfrm>
          <a:prstGeom prst="rect">
            <a:avLst/>
          </a:prstGeom>
          <a:noFill/>
        </p:spPr>
        <p:txBody>
          <a:bodyPr wrap="square" lIns="72000" tIns="72000" rIns="72000" bIns="72000" anchor="ctr">
            <a:spAutoFit/>
          </a:bodyPr>
          <a:lstStyle/>
          <a:p>
            <a:pPr algn="l"/>
            <a:r>
              <a:rPr sz="1100" b="0">
                <a:solidFill>
                  <a:srgbClr val="77888E"/>
                </a:solidFill>
                <a:latin typeface="Meiryo UI"/>
                <a:ea typeface="Meiryo UI"/>
              </a:rPr>
              <a:t>※ フロー・役割分担は現時点の想定であり、要件定義にて詳細を確定します。</a:t>
            </a:r>
          </a:p>
        </p:txBody>
      </p:sp>
      <p:sp>
        <p:nvSpPr>
          <p:cNvPr id="28" name="屈折矢印 27">
            <a:extLst>
              <a:ext uri="{FF2B5EF4-FFF2-40B4-BE49-F238E27FC236}">
                <a16:creationId xmlns:a16="http://schemas.microsoft.com/office/drawing/2014/main" id="{272C841F-4260-76CD-2624-47D5F15D2C5B}"/>
              </a:ext>
            </a:extLst>
          </p:cNvPr>
          <p:cNvSpPr/>
          <p:nvPr/>
        </p:nvSpPr>
        <p:spPr>
          <a:xfrm rot="5400000" flipH="1">
            <a:off x="1928547" y="1916866"/>
            <a:ext cx="458874" cy="425196"/>
          </a:xfrm>
          <a:prstGeom prst="bentUp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lang="ja-JP" altLang="en-US" sz="1800"/>
          </a:p>
        </p:txBody>
      </p:sp>
      <p:sp>
        <p:nvSpPr>
          <p:cNvPr id="17" name="Right Arrow 16"/>
          <p:cNvSpPr/>
          <p:nvPr/>
        </p:nvSpPr>
        <p:spPr>
          <a:xfrm rot="5400000">
            <a:off x="6492240" y="2383696"/>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endParaRPr/>
          </a:p>
        </p:txBody>
      </p:sp>
      <p:sp>
        <p:nvSpPr>
          <p:cNvPr id="23" name="Right Arrow 22"/>
          <p:cNvSpPr/>
          <p:nvPr/>
        </p:nvSpPr>
        <p:spPr>
          <a:xfrm rot="16200000">
            <a:off x="4969167" y="2383696"/>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endParaRPr/>
          </a:p>
        </p:txBody>
      </p:sp>
      <p:sp>
        <p:nvSpPr>
          <p:cNvPr id="29" name="TextBox 28"/>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576"/>
          <p:cNvSpPr txBox="1"/>
          <p:nvPr/>
        </p:nvSpPr>
        <p:spPr>
          <a:xfrm>
            <a:off x="269875" y="141288"/>
            <a:ext cx="8874125" cy="346074"/>
          </a:xfrm>
          <a:prstGeom prst="rect">
            <a:avLst/>
          </a:prstGeom>
          <a:noFill/>
          <a:ln>
            <a:noFill/>
          </a:ln>
        </p:spPr>
        <p:txBody>
          <a:bodyPr lIns="72000" tIns="72000" rIns="72000" bIns="72000" anchor="ctr" anchorCtr="0">
            <a:noAutofit/>
          </a:bodyPr>
          <a:lstStyle/>
          <a:p>
            <a:pPr>
              <a:buClr>
                <a:schemeClr val="dk1"/>
              </a:buClr>
              <a:buSzPct val="25000"/>
            </a:pPr>
            <a:r>
              <a:rPr lang="en-US" altLang="ja-JP" sz="2000" b="0" dirty="0">
                <a:solidFill>
                  <a:schemeClr val="dk1"/>
                </a:solidFill>
                <a:latin typeface="Meiryo UI" panose="020B0604030504040204" pitchFamily="50" charset="-128"/>
                <a:ea typeface="Meiryo UI" panose="020B0604030504040204" pitchFamily="50" charset="-128"/>
                <a:cs typeface="Meiryo UI" panose="020B0604030504040204" pitchFamily="50" charset="-128"/>
              </a:rPr>
              <a:t>4-2．C．広報｜機能概要と利用フロー</a:t>
            </a:r>
          </a:p>
        </p:txBody>
      </p:sp>
      <p:sp>
        <p:nvSpPr>
          <p:cNvPr id="3" name="TextBox 2"/>
          <p:cNvSpPr txBox="1"/>
          <p:nvPr/>
        </p:nvSpPr>
        <p:spPr>
          <a:xfrm>
            <a:off x="274320" y="603504"/>
            <a:ext cx="8595359" cy="360850"/>
          </a:xfrm>
          <a:prstGeom prst="rect">
            <a:avLst/>
          </a:prstGeom>
          <a:noFill/>
        </p:spPr>
        <p:txBody>
          <a:bodyPr wrap="square" lIns="72000" tIns="72000" rIns="72000" bIns="72000" anchor="t">
            <a:spAutoFit/>
          </a:bodyPr>
          <a:lstStyle/>
          <a:p>
            <a:pPr algn="l"/>
            <a:r>
              <a:rPr b="0" dirty="0" err="1">
                <a:solidFill>
                  <a:srgbClr val="262626"/>
                </a:solidFill>
                <a:latin typeface="Meiryo UI"/>
                <a:ea typeface="Meiryo UI"/>
              </a:rPr>
              <a:t>居住区の最新号をすぐ読める動線とし、入稿から公開・配信までを管理画面で完結させます。</a:t>
            </a:r>
          </a:p>
        </p:txBody>
      </p:sp>
      <p:sp>
        <p:nvSpPr>
          <p:cNvPr id="4" name="TextBox 3"/>
          <p:cNvSpPr txBox="1"/>
          <p:nvPr/>
        </p:nvSpPr>
        <p:spPr>
          <a:xfrm>
            <a:off x="274320" y="1200320"/>
            <a:ext cx="3197524" cy="360850"/>
          </a:xfrm>
          <a:prstGeom prst="rect">
            <a:avLst/>
          </a:prstGeom>
          <a:noFill/>
        </p:spPr>
        <p:txBody>
          <a:bodyPr wrap="none" lIns="72000" tIns="72000" rIns="72000" bIns="72000" anchor="ctr">
            <a:spAutoFit/>
          </a:bodyPr>
          <a:lstStyle/>
          <a:p>
            <a:pPr algn="l"/>
            <a:r>
              <a:rPr b="0" dirty="0" err="1">
                <a:solidFill>
                  <a:srgbClr val="262626"/>
                </a:solidFill>
                <a:latin typeface="Meiryo UI"/>
                <a:ea typeface="Meiryo UI"/>
              </a:rPr>
              <a:t>利用フロ</a:t>
            </a:r>
            <a:r>
              <a:rPr b="0" dirty="0">
                <a:solidFill>
                  <a:srgbClr val="262626"/>
                </a:solidFill>
                <a:latin typeface="Meiryo UI"/>
                <a:ea typeface="Meiryo UI"/>
              </a:rPr>
              <a:t>ー（</a:t>
            </a:r>
            <a:r>
              <a:rPr b="0" dirty="0" err="1">
                <a:solidFill>
                  <a:srgbClr val="262626"/>
                </a:solidFill>
                <a:latin typeface="Meiryo UI"/>
                <a:ea typeface="Meiryo UI"/>
              </a:rPr>
              <a:t>アプリ利用者×バックオフィス</a:t>
            </a:r>
            <a:r>
              <a:rPr b="0" dirty="0">
                <a:solidFill>
                  <a:srgbClr val="262626"/>
                </a:solidFill>
                <a:latin typeface="Meiryo UI"/>
                <a:ea typeface="Meiryo UI"/>
              </a:rPr>
              <a:t>）</a:t>
            </a:r>
          </a:p>
        </p:txBody>
      </p:sp>
      <p:sp>
        <p:nvSpPr>
          <p:cNvPr id="5" name="Rectangle 4"/>
          <p:cNvSpPr/>
          <p:nvPr/>
        </p:nvSpPr>
        <p:spPr>
          <a:xfrm>
            <a:off x="280019" y="1572768"/>
            <a:ext cx="624548" cy="822960"/>
          </a:xfrm>
          <a:prstGeom prst="rect">
            <a:avLst/>
          </a:prstGeom>
          <a:solidFill>
            <a:srgbClr val="00587A"/>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sz="1000" b="0">
                <a:solidFill>
                  <a:srgbClr val="FFFFFF"/>
                </a:solidFill>
                <a:latin typeface="Meiryo UI"/>
                <a:ea typeface="Meiryo UI"/>
              </a:rPr>
              <a:t>アプリ</a:t>
            </a:r>
          </a:p>
          <a:p>
            <a:pPr algn="ctr"/>
            <a:r>
              <a:rPr sz="1000" b="0">
                <a:solidFill>
                  <a:srgbClr val="FFFFFF"/>
                </a:solidFill>
                <a:latin typeface="Meiryo UI"/>
                <a:ea typeface="Meiryo UI"/>
              </a:rPr>
              <a:t>利用者</a:t>
            </a:r>
          </a:p>
        </p:txBody>
      </p:sp>
      <p:sp>
        <p:nvSpPr>
          <p:cNvPr id="6" name="Rectangle 5"/>
          <p:cNvSpPr/>
          <p:nvPr/>
        </p:nvSpPr>
        <p:spPr>
          <a:xfrm>
            <a:off x="3272294" y="1572768"/>
            <a:ext cx="936822"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dirty="0">
                <a:solidFill>
                  <a:srgbClr val="262626"/>
                </a:solidFill>
                <a:latin typeface="Meiryo UI"/>
                <a:ea typeface="Meiryo UI"/>
              </a:rPr>
              <a:t>④</a:t>
            </a:r>
          </a:p>
          <a:p>
            <a:pPr algn="ctr"/>
            <a:r>
              <a:rPr sz="1000" b="0" dirty="0" err="1">
                <a:solidFill>
                  <a:srgbClr val="262626"/>
                </a:solidFill>
                <a:latin typeface="Meiryo UI"/>
                <a:ea typeface="Meiryo UI"/>
              </a:rPr>
              <a:t>広報メニュ</a:t>
            </a:r>
            <a:r>
              <a:rPr sz="1000" b="0" dirty="0">
                <a:solidFill>
                  <a:srgbClr val="262626"/>
                </a:solidFill>
                <a:latin typeface="Meiryo UI"/>
                <a:ea typeface="Meiryo UI"/>
              </a:rPr>
              <a:t>ー</a:t>
            </a:r>
          </a:p>
          <a:p>
            <a:pPr algn="ctr"/>
            <a:r>
              <a:rPr sz="1000" b="0" dirty="0" err="1">
                <a:solidFill>
                  <a:srgbClr val="262626"/>
                </a:solidFill>
                <a:latin typeface="Meiryo UI"/>
                <a:ea typeface="Meiryo UI"/>
              </a:rPr>
              <a:t>を開く</a:t>
            </a:r>
            <a:endParaRPr sz="1000" b="0" dirty="0">
              <a:solidFill>
                <a:srgbClr val="262626"/>
              </a:solidFill>
              <a:latin typeface="Meiryo UI"/>
              <a:ea typeface="Meiryo UI"/>
            </a:endParaRPr>
          </a:p>
        </p:txBody>
      </p:sp>
      <p:sp>
        <p:nvSpPr>
          <p:cNvPr id="7" name="Right Arrow 6"/>
          <p:cNvSpPr/>
          <p:nvPr/>
        </p:nvSpPr>
        <p:spPr>
          <a:xfrm>
            <a:off x="4249411" y="1883664"/>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8" name="Rectangle 7"/>
          <p:cNvSpPr/>
          <p:nvPr/>
        </p:nvSpPr>
        <p:spPr>
          <a:xfrm>
            <a:off x="4436010" y="1572768"/>
            <a:ext cx="936822"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b="0" dirty="0">
                <a:solidFill>
                  <a:srgbClr val="262626"/>
                </a:solidFill>
                <a:latin typeface="Meiryo UI"/>
                <a:ea typeface="Meiryo UI"/>
              </a:rPr>
              <a:t>⑤</a:t>
            </a:r>
          </a:p>
          <a:p>
            <a:pPr algn="ctr"/>
            <a:r>
              <a:rPr sz="1000" b="0" dirty="0" err="1">
                <a:solidFill>
                  <a:srgbClr val="262626"/>
                </a:solidFill>
                <a:latin typeface="Meiryo UI"/>
                <a:ea typeface="Meiryo UI"/>
              </a:rPr>
              <a:t>居住区の</a:t>
            </a:r>
            <a:endParaRPr sz="1000" b="0" dirty="0">
              <a:solidFill>
                <a:srgbClr val="262626"/>
              </a:solidFill>
              <a:latin typeface="Meiryo UI"/>
              <a:ea typeface="Meiryo UI"/>
            </a:endParaRPr>
          </a:p>
          <a:p>
            <a:pPr algn="ctr"/>
            <a:r>
              <a:rPr sz="1000" b="0" dirty="0" err="1">
                <a:solidFill>
                  <a:srgbClr val="262626"/>
                </a:solidFill>
                <a:latin typeface="Meiryo UI"/>
                <a:ea typeface="Meiryo UI"/>
              </a:rPr>
              <a:t>最新号を表示</a:t>
            </a:r>
            <a:endParaRPr sz="1000" b="0" dirty="0">
              <a:solidFill>
                <a:srgbClr val="262626"/>
              </a:solidFill>
              <a:latin typeface="Meiryo UI"/>
              <a:ea typeface="Meiryo UI"/>
            </a:endParaRPr>
          </a:p>
        </p:txBody>
      </p:sp>
      <p:sp>
        <p:nvSpPr>
          <p:cNvPr id="9" name="Right Arrow 8"/>
          <p:cNvSpPr/>
          <p:nvPr/>
        </p:nvSpPr>
        <p:spPr>
          <a:xfrm>
            <a:off x="5413127" y="1883664"/>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10" name="Rectangle 9"/>
          <p:cNvSpPr/>
          <p:nvPr/>
        </p:nvSpPr>
        <p:spPr>
          <a:xfrm>
            <a:off x="5599726" y="1572768"/>
            <a:ext cx="936822"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dirty="0">
                <a:solidFill>
                  <a:srgbClr val="262626"/>
                </a:solidFill>
                <a:latin typeface="Meiryo UI"/>
                <a:ea typeface="Meiryo UI"/>
              </a:rPr>
              <a:t>⑥</a:t>
            </a:r>
          </a:p>
          <a:p>
            <a:pPr algn="ctr"/>
            <a:r>
              <a:rPr sz="1000" b="0" dirty="0" err="1">
                <a:solidFill>
                  <a:srgbClr val="262626"/>
                </a:solidFill>
                <a:latin typeface="Meiryo UI"/>
                <a:ea typeface="Meiryo UI"/>
              </a:rPr>
              <a:t>区・号を</a:t>
            </a:r>
            <a:endParaRPr sz="1000" b="0" dirty="0">
              <a:solidFill>
                <a:srgbClr val="262626"/>
              </a:solidFill>
              <a:latin typeface="Meiryo UI"/>
              <a:ea typeface="Meiryo UI"/>
            </a:endParaRPr>
          </a:p>
          <a:p>
            <a:pPr algn="ctr"/>
            <a:r>
              <a:rPr sz="1000" b="0" dirty="0" err="1">
                <a:solidFill>
                  <a:srgbClr val="262626"/>
                </a:solidFill>
                <a:latin typeface="Meiryo UI"/>
                <a:ea typeface="Meiryo UI"/>
              </a:rPr>
              <a:t>切り替え</a:t>
            </a:r>
            <a:endParaRPr sz="1000" b="0" dirty="0">
              <a:solidFill>
                <a:srgbClr val="262626"/>
              </a:solidFill>
              <a:latin typeface="Meiryo UI"/>
              <a:ea typeface="Meiryo UI"/>
            </a:endParaRPr>
          </a:p>
        </p:txBody>
      </p:sp>
      <p:sp>
        <p:nvSpPr>
          <p:cNvPr id="11" name="Right Arrow 10"/>
          <p:cNvSpPr/>
          <p:nvPr/>
        </p:nvSpPr>
        <p:spPr>
          <a:xfrm>
            <a:off x="6576843" y="1883664"/>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12" name="Rectangle 11"/>
          <p:cNvSpPr/>
          <p:nvPr/>
        </p:nvSpPr>
        <p:spPr>
          <a:xfrm>
            <a:off x="6763442" y="1572768"/>
            <a:ext cx="936822" cy="822960"/>
          </a:xfrm>
          <a:prstGeom prst="rect">
            <a:avLst/>
          </a:prstGeom>
          <a:solidFill>
            <a:srgbClr val="99CCFF"/>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dirty="0">
                <a:solidFill>
                  <a:srgbClr val="262626"/>
                </a:solidFill>
                <a:latin typeface="Meiryo UI"/>
                <a:ea typeface="Meiryo UI"/>
              </a:rPr>
              <a:t>⑦</a:t>
            </a:r>
          </a:p>
          <a:p>
            <a:pPr algn="ctr"/>
            <a:r>
              <a:rPr lang="ja-JP" altLang="en-US" sz="1000">
                <a:solidFill>
                  <a:srgbClr val="262626"/>
                </a:solidFill>
                <a:latin typeface="Meiryo UI"/>
                <a:ea typeface="Meiryo UI"/>
              </a:rPr>
              <a:t>アプリ</a:t>
            </a:r>
            <a:r>
              <a:rPr sz="1000" b="0" dirty="0" err="1">
                <a:solidFill>
                  <a:srgbClr val="262626"/>
                </a:solidFill>
                <a:latin typeface="Meiryo UI"/>
                <a:ea typeface="Meiryo UI"/>
              </a:rPr>
              <a:t>で</a:t>
            </a:r>
            <a:endParaRPr sz="1000" b="0" dirty="0">
              <a:solidFill>
                <a:srgbClr val="262626"/>
              </a:solidFill>
              <a:latin typeface="Meiryo UI"/>
              <a:ea typeface="Meiryo UI"/>
            </a:endParaRPr>
          </a:p>
          <a:p>
            <a:pPr algn="ctr"/>
            <a:r>
              <a:rPr sz="1000" b="0" dirty="0" err="1">
                <a:solidFill>
                  <a:srgbClr val="262626"/>
                </a:solidFill>
                <a:latin typeface="Meiryo UI"/>
                <a:ea typeface="Meiryo UI"/>
              </a:rPr>
              <a:t>閲覧</a:t>
            </a:r>
            <a:endParaRPr sz="1000" b="0" dirty="0">
              <a:solidFill>
                <a:srgbClr val="262626"/>
              </a:solidFill>
              <a:latin typeface="Meiryo UI"/>
              <a:ea typeface="Meiryo UI"/>
            </a:endParaRPr>
          </a:p>
        </p:txBody>
      </p:sp>
      <p:sp>
        <p:nvSpPr>
          <p:cNvPr id="15" name="Rectangle 14"/>
          <p:cNvSpPr/>
          <p:nvPr/>
        </p:nvSpPr>
        <p:spPr>
          <a:xfrm>
            <a:off x="280019" y="2505456"/>
            <a:ext cx="624548" cy="822960"/>
          </a:xfrm>
          <a:prstGeom prst="rect">
            <a:avLst/>
          </a:prstGeom>
          <a:solidFill>
            <a:srgbClr val="00587A"/>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sz="1000" b="0" dirty="0" err="1">
                <a:solidFill>
                  <a:srgbClr val="FFFFFF"/>
                </a:solidFill>
                <a:latin typeface="Meiryo UI"/>
                <a:ea typeface="Meiryo UI"/>
              </a:rPr>
              <a:t>バック</a:t>
            </a:r>
            <a:endParaRPr sz="1000" b="0" dirty="0">
              <a:solidFill>
                <a:srgbClr val="FFFFFF"/>
              </a:solidFill>
              <a:latin typeface="Meiryo UI"/>
              <a:ea typeface="Meiryo UI"/>
            </a:endParaRPr>
          </a:p>
          <a:p>
            <a:pPr algn="ctr"/>
            <a:r>
              <a:rPr sz="1000" b="0" dirty="0" err="1">
                <a:solidFill>
                  <a:srgbClr val="FFFFFF"/>
                </a:solidFill>
                <a:latin typeface="Meiryo UI"/>
                <a:ea typeface="Meiryo UI"/>
              </a:rPr>
              <a:t>オフィス</a:t>
            </a:r>
            <a:endParaRPr sz="1000" b="0" dirty="0">
              <a:solidFill>
                <a:srgbClr val="FFFFFF"/>
              </a:solidFill>
              <a:latin typeface="Meiryo UI"/>
              <a:ea typeface="Meiryo UI"/>
            </a:endParaRPr>
          </a:p>
        </p:txBody>
      </p:sp>
      <p:sp>
        <p:nvSpPr>
          <p:cNvPr id="16" name="Rectangle 15"/>
          <p:cNvSpPr/>
          <p:nvPr/>
        </p:nvSpPr>
        <p:spPr>
          <a:xfrm>
            <a:off x="944862" y="2505456"/>
            <a:ext cx="936822"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sz="1000" b="0" dirty="0">
                <a:solidFill>
                  <a:srgbClr val="262626"/>
                </a:solidFill>
                <a:latin typeface="Meiryo UI"/>
                <a:ea typeface="Meiryo UI"/>
              </a:rPr>
              <a:t>①</a:t>
            </a:r>
            <a:endParaRPr lang="en-US" sz="1000" b="0" dirty="0">
              <a:solidFill>
                <a:srgbClr val="262626"/>
              </a:solidFill>
              <a:latin typeface="Meiryo UI"/>
              <a:ea typeface="Meiryo UI"/>
            </a:endParaRPr>
          </a:p>
          <a:p>
            <a:pPr algn="ctr"/>
            <a:r>
              <a:rPr sz="1000" b="0" dirty="0" err="1">
                <a:solidFill>
                  <a:srgbClr val="262626"/>
                </a:solidFill>
                <a:latin typeface="Meiryo UI"/>
                <a:ea typeface="Meiryo UI"/>
              </a:rPr>
              <a:t>広報紙PDFの</a:t>
            </a:r>
            <a:endParaRPr sz="1000" b="0" dirty="0">
              <a:solidFill>
                <a:srgbClr val="262626"/>
              </a:solidFill>
              <a:latin typeface="Meiryo UI"/>
              <a:ea typeface="Meiryo UI"/>
            </a:endParaRPr>
          </a:p>
          <a:p>
            <a:pPr algn="ctr"/>
            <a:r>
              <a:rPr sz="1000" b="0" dirty="0" err="1">
                <a:solidFill>
                  <a:srgbClr val="262626"/>
                </a:solidFill>
                <a:latin typeface="Meiryo UI"/>
                <a:ea typeface="Meiryo UI"/>
              </a:rPr>
              <a:t>入稿・登録</a:t>
            </a:r>
            <a:endParaRPr sz="1000" b="0" dirty="0">
              <a:solidFill>
                <a:srgbClr val="262626"/>
              </a:solidFill>
              <a:latin typeface="Meiryo UI"/>
              <a:ea typeface="Meiryo UI"/>
            </a:endParaRPr>
          </a:p>
        </p:txBody>
      </p:sp>
      <p:sp>
        <p:nvSpPr>
          <p:cNvPr id="17" name="Right Arrow 16"/>
          <p:cNvSpPr/>
          <p:nvPr/>
        </p:nvSpPr>
        <p:spPr>
          <a:xfrm>
            <a:off x="1921979" y="2816352"/>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18" name="Rectangle 17"/>
          <p:cNvSpPr/>
          <p:nvPr/>
        </p:nvSpPr>
        <p:spPr>
          <a:xfrm>
            <a:off x="2108578" y="2505456"/>
            <a:ext cx="936822"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sz="1000" b="0" dirty="0">
                <a:solidFill>
                  <a:srgbClr val="262626"/>
                </a:solidFill>
                <a:latin typeface="Meiryo UI"/>
                <a:ea typeface="Meiryo UI"/>
              </a:rPr>
              <a:t>②</a:t>
            </a:r>
            <a:endParaRPr lang="en-US" sz="1000" b="0" dirty="0">
              <a:solidFill>
                <a:srgbClr val="262626"/>
              </a:solidFill>
              <a:latin typeface="Meiryo UI"/>
              <a:ea typeface="Meiryo UI"/>
            </a:endParaRPr>
          </a:p>
          <a:p>
            <a:pPr algn="ctr"/>
            <a:r>
              <a:rPr sz="1000" b="0" dirty="0" err="1">
                <a:solidFill>
                  <a:srgbClr val="262626"/>
                </a:solidFill>
                <a:latin typeface="Meiryo UI"/>
                <a:ea typeface="Meiryo UI"/>
              </a:rPr>
              <a:t>公開日を設定</a:t>
            </a:r>
            <a:endParaRPr sz="1000" b="0" dirty="0">
              <a:solidFill>
                <a:srgbClr val="262626"/>
              </a:solidFill>
              <a:latin typeface="Meiryo UI"/>
              <a:ea typeface="Meiryo UI"/>
            </a:endParaRPr>
          </a:p>
          <a:p>
            <a:pPr algn="ctr"/>
            <a:r>
              <a:rPr sz="1000" b="0" dirty="0">
                <a:solidFill>
                  <a:srgbClr val="262626"/>
                </a:solidFill>
                <a:latin typeface="Meiryo UI"/>
                <a:ea typeface="Meiryo UI"/>
              </a:rPr>
              <a:t>（</a:t>
            </a:r>
            <a:r>
              <a:rPr sz="1000" b="0" dirty="0" err="1">
                <a:solidFill>
                  <a:srgbClr val="262626"/>
                </a:solidFill>
                <a:latin typeface="Meiryo UI"/>
                <a:ea typeface="Meiryo UI"/>
              </a:rPr>
              <a:t>予約公開</a:t>
            </a:r>
            <a:r>
              <a:rPr sz="1000" b="0" dirty="0">
                <a:solidFill>
                  <a:srgbClr val="262626"/>
                </a:solidFill>
                <a:latin typeface="Meiryo UI"/>
                <a:ea typeface="Meiryo UI"/>
              </a:rPr>
              <a:t>）</a:t>
            </a:r>
          </a:p>
        </p:txBody>
      </p:sp>
      <p:sp>
        <p:nvSpPr>
          <p:cNvPr id="19" name="Right Arrow 18"/>
          <p:cNvSpPr/>
          <p:nvPr/>
        </p:nvSpPr>
        <p:spPr>
          <a:xfrm>
            <a:off x="3085695" y="2816352"/>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20" name="Rectangle 19"/>
          <p:cNvSpPr/>
          <p:nvPr/>
        </p:nvSpPr>
        <p:spPr>
          <a:xfrm>
            <a:off x="3272294" y="2505456"/>
            <a:ext cx="936822"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sz="1000" b="0" dirty="0">
                <a:solidFill>
                  <a:srgbClr val="262626"/>
                </a:solidFill>
                <a:latin typeface="Meiryo UI"/>
                <a:ea typeface="Meiryo UI"/>
              </a:rPr>
              <a:t>③</a:t>
            </a:r>
            <a:endParaRPr lang="en-US" sz="1000" b="0" dirty="0">
              <a:solidFill>
                <a:srgbClr val="262626"/>
              </a:solidFill>
              <a:latin typeface="Meiryo UI"/>
              <a:ea typeface="Meiryo UI"/>
            </a:endParaRPr>
          </a:p>
          <a:p>
            <a:pPr algn="ctr"/>
            <a:r>
              <a:rPr sz="1000" b="0" dirty="0" err="1">
                <a:solidFill>
                  <a:srgbClr val="262626"/>
                </a:solidFill>
                <a:latin typeface="Meiryo UI"/>
                <a:ea typeface="Meiryo UI"/>
              </a:rPr>
              <a:t>発行案内の</a:t>
            </a:r>
            <a:endParaRPr sz="1000" b="0" dirty="0">
              <a:solidFill>
                <a:srgbClr val="262626"/>
              </a:solidFill>
              <a:latin typeface="Meiryo UI"/>
              <a:ea typeface="Meiryo UI"/>
            </a:endParaRPr>
          </a:p>
          <a:p>
            <a:pPr algn="ctr"/>
            <a:r>
              <a:rPr sz="1000" b="0" dirty="0" err="1">
                <a:solidFill>
                  <a:srgbClr val="262626"/>
                </a:solidFill>
                <a:latin typeface="Meiryo UI"/>
                <a:ea typeface="Meiryo UI"/>
              </a:rPr>
              <a:t>配信</a:t>
            </a:r>
            <a:endParaRPr sz="1000" b="0" dirty="0">
              <a:solidFill>
                <a:srgbClr val="262626"/>
              </a:solidFill>
              <a:latin typeface="Meiryo UI"/>
              <a:ea typeface="Meiryo UI"/>
            </a:endParaRPr>
          </a:p>
        </p:txBody>
      </p:sp>
      <p:sp>
        <p:nvSpPr>
          <p:cNvPr id="21" name="Right Arrow 20"/>
          <p:cNvSpPr/>
          <p:nvPr/>
        </p:nvSpPr>
        <p:spPr>
          <a:xfrm rot="16200000">
            <a:off x="3667553" y="2368777"/>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22" name="Rectangle 21"/>
          <p:cNvSpPr/>
          <p:nvPr/>
        </p:nvSpPr>
        <p:spPr>
          <a:xfrm>
            <a:off x="6763442" y="2505456"/>
            <a:ext cx="936822"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dirty="0">
                <a:solidFill>
                  <a:srgbClr val="262626"/>
                </a:solidFill>
                <a:latin typeface="Meiryo UI"/>
                <a:ea typeface="Meiryo UI"/>
              </a:rPr>
              <a:t>⑧</a:t>
            </a:r>
          </a:p>
          <a:p>
            <a:pPr algn="ctr"/>
            <a:r>
              <a:rPr sz="1000" b="0" dirty="0" err="1">
                <a:solidFill>
                  <a:srgbClr val="262626"/>
                </a:solidFill>
                <a:latin typeface="Meiryo UI"/>
                <a:ea typeface="Meiryo UI"/>
              </a:rPr>
              <a:t>閲覧状況の</a:t>
            </a:r>
            <a:endParaRPr sz="1000" b="0" dirty="0">
              <a:solidFill>
                <a:srgbClr val="262626"/>
              </a:solidFill>
              <a:latin typeface="Meiryo UI"/>
              <a:ea typeface="Meiryo UI"/>
            </a:endParaRPr>
          </a:p>
          <a:p>
            <a:pPr algn="ctr"/>
            <a:r>
              <a:rPr sz="1000" b="0" dirty="0" err="1">
                <a:solidFill>
                  <a:srgbClr val="262626"/>
                </a:solidFill>
                <a:latin typeface="Meiryo UI"/>
                <a:ea typeface="Meiryo UI"/>
              </a:rPr>
              <a:t>確認</a:t>
            </a:r>
            <a:endParaRPr sz="1000" b="0" dirty="0">
              <a:solidFill>
                <a:srgbClr val="262626"/>
              </a:solidFill>
              <a:latin typeface="Meiryo UI"/>
              <a:ea typeface="Meiryo UI"/>
            </a:endParaRPr>
          </a:p>
        </p:txBody>
      </p:sp>
      <p:sp>
        <p:nvSpPr>
          <p:cNvPr id="23" name="Right Arrow 22"/>
          <p:cNvSpPr/>
          <p:nvPr/>
        </p:nvSpPr>
        <p:spPr>
          <a:xfrm>
            <a:off x="7740559" y="2816352"/>
            <a:ext cx="146304" cy="201168"/>
          </a:xfrm>
          <a:prstGeom prst="right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sz="1800"/>
          </a:p>
        </p:txBody>
      </p:sp>
      <p:sp>
        <p:nvSpPr>
          <p:cNvPr id="24" name="Rectangle 23"/>
          <p:cNvSpPr/>
          <p:nvPr/>
        </p:nvSpPr>
        <p:spPr>
          <a:xfrm>
            <a:off x="7927159" y="2505456"/>
            <a:ext cx="936822" cy="822960"/>
          </a:xfrm>
          <a:prstGeom prst="rect">
            <a:avLst/>
          </a:prstGeom>
          <a:solidFill>
            <a:srgbClr val="F0F5F7"/>
          </a:solidFill>
          <a:ln w="9525">
            <a:solidFill>
              <a:srgbClr val="A6BCC6"/>
            </a:solid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r>
              <a:rPr lang="en-US" altLang="ja-JP" sz="1000" dirty="0">
                <a:solidFill>
                  <a:srgbClr val="262626"/>
                </a:solidFill>
                <a:latin typeface="Meiryo UI"/>
                <a:ea typeface="Meiryo UI"/>
              </a:rPr>
              <a:t>⑨</a:t>
            </a:r>
          </a:p>
          <a:p>
            <a:pPr algn="ctr"/>
            <a:r>
              <a:rPr sz="1000" b="0" dirty="0" err="1">
                <a:solidFill>
                  <a:srgbClr val="262626"/>
                </a:solidFill>
                <a:latin typeface="Meiryo UI"/>
                <a:ea typeface="Meiryo UI"/>
              </a:rPr>
              <a:t>バックナンバ</a:t>
            </a:r>
            <a:r>
              <a:rPr sz="1000" b="0" dirty="0">
                <a:solidFill>
                  <a:srgbClr val="262626"/>
                </a:solidFill>
                <a:latin typeface="Meiryo UI"/>
                <a:ea typeface="Meiryo UI"/>
              </a:rPr>
              <a:t>ー</a:t>
            </a:r>
          </a:p>
          <a:p>
            <a:pPr algn="ctr"/>
            <a:r>
              <a:rPr sz="1000" b="0" dirty="0" err="1">
                <a:solidFill>
                  <a:srgbClr val="262626"/>
                </a:solidFill>
                <a:latin typeface="Meiryo UI"/>
                <a:ea typeface="Meiryo UI"/>
              </a:rPr>
              <a:t>管理</a:t>
            </a:r>
            <a:endParaRPr sz="1000" b="0" dirty="0">
              <a:solidFill>
                <a:srgbClr val="262626"/>
              </a:solidFill>
              <a:latin typeface="Meiryo UI"/>
              <a:ea typeface="Meiryo UI"/>
            </a:endParaRPr>
          </a:p>
        </p:txBody>
      </p:sp>
      <p:sp>
        <p:nvSpPr>
          <p:cNvPr id="25" name="Rectangle 24"/>
          <p:cNvSpPr/>
          <p:nvPr/>
        </p:nvSpPr>
        <p:spPr>
          <a:xfrm>
            <a:off x="274320" y="3566160"/>
            <a:ext cx="1554480" cy="1263982"/>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0">
                <a:solidFill>
                  <a:srgbClr val="FFFFFF"/>
                </a:solidFill>
                <a:latin typeface="Meiryo UI"/>
                <a:ea typeface="Meiryo UI"/>
              </a:rPr>
              <a:t>機能の</a:t>
            </a:r>
          </a:p>
          <a:p>
            <a:pPr algn="ctr"/>
            <a:r>
              <a:rPr sz="1600" b="0">
                <a:solidFill>
                  <a:srgbClr val="FFFFFF"/>
                </a:solidFill>
                <a:latin typeface="Meiryo UI"/>
                <a:ea typeface="Meiryo UI"/>
              </a:rPr>
              <a:t>ポイント</a:t>
            </a:r>
          </a:p>
        </p:txBody>
      </p:sp>
      <p:sp>
        <p:nvSpPr>
          <p:cNvPr id="26" name="TextBox 25"/>
          <p:cNvSpPr txBox="1"/>
          <p:nvPr/>
        </p:nvSpPr>
        <p:spPr>
          <a:xfrm>
            <a:off x="1920240" y="3566160"/>
            <a:ext cx="6949440" cy="1263982"/>
          </a:xfrm>
          <a:prstGeom prst="rect">
            <a:avLst/>
          </a:prstGeom>
          <a:noFill/>
        </p:spPr>
        <p:txBody>
          <a:bodyPr wrap="square" lIns="72000" tIns="72000" rIns="72000" bIns="72000" anchor="t">
            <a:spAutoFit/>
          </a:bodyPr>
          <a:lstStyle/>
          <a:p>
            <a:pPr marL="256032" indent="-219456">
              <a:lnSpc>
                <a:spcPct val="115000"/>
              </a:lnSpc>
              <a:spcBef>
                <a:spcPts val="0"/>
              </a:spcBef>
              <a:spcAft>
                <a:spcPts val="400"/>
              </a:spcAft>
              <a:buClr>
                <a:srgbClr val="0081AF"/>
              </a:buClr>
              <a:buSzPct val="55000"/>
              <a:buFont typeface="Arial"/>
              <a:buChar char="●"/>
            </a:pPr>
            <a:r>
              <a:rPr b="0" dirty="0" err="1">
                <a:solidFill>
                  <a:srgbClr val="262626"/>
                </a:solidFill>
                <a:latin typeface="Meiryo UI"/>
                <a:ea typeface="Meiryo UI"/>
              </a:rPr>
              <a:t>住所属性により居住区の広報紙をデフォルト表示（ユーザによる変更可</a:t>
            </a:r>
            <a:r>
              <a:rPr b="0" dirty="0">
                <a:solidFill>
                  <a:srgbClr val="262626"/>
                </a:solidFill>
                <a:latin typeface="Meiryo UI"/>
                <a:ea typeface="Meiryo UI"/>
              </a:rPr>
              <a:t>）</a:t>
            </a:r>
          </a:p>
          <a:p>
            <a:pPr marL="256032" indent="-219456">
              <a:lnSpc>
                <a:spcPct val="115000"/>
              </a:lnSpc>
              <a:spcBef>
                <a:spcPts val="0"/>
              </a:spcBef>
              <a:spcAft>
                <a:spcPts val="400"/>
              </a:spcAft>
              <a:buClr>
                <a:srgbClr val="0081AF"/>
              </a:buClr>
              <a:buSzPct val="55000"/>
              <a:buFont typeface="Arial"/>
              <a:buChar char="●"/>
            </a:pPr>
            <a:r>
              <a:rPr b="0" dirty="0">
                <a:solidFill>
                  <a:srgbClr val="262626"/>
                </a:solidFill>
                <a:latin typeface="Meiryo UI"/>
                <a:ea typeface="Meiryo UI"/>
              </a:rPr>
              <a:t>紙面はPDFのまま閲覧し、変換作業を行わない（項番58）</a:t>
            </a:r>
          </a:p>
          <a:p>
            <a:pPr marL="256032" indent="-219456">
              <a:lnSpc>
                <a:spcPct val="115000"/>
              </a:lnSpc>
              <a:spcBef>
                <a:spcPts val="0"/>
              </a:spcBef>
              <a:spcAft>
                <a:spcPts val="400"/>
              </a:spcAft>
              <a:buClr>
                <a:srgbClr val="0081AF"/>
              </a:buClr>
              <a:buSzPct val="55000"/>
              <a:buFont typeface="Arial"/>
              <a:buChar char="●"/>
            </a:pPr>
            <a:r>
              <a:rPr b="0" dirty="0">
                <a:solidFill>
                  <a:srgbClr val="262626"/>
                </a:solidFill>
                <a:latin typeface="Meiryo UI"/>
                <a:ea typeface="Meiryo UI"/>
              </a:rPr>
              <a:t>取得は明示操作を起点とし、分割取得等で通信量・表示速度に配慮（項番59・60）</a:t>
            </a:r>
          </a:p>
          <a:p>
            <a:pPr marL="256032" indent="-219456">
              <a:lnSpc>
                <a:spcPct val="115000"/>
              </a:lnSpc>
              <a:spcBef>
                <a:spcPts val="0"/>
              </a:spcBef>
              <a:spcAft>
                <a:spcPts val="400"/>
              </a:spcAft>
              <a:buClr>
                <a:srgbClr val="0081AF"/>
              </a:buClr>
              <a:buSzPct val="55000"/>
              <a:buFont typeface="Arial"/>
              <a:buChar char="●"/>
            </a:pPr>
            <a:r>
              <a:rPr b="0" dirty="0" err="1">
                <a:solidFill>
                  <a:srgbClr val="262626"/>
                </a:solidFill>
                <a:latin typeface="Meiryo UI"/>
                <a:ea typeface="Meiryo UI"/>
              </a:rPr>
              <a:t>発行通知は統合ポータルの配信基盤と一体で運用する</a:t>
            </a:r>
            <a:endParaRPr b="0" dirty="0">
              <a:solidFill>
                <a:srgbClr val="262626"/>
              </a:solidFill>
              <a:latin typeface="Meiryo UI"/>
              <a:ea typeface="Meiryo UI"/>
            </a:endParaRPr>
          </a:p>
        </p:txBody>
      </p:sp>
      <p:sp>
        <p:nvSpPr>
          <p:cNvPr id="27" name="TextBox 26"/>
          <p:cNvSpPr txBox="1"/>
          <p:nvPr/>
        </p:nvSpPr>
        <p:spPr>
          <a:xfrm>
            <a:off x="274320" y="4914108"/>
            <a:ext cx="8595360" cy="306989"/>
          </a:xfrm>
          <a:prstGeom prst="rect">
            <a:avLst/>
          </a:prstGeom>
          <a:noFill/>
        </p:spPr>
        <p:txBody>
          <a:bodyPr wrap="square" lIns="72000" tIns="72000" rIns="72000" bIns="72000" anchor="ctr">
            <a:spAutoFit/>
          </a:bodyPr>
          <a:lstStyle/>
          <a:p>
            <a:pPr algn="l"/>
            <a:r>
              <a:rPr sz="1050" b="0" dirty="0">
                <a:solidFill>
                  <a:srgbClr val="77888E"/>
                </a:solidFill>
                <a:latin typeface="Meiryo UI"/>
                <a:ea typeface="Meiryo UI"/>
              </a:rPr>
              <a:t>※ フロー・役割分担は現時点の想定であり、要件定義にて詳細を確定します。</a:t>
            </a:r>
          </a:p>
        </p:txBody>
      </p:sp>
      <p:sp>
        <p:nvSpPr>
          <p:cNvPr id="28" name="屈折矢印 27">
            <a:extLst>
              <a:ext uri="{FF2B5EF4-FFF2-40B4-BE49-F238E27FC236}">
                <a16:creationId xmlns:a16="http://schemas.microsoft.com/office/drawing/2014/main" id="{883D13D0-87BC-4DCA-84C1-1D2440391B6B}"/>
              </a:ext>
            </a:extLst>
          </p:cNvPr>
          <p:cNvSpPr/>
          <p:nvPr/>
        </p:nvSpPr>
        <p:spPr>
          <a:xfrm rot="5400000" flipH="1">
            <a:off x="2550030" y="1916866"/>
            <a:ext cx="458874" cy="425196"/>
          </a:xfrm>
          <a:prstGeom prst="bentUpArrow">
            <a:avLst/>
          </a:prstGeom>
          <a:solidFill>
            <a:srgbClr val="A6BCC6"/>
          </a:solidFill>
          <a:ln>
            <a:noFill/>
          </a:ln>
          <a:effectLst/>
        </p:spPr>
        <p:style>
          <a:lnRef idx="1">
            <a:schemeClr val="accent1"/>
          </a:lnRef>
          <a:fillRef idx="3">
            <a:schemeClr val="accent1"/>
          </a:fillRef>
          <a:effectRef idx="2">
            <a:schemeClr val="accent1"/>
          </a:effectRef>
          <a:fontRef idx="minor">
            <a:schemeClr val="lt1"/>
          </a:fontRef>
        </p:style>
        <p:txBody>
          <a:bodyPr wrap="none" lIns="72000" tIns="72000" rIns="72000" bIns="72000" rtlCol="0" anchor="ctr"/>
          <a:lstStyle/>
          <a:p>
            <a:pPr algn="ctr"/>
            <a:endParaRPr lang="ja-JP" altLang="en-US" sz="1800"/>
          </a:p>
        </p:txBody>
      </p:sp>
      <p:sp>
        <p:nvSpPr>
          <p:cNvPr id="29" name="TextBox 28"/>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65176" y="2651760"/>
            <a:ext cx="8613648" cy="45720"/>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 name="TextBox 2"/>
          <p:cNvSpPr txBox="1"/>
          <p:nvPr/>
        </p:nvSpPr>
        <p:spPr>
          <a:xfrm>
            <a:off x="265176" y="2834640"/>
            <a:ext cx="8613648" cy="566928"/>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3200" b="0">
                <a:solidFill>
                  <a:srgbClr val="000000"/>
                </a:solidFill>
                <a:latin typeface="Meiryo UI"/>
                <a:ea typeface="Meiryo UI"/>
                <a:cs typeface="Meiryo UI"/>
              </a:rPr>
              <a:t>5．画面イメージ（アプリ／管理画面）</a:t>
            </a:r>
          </a:p>
        </p:txBody>
      </p:sp>
      <p:sp>
        <p:nvSpPr>
          <p:cNvPr id="4" name="TextBox 3"/>
          <p:cNvSpPr txBox="1"/>
          <p:nvPr/>
        </p:nvSpPr>
        <p:spPr>
          <a:xfrm>
            <a:off x="265176" y="3520440"/>
            <a:ext cx="8613648" cy="36576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400" b="0">
                <a:solidFill>
                  <a:srgbClr val="00587A"/>
                </a:solidFill>
                <a:latin typeface="Meiryo UI"/>
                <a:ea typeface="Meiryo UI"/>
                <a:cs typeface="Meiryo UI"/>
              </a:rPr>
              <a:t>※ 詳細は別紙「アプリワイヤーフレーム」「管理画面ワイヤーフレーム」をご参照ください。</a:t>
            </a:r>
          </a:p>
        </p:txBody>
      </p:sp>
      <p:sp>
        <p:nvSpPr>
          <p:cNvPr id="5" name="TextBox 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5-1．A．広島市モード｜ホーム画面と表示設定</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広島市モード独自メニューと、としポ共通メニュー・お知らせを1画面に集約します。</a:t>
            </a:r>
          </a:p>
        </p:txBody>
      </p:sp>
      <p:pic>
        <p:nvPicPr>
          <p:cNvPr id="4" name="Picture 3" descr="app_home.png"/>
          <p:cNvPicPr>
            <a:picLocks noChangeAspect="1"/>
          </p:cNvPicPr>
          <p:nvPr/>
        </p:nvPicPr>
        <p:blipFill>
          <a:blip r:embed="rId2"/>
          <a:stretch>
            <a:fillRect/>
          </a:stretch>
        </p:blipFill>
        <p:spPr>
          <a:xfrm>
            <a:off x="320040" y="1143000"/>
            <a:ext cx="1874520" cy="4480560"/>
          </a:xfrm>
          <a:prstGeom prst="rect">
            <a:avLst/>
          </a:prstGeom>
          <a:ln w="9525">
            <a:solidFill>
              <a:srgbClr val="D8E2E6"/>
            </a:solidFill>
          </a:ln>
        </p:spPr>
      </p:pic>
      <p:sp>
        <p:nvSpPr>
          <p:cNvPr id="5" name="TextBox 4"/>
          <p:cNvSpPr txBox="1"/>
          <p:nvPr/>
        </p:nvSpPr>
        <p:spPr>
          <a:xfrm>
            <a:off x="320040" y="5660136"/>
            <a:ext cx="1874519"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広島市モード ホーム</a:t>
            </a:r>
          </a:p>
        </p:txBody>
      </p:sp>
      <p:pic>
        <p:nvPicPr>
          <p:cNvPr id="6" name="Picture 5" descr="app_modeset.png"/>
          <p:cNvPicPr>
            <a:picLocks noChangeAspect="1"/>
          </p:cNvPicPr>
          <p:nvPr/>
        </p:nvPicPr>
        <p:blipFill>
          <a:blip r:embed="rId3"/>
          <a:stretch>
            <a:fillRect/>
          </a:stretch>
        </p:blipFill>
        <p:spPr>
          <a:xfrm>
            <a:off x="2423160" y="1143000"/>
            <a:ext cx="2084914" cy="4480560"/>
          </a:xfrm>
          <a:prstGeom prst="rect">
            <a:avLst/>
          </a:prstGeom>
          <a:ln w="9525">
            <a:solidFill>
              <a:srgbClr val="D8E2E6"/>
            </a:solidFill>
          </a:ln>
        </p:spPr>
      </p:pic>
      <p:sp>
        <p:nvSpPr>
          <p:cNvPr id="7" name="TextBox 6"/>
          <p:cNvSpPr txBox="1"/>
          <p:nvPr/>
        </p:nvSpPr>
        <p:spPr>
          <a:xfrm>
            <a:off x="2423160" y="5660136"/>
            <a:ext cx="2084914"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広島市モード表示設定</a:t>
            </a:r>
          </a:p>
        </p:txBody>
      </p:sp>
      <p:pic>
        <p:nvPicPr>
          <p:cNvPr id="8" name="Picture 7" descr="app_rule.png"/>
          <p:cNvPicPr>
            <a:picLocks noChangeAspect="1"/>
          </p:cNvPicPr>
          <p:nvPr/>
        </p:nvPicPr>
        <p:blipFill>
          <a:blip r:embed="rId4"/>
          <a:stretch>
            <a:fillRect/>
          </a:stretch>
        </p:blipFill>
        <p:spPr>
          <a:xfrm>
            <a:off x="4617720" y="1143000"/>
            <a:ext cx="1920240" cy="936702"/>
          </a:xfrm>
          <a:prstGeom prst="rect">
            <a:avLst/>
          </a:prstGeom>
          <a:ln w="9525">
            <a:solidFill>
              <a:srgbClr val="D8E2E6"/>
            </a:solidFill>
          </a:ln>
        </p:spPr>
      </p:pic>
      <p:sp>
        <p:nvSpPr>
          <p:cNvPr id="9" name="TextBox 8"/>
          <p:cNvSpPr txBox="1"/>
          <p:nvPr/>
        </p:nvSpPr>
        <p:spPr>
          <a:xfrm>
            <a:off x="4617720" y="2116278"/>
            <a:ext cx="1920240"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ON／OFFの初期設定ルール</a:t>
            </a:r>
          </a:p>
        </p:txBody>
      </p:sp>
      <p:sp>
        <p:nvSpPr>
          <p:cNvPr id="10" name="TextBox 9"/>
          <p:cNvSpPr txBox="1"/>
          <p:nvPr/>
        </p:nvSpPr>
        <p:spPr>
          <a:xfrm>
            <a:off x="4617720" y="2377440"/>
            <a:ext cx="4251960" cy="329184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ホーム上部に「広島市モード独自サービスメニュー」（電子申請／広報誌／休日保育予約／防災アプリ）を配置</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下部に「としポ共通サービスメニュー」（ゴミ出しカレンダー／クーポン／アンケート）を配置し、内容はとしポと同一</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お知らせは広島市向けのもののみを表示（エリア指定配信は新設）</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決済へは「としポ決済を開く」から即時遷移でき、到達速度を損なわない</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アカウントメニューに「広島市モード表示設定」を追加し、居住エリア・デフォルト表示（広報誌／お知らせ／ゴミ出しカレンダー）を設定</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郵便番号が未登録の場合は、初回にユーザへ確認のうえ設定</a:t>
            </a:r>
          </a:p>
        </p:txBody>
      </p:sp>
      <p:sp>
        <p:nvSpPr>
          <p:cNvPr id="11" name="TextBox 10"/>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出典：別紙「アプリワイヤーフレーム_draft1_20260824.pdf」（A・W）</a:t>
            </a:r>
          </a:p>
        </p:txBody>
      </p:sp>
      <p:sp>
        <p:nvSpPr>
          <p:cNvPr id="12" name="TextBox 11"/>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5-2．A．広島市モード｜お知らせと共通メニュー</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エリア・カテゴリでの絞り込みと未読管理により、必要な情報に短い導線で到達できます。</a:t>
            </a:r>
          </a:p>
        </p:txBody>
      </p:sp>
      <p:pic>
        <p:nvPicPr>
          <p:cNvPr id="4" name="Picture 3" descr="app_oshirase.png"/>
          <p:cNvPicPr>
            <a:picLocks noChangeAspect="1"/>
          </p:cNvPicPr>
          <p:nvPr/>
        </p:nvPicPr>
        <p:blipFill>
          <a:blip r:embed="rId2"/>
          <a:stretch>
            <a:fillRect/>
          </a:stretch>
        </p:blipFill>
        <p:spPr>
          <a:xfrm>
            <a:off x="320040" y="1143000"/>
            <a:ext cx="2090616" cy="4480560"/>
          </a:xfrm>
          <a:prstGeom prst="rect">
            <a:avLst/>
          </a:prstGeom>
          <a:ln w="9525">
            <a:solidFill>
              <a:srgbClr val="D8E2E6"/>
            </a:solidFill>
          </a:ln>
        </p:spPr>
      </p:pic>
      <p:sp>
        <p:nvSpPr>
          <p:cNvPr id="5" name="TextBox 4"/>
          <p:cNvSpPr txBox="1"/>
          <p:nvPr/>
        </p:nvSpPr>
        <p:spPr>
          <a:xfrm>
            <a:off x="320040" y="5660136"/>
            <a:ext cx="2090616"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お知らせ一覧（フィルタ）</a:t>
            </a:r>
          </a:p>
        </p:txBody>
      </p:sp>
      <p:pic>
        <p:nvPicPr>
          <p:cNvPr id="6" name="Picture 5" descr="app_gomi.png"/>
          <p:cNvPicPr>
            <a:picLocks noChangeAspect="1"/>
          </p:cNvPicPr>
          <p:nvPr/>
        </p:nvPicPr>
        <p:blipFill>
          <a:blip r:embed="rId3"/>
          <a:stretch>
            <a:fillRect/>
          </a:stretch>
        </p:blipFill>
        <p:spPr>
          <a:xfrm>
            <a:off x="2423160" y="1143000"/>
            <a:ext cx="2027595" cy="4480560"/>
          </a:xfrm>
          <a:prstGeom prst="rect">
            <a:avLst/>
          </a:prstGeom>
          <a:ln w="9525">
            <a:solidFill>
              <a:srgbClr val="D8E2E6"/>
            </a:solidFill>
          </a:ln>
        </p:spPr>
      </p:pic>
      <p:sp>
        <p:nvSpPr>
          <p:cNvPr id="7" name="TextBox 6"/>
          <p:cNvSpPr txBox="1"/>
          <p:nvPr/>
        </p:nvSpPr>
        <p:spPr>
          <a:xfrm>
            <a:off x="2423160" y="5660136"/>
            <a:ext cx="2027595"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ゴミ出しカレンダー（既存）</a:t>
            </a:r>
          </a:p>
        </p:txBody>
      </p:sp>
      <p:pic>
        <p:nvPicPr>
          <p:cNvPr id="8" name="Picture 7" descr="app_account.png"/>
          <p:cNvPicPr>
            <a:picLocks noChangeAspect="1"/>
          </p:cNvPicPr>
          <p:nvPr/>
        </p:nvPicPr>
        <p:blipFill>
          <a:blip r:embed="rId4"/>
          <a:stretch>
            <a:fillRect/>
          </a:stretch>
        </p:blipFill>
        <p:spPr>
          <a:xfrm>
            <a:off x="4526280" y="1143000"/>
            <a:ext cx="2065370" cy="4480560"/>
          </a:xfrm>
          <a:prstGeom prst="rect">
            <a:avLst/>
          </a:prstGeom>
          <a:ln w="9525">
            <a:solidFill>
              <a:srgbClr val="D8E2E6"/>
            </a:solidFill>
          </a:ln>
        </p:spPr>
      </p:pic>
      <p:sp>
        <p:nvSpPr>
          <p:cNvPr id="9" name="TextBox 8"/>
          <p:cNvSpPr txBox="1"/>
          <p:nvPr/>
        </p:nvSpPr>
        <p:spPr>
          <a:xfrm>
            <a:off x="4526280" y="5660136"/>
            <a:ext cx="2065370"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アカウントメニュー（既存）</a:t>
            </a:r>
          </a:p>
        </p:txBody>
      </p:sp>
      <p:sp>
        <p:nvSpPr>
          <p:cNvPr id="10" name="TextBox 9"/>
          <p:cNvSpPr txBox="1"/>
          <p:nvPr/>
        </p:nvSpPr>
        <p:spPr>
          <a:xfrm>
            <a:off x="6629400" y="1143000"/>
            <a:ext cx="2286000" cy="448056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表示対象エリア（市全域／各区）で絞り込み。広島市モードのデフォルト指定に基づき初期表示</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カテゴリ（子育て／保育／防災／健康／イベント／その他）で絞り込み。初期値は全選択</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「未読のみ表示」フィルタを用意</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ゴミ出しカレンダーは広島市モードの表示設定に基づき地区をデフォルト表示</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未設定の場合は前回表示エリア、または共通デフォルトを適用</a:t>
            </a:r>
          </a:p>
        </p:txBody>
      </p:sp>
      <p:sp>
        <p:nvSpPr>
          <p:cNvPr id="11" name="TextBox 10"/>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出典：別紙「アプリワイヤーフレーム_draft1_20260824.pdf」（G・F・V）</a:t>
            </a:r>
          </a:p>
        </p:txBody>
      </p:sp>
      <p:sp>
        <p:nvSpPr>
          <p:cNvPr id="12" name="TextBox 11"/>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5-3．B．電子申請｜画面イメージと連携方式</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既存の「広島市オンライン手続ポータルサイト」への導線を提供し、申請手続の入口をアプリに集約します。</a:t>
            </a:r>
          </a:p>
        </p:txBody>
      </p:sp>
      <p:pic>
        <p:nvPicPr>
          <p:cNvPr id="4" name="Picture 3" descr="app_eshinsei.png"/>
          <p:cNvPicPr>
            <a:picLocks noChangeAspect="1"/>
          </p:cNvPicPr>
          <p:nvPr/>
        </p:nvPicPr>
        <p:blipFill>
          <a:blip r:embed="rId2"/>
          <a:stretch>
            <a:fillRect/>
          </a:stretch>
        </p:blipFill>
        <p:spPr>
          <a:xfrm>
            <a:off x="320040" y="1143000"/>
            <a:ext cx="2075935" cy="4572000"/>
          </a:xfrm>
          <a:prstGeom prst="rect">
            <a:avLst/>
          </a:prstGeom>
          <a:ln w="9525">
            <a:solidFill>
              <a:srgbClr val="D8E2E6"/>
            </a:solidFill>
          </a:ln>
        </p:spPr>
      </p:pic>
      <p:sp>
        <p:nvSpPr>
          <p:cNvPr id="5" name="TextBox 4"/>
          <p:cNvSpPr txBox="1"/>
          <p:nvPr/>
        </p:nvSpPr>
        <p:spPr>
          <a:xfrm>
            <a:off x="320040" y="5751576"/>
            <a:ext cx="2075935"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電子申請サイト（外部ブラウザ表示）</a:t>
            </a:r>
          </a:p>
        </p:txBody>
      </p:sp>
      <p:sp>
        <p:nvSpPr>
          <p:cNvPr id="6" name="Rectangle 5"/>
          <p:cNvSpPr/>
          <p:nvPr/>
        </p:nvSpPr>
        <p:spPr>
          <a:xfrm>
            <a:off x="2834640" y="1143000"/>
            <a:ext cx="1417320" cy="7315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連携方式</a:t>
            </a:r>
          </a:p>
        </p:txBody>
      </p:sp>
      <p:sp>
        <p:nvSpPr>
          <p:cNvPr id="7" name="TextBox 6"/>
          <p:cNvSpPr txBox="1"/>
          <p:nvPr/>
        </p:nvSpPr>
        <p:spPr>
          <a:xfrm>
            <a:off x="4389120" y="1143000"/>
            <a:ext cx="4526280" cy="73152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ホームの「電子申請」タップでブラウザを起動し、既存サイトを表示</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遷移先URL：https://apply.e-tumo.jp/city-hiroshima-u/offer/offerList_initDisplay</a:t>
            </a:r>
          </a:p>
        </p:txBody>
      </p:sp>
      <p:sp>
        <p:nvSpPr>
          <p:cNvPr id="8" name="Rectangle 7"/>
          <p:cNvSpPr/>
          <p:nvPr/>
        </p:nvSpPr>
        <p:spPr>
          <a:xfrm>
            <a:off x="2834640" y="2011680"/>
            <a:ext cx="1417320" cy="86868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運用性</a:t>
            </a:r>
          </a:p>
        </p:txBody>
      </p:sp>
      <p:sp>
        <p:nvSpPr>
          <p:cNvPr id="9" name="TextBox 8"/>
          <p:cNvSpPr txBox="1"/>
          <p:nvPr/>
        </p:nvSpPr>
        <p:spPr>
          <a:xfrm>
            <a:off x="4389120" y="2011680"/>
            <a:ext cx="4526280" cy="86868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遷移先はリリース不要で変更可能とし、管理画面の設定項目またはFirebase Remote Configを活用</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URL変更・一時停止・案内文の差し替えを、アプリ改修を伴わずに実施可能</a:t>
            </a:r>
          </a:p>
        </p:txBody>
      </p:sp>
      <p:sp>
        <p:nvSpPr>
          <p:cNvPr id="10" name="Rectangle 9"/>
          <p:cNvSpPr/>
          <p:nvPr/>
        </p:nvSpPr>
        <p:spPr>
          <a:xfrm>
            <a:off x="2834640" y="3017520"/>
            <a:ext cx="1417320" cy="86868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今回の</a:t>
            </a:r>
          </a:p>
          <a:p>
            <a:pPr algn="ctr" marL="0" indent="0">
              <a:lnSpc>
                <a:spcPct val="112000"/>
              </a:lnSpc>
              <a:spcBef>
                <a:spcPts val="0"/>
              </a:spcBef>
              <a:spcAft>
                <a:spcPts val="300"/>
              </a:spcAft>
              <a:buNone/>
            </a:pPr>
            <a:r>
              <a:rPr sz="1100" b="0">
                <a:solidFill>
                  <a:srgbClr val="FFFFFF"/>
                </a:solidFill>
                <a:latin typeface="Meiryo UI"/>
                <a:ea typeface="Meiryo UI"/>
                <a:cs typeface="Meiryo UI"/>
              </a:rPr>
              <a:t>スコープ</a:t>
            </a:r>
          </a:p>
        </p:txBody>
      </p:sp>
      <p:sp>
        <p:nvSpPr>
          <p:cNvPr id="11" name="TextBox 10"/>
          <p:cNvSpPr txBox="1"/>
          <p:nvPr/>
        </p:nvSpPr>
        <p:spPr>
          <a:xfrm>
            <a:off x="4389120" y="3017520"/>
            <a:ext cx="4526280" cy="86868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既存電子申請サイトへの導線提供までを対象とする</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電子申請等APIとの連携によりアプリ内で手続を完結させる方式は、将来の拡張として位置づける</a:t>
            </a:r>
          </a:p>
        </p:txBody>
      </p:sp>
      <p:sp>
        <p:nvSpPr>
          <p:cNvPr id="12" name="Rectangle 11"/>
          <p:cNvSpPr/>
          <p:nvPr/>
        </p:nvSpPr>
        <p:spPr>
          <a:xfrm>
            <a:off x="2834640" y="4023360"/>
            <a:ext cx="1417320" cy="100584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将来拡張</a:t>
            </a:r>
          </a:p>
          <a:p>
            <a:pPr algn="ctr" marL="0" indent="0">
              <a:lnSpc>
                <a:spcPct val="112000"/>
              </a:lnSpc>
              <a:spcBef>
                <a:spcPts val="0"/>
              </a:spcBef>
              <a:spcAft>
                <a:spcPts val="300"/>
              </a:spcAft>
              <a:buNone/>
            </a:pPr>
            <a:r>
              <a:rPr sz="1100" b="0">
                <a:solidFill>
                  <a:srgbClr val="FFFFFF"/>
                </a:solidFill>
                <a:latin typeface="Meiryo UI"/>
                <a:ea typeface="Meiryo UI"/>
                <a:cs typeface="Meiryo UI"/>
              </a:rPr>
              <a:t>（参考）</a:t>
            </a:r>
          </a:p>
        </p:txBody>
      </p:sp>
      <p:sp>
        <p:nvSpPr>
          <p:cNvPr id="13" name="TextBox 12"/>
          <p:cNvSpPr txBox="1"/>
          <p:nvPr/>
        </p:nvSpPr>
        <p:spPr>
          <a:xfrm>
            <a:off x="4389120" y="4023360"/>
            <a:ext cx="4526280" cy="100584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電子申請等APIと連携し、ぴったりサービスの検索・申請をアプリ内で実施</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マイナンバーカードによる公的個人認証との連携</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請求書払い（納付書バーコード読取）などの機能拡張</a:t>
            </a:r>
          </a:p>
        </p:txBody>
      </p:sp>
      <p:sp>
        <p:nvSpPr>
          <p:cNvPr id="14" name="TextBox 13"/>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出典：別紙「アプリワイヤーフレーム_draft1_20260824.pdf」（B）／（修正版）20251126【広島市御中】よむすび機能説明資料</a:t>
            </a:r>
          </a:p>
        </p:txBody>
      </p:sp>
      <p:sp>
        <p:nvSpPr>
          <p:cNvPr id="15" name="TextBox 1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5-4．C．広報｜アプリ画面イメージ</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住所属性から居住区の最新号をデフォルト表示し、区・号の切り替えとバックナンバー閲覧に対応します。</a:t>
            </a:r>
          </a:p>
        </p:txBody>
      </p:sp>
      <p:pic>
        <p:nvPicPr>
          <p:cNvPr id="4" name="Picture 3" descr="app_kouhou.png"/>
          <p:cNvPicPr>
            <a:picLocks noChangeAspect="1"/>
          </p:cNvPicPr>
          <p:nvPr/>
        </p:nvPicPr>
        <p:blipFill>
          <a:blip r:embed="rId2"/>
          <a:stretch>
            <a:fillRect/>
          </a:stretch>
        </p:blipFill>
        <p:spPr>
          <a:xfrm>
            <a:off x="320040" y="1143000"/>
            <a:ext cx="2037629" cy="4434840"/>
          </a:xfrm>
          <a:prstGeom prst="rect">
            <a:avLst/>
          </a:prstGeom>
          <a:ln w="9525">
            <a:solidFill>
              <a:srgbClr val="D8E2E6"/>
            </a:solidFill>
          </a:ln>
        </p:spPr>
      </p:pic>
      <p:sp>
        <p:nvSpPr>
          <p:cNvPr id="5" name="TextBox 4"/>
          <p:cNvSpPr txBox="1"/>
          <p:nvPr/>
        </p:nvSpPr>
        <p:spPr>
          <a:xfrm>
            <a:off x="320040" y="5614416"/>
            <a:ext cx="2037629"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広報（最新号）</a:t>
            </a:r>
          </a:p>
        </p:txBody>
      </p:sp>
      <p:pic>
        <p:nvPicPr>
          <p:cNvPr id="6" name="Picture 5" descr="app_kouhou_sel.png"/>
          <p:cNvPicPr>
            <a:picLocks noChangeAspect="1"/>
          </p:cNvPicPr>
          <p:nvPr/>
        </p:nvPicPr>
        <p:blipFill>
          <a:blip r:embed="rId3"/>
          <a:stretch>
            <a:fillRect/>
          </a:stretch>
        </p:blipFill>
        <p:spPr>
          <a:xfrm>
            <a:off x="2377440" y="1143000"/>
            <a:ext cx="2061601" cy="4434840"/>
          </a:xfrm>
          <a:prstGeom prst="rect">
            <a:avLst/>
          </a:prstGeom>
          <a:ln w="9525">
            <a:solidFill>
              <a:srgbClr val="D8E2E6"/>
            </a:solidFill>
          </a:ln>
        </p:spPr>
      </p:pic>
      <p:sp>
        <p:nvSpPr>
          <p:cNvPr id="7" name="TextBox 6"/>
          <p:cNvSpPr txBox="1"/>
          <p:nvPr/>
        </p:nvSpPr>
        <p:spPr>
          <a:xfrm>
            <a:off x="2377440" y="5614416"/>
            <a:ext cx="2061601"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広報誌・号の選択</a:t>
            </a:r>
          </a:p>
        </p:txBody>
      </p:sp>
      <p:pic>
        <p:nvPicPr>
          <p:cNvPr id="8" name="Picture 7" descr="app_kouhou_dlg.png"/>
          <p:cNvPicPr>
            <a:picLocks noChangeAspect="1"/>
          </p:cNvPicPr>
          <p:nvPr/>
        </p:nvPicPr>
        <p:blipFill>
          <a:blip r:embed="rId4"/>
          <a:stretch>
            <a:fillRect/>
          </a:stretch>
        </p:blipFill>
        <p:spPr>
          <a:xfrm>
            <a:off x="4434840" y="1143000"/>
            <a:ext cx="2069592" cy="4434840"/>
          </a:xfrm>
          <a:prstGeom prst="rect">
            <a:avLst/>
          </a:prstGeom>
          <a:ln w="9525">
            <a:solidFill>
              <a:srgbClr val="D8E2E6"/>
            </a:solidFill>
          </a:ln>
        </p:spPr>
      </p:pic>
      <p:sp>
        <p:nvSpPr>
          <p:cNvPr id="9" name="TextBox 8"/>
          <p:cNvSpPr txBox="1"/>
          <p:nvPr/>
        </p:nvSpPr>
        <p:spPr>
          <a:xfrm>
            <a:off x="4434840" y="5614416"/>
            <a:ext cx="2069591"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表示する区の選択</a:t>
            </a:r>
          </a:p>
        </p:txBody>
      </p:sp>
      <p:sp>
        <p:nvSpPr>
          <p:cNvPr id="10" name="TextBox 9"/>
          <p:cNvSpPr txBox="1"/>
          <p:nvPr/>
        </p:nvSpPr>
        <p:spPr>
          <a:xfrm>
            <a:off x="6537960" y="1143000"/>
            <a:ext cx="2377440" cy="4434840"/>
          </a:xfrm>
          <a:prstGeom prst="rect">
            <a:avLst/>
          </a:prstGeom>
          <a:noFill/>
        </p:spPr>
        <p:txBody>
          <a:bodyPr wrap="square" anchor="t" lIns="45720" rIns="45720" tIns="18288" bIns="18288">
            <a:spAutoFit/>
          </a:bodyPr>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住所属性に基づき居住区の広報紙をデフォルト表示（ユーザによる変更可）</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「表示する区を変更」から対象区を選択。チェックにより次回以降のデフォルトへ反映</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対象広報誌（市民と市政／ひろしま市議会だより／Hiroshima NOW 等）とバックナンバーを一覧から選択</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未読バッジにより新着を判別</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紙面はPDFのまま閲覧し、HTML化などの変換作業は行わない（項番58）</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取得は明示操作を起点とし、分割取得等で通信量・表示速度に配慮（項番59・60）</a:t>
            </a:r>
          </a:p>
        </p:txBody>
      </p:sp>
      <p:sp>
        <p:nvSpPr>
          <p:cNvPr id="11" name="TextBox 10"/>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出典：別紙「アプリワイヤーフレーム_draft1_20260824.pdf」（C）</a:t>
            </a:r>
          </a:p>
        </p:txBody>
      </p:sp>
      <p:sp>
        <p:nvSpPr>
          <p:cNvPr id="12" name="TextBox 11"/>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5-5．C．広報｜管理画面イメージ（広報誌管理・号数管理）</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広報誌の登録から号数・PDF・表紙の管理までを、既存のよむすび管理画面上で完結させます。</a:t>
            </a:r>
          </a:p>
        </p:txBody>
      </p:sp>
      <p:pic>
        <p:nvPicPr>
          <p:cNvPr id="4" name="Picture 3" descr="adm_list.png"/>
          <p:cNvPicPr>
            <a:picLocks noChangeAspect="1"/>
          </p:cNvPicPr>
          <p:nvPr/>
        </p:nvPicPr>
        <p:blipFill>
          <a:blip r:embed="rId2"/>
          <a:stretch>
            <a:fillRect/>
          </a:stretch>
        </p:blipFill>
        <p:spPr>
          <a:xfrm>
            <a:off x="320040" y="1115568"/>
            <a:ext cx="4206240" cy="2637269"/>
          </a:xfrm>
          <a:prstGeom prst="rect">
            <a:avLst/>
          </a:prstGeom>
          <a:ln w="9525">
            <a:solidFill>
              <a:srgbClr val="D8E2E6"/>
            </a:solidFill>
          </a:ln>
        </p:spPr>
      </p:pic>
      <p:sp>
        <p:nvSpPr>
          <p:cNvPr id="5" name="TextBox 4"/>
          <p:cNvSpPr txBox="1"/>
          <p:nvPr/>
        </p:nvSpPr>
        <p:spPr>
          <a:xfrm>
            <a:off x="320040" y="3789413"/>
            <a:ext cx="4206240"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広報誌管理一覧</a:t>
            </a:r>
          </a:p>
        </p:txBody>
      </p:sp>
      <p:pic>
        <p:nvPicPr>
          <p:cNvPr id="6" name="Picture 5" descr="adm_gousuu.png"/>
          <p:cNvPicPr>
            <a:picLocks noChangeAspect="1"/>
          </p:cNvPicPr>
          <p:nvPr/>
        </p:nvPicPr>
        <p:blipFill>
          <a:blip r:embed="rId3"/>
          <a:stretch>
            <a:fillRect/>
          </a:stretch>
        </p:blipFill>
        <p:spPr>
          <a:xfrm>
            <a:off x="4663440" y="1115568"/>
            <a:ext cx="4206240" cy="2634358"/>
          </a:xfrm>
          <a:prstGeom prst="rect">
            <a:avLst/>
          </a:prstGeom>
          <a:ln w="9525">
            <a:solidFill>
              <a:srgbClr val="D8E2E6"/>
            </a:solidFill>
          </a:ln>
        </p:spPr>
      </p:pic>
      <p:sp>
        <p:nvSpPr>
          <p:cNvPr id="7" name="TextBox 6"/>
          <p:cNvSpPr txBox="1"/>
          <p:nvPr/>
        </p:nvSpPr>
        <p:spPr>
          <a:xfrm>
            <a:off x="4663440" y="3786502"/>
            <a:ext cx="4206240"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号数管理／新しい号の登録・編集</a:t>
            </a:r>
          </a:p>
        </p:txBody>
      </p:sp>
      <p:sp>
        <p:nvSpPr>
          <p:cNvPr id="8" name="TextBox 7"/>
          <p:cNvSpPr txBox="1"/>
          <p:nvPr/>
        </p:nvSpPr>
        <p:spPr>
          <a:xfrm>
            <a:off x="274320" y="4434840"/>
            <a:ext cx="8595360" cy="178308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広報誌ごとに発行元・対象区・最新号・ステータス（公開中／下書き）・最終更新日を一覧管理</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号数管理では、バックナンバーと最新号のPDF・表紙画像・ステータス・閲覧数を登録／管理</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新しい号の登録では、号数名・発行日・対象区（全区／各区）・PDFファイル（最大50MB）・表紙画像（推奨比率1：1.41）を設定</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プレビュー確認のうえ「号を保存して公開」。公開日を指定した予約公開にも対応</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広報誌の追加・削除、発行元による絞り込み、広報誌名での検索が可能</a:t>
            </a:r>
          </a:p>
        </p:txBody>
      </p:sp>
      <p:sp>
        <p:nvSpPr>
          <p:cNvPr id="9" name="TextBox 8"/>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出典：別紙「管理画面ワイヤーフレーム_draft1_20260824.pdf」</a:t>
            </a:r>
          </a:p>
        </p:txBody>
      </p:sp>
      <p:sp>
        <p:nvSpPr>
          <p:cNvPr id="10" name="TextBox 9"/>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5-6．C．広報｜管理画面イメージ（配信・承認管理）</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起案から承認・予約配信・プッシュ通知までを一連の流れで運用し、配信実績も同一画面で確認できます。</a:t>
            </a:r>
          </a:p>
        </p:txBody>
      </p:sp>
      <p:pic>
        <p:nvPicPr>
          <p:cNvPr id="4" name="Picture 3" descr="adm_haishin.png"/>
          <p:cNvPicPr>
            <a:picLocks noChangeAspect="1"/>
          </p:cNvPicPr>
          <p:nvPr/>
        </p:nvPicPr>
        <p:blipFill>
          <a:blip r:embed="rId2"/>
          <a:stretch>
            <a:fillRect/>
          </a:stretch>
        </p:blipFill>
        <p:spPr>
          <a:xfrm>
            <a:off x="1828800" y="1115568"/>
            <a:ext cx="5486400" cy="3439916"/>
          </a:xfrm>
          <a:prstGeom prst="rect">
            <a:avLst/>
          </a:prstGeom>
          <a:ln w="9525">
            <a:solidFill>
              <a:srgbClr val="D8E2E6"/>
            </a:solidFill>
          </a:ln>
        </p:spPr>
      </p:pic>
      <p:sp>
        <p:nvSpPr>
          <p:cNvPr id="5" name="TextBox 4"/>
          <p:cNvSpPr txBox="1"/>
          <p:nvPr/>
        </p:nvSpPr>
        <p:spPr>
          <a:xfrm>
            <a:off x="1828800" y="4592060"/>
            <a:ext cx="5486400"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配信・承認管理</a:t>
            </a:r>
          </a:p>
        </p:txBody>
      </p:sp>
      <p:sp>
        <p:nvSpPr>
          <p:cNvPr id="6" name="TextBox 5"/>
          <p:cNvSpPr txBox="1"/>
          <p:nvPr/>
        </p:nvSpPr>
        <p:spPr>
          <a:xfrm>
            <a:off x="274320" y="4892040"/>
            <a:ext cx="8595360" cy="137160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承認待ちの起案を一覧表示し、起案者・起案日・対象号を確認のうえPDFをプレビュー</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コメントを添えて「起案を却下・差し戻し」または「配信を承認・予約確定」</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配信時のプッシュ通知の同時送信可否、通知メッセージ（80文字まで）、配信予約日時を設定（空欄で即時配信）</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直近の配信完了履歴として、号数・配信日時・配信先区・対象者数・開封率を確認</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承認フローの権限（起案／承認）は、区役所・所管課などの運用体制に合わせて設定</a:t>
            </a:r>
          </a:p>
        </p:txBody>
      </p:sp>
      <p:sp>
        <p:nvSpPr>
          <p:cNvPr id="7" name="TextBox 6"/>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出典：別紙「管理画面ワイヤーフレーム_draft1_20260824.pdf」</a:t>
            </a:r>
          </a:p>
        </p:txBody>
      </p:sp>
      <p:sp>
        <p:nvSpPr>
          <p:cNvPr id="8" name="TextBox 7"/>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5-7．D．防災｜「避難所へGo!」連携の画面イメージ</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既存の避難誘導アプリ「避難所へGo!」への入口を提供し、将来的な機能拡張の足がかりとします。</a:t>
            </a:r>
          </a:p>
        </p:txBody>
      </p:sp>
      <p:pic>
        <p:nvPicPr>
          <p:cNvPr id="4" name="Picture 3" descr="app_hinan_app.png"/>
          <p:cNvPicPr>
            <a:picLocks noChangeAspect="1"/>
          </p:cNvPicPr>
          <p:nvPr/>
        </p:nvPicPr>
        <p:blipFill>
          <a:blip r:embed="rId2"/>
          <a:stretch>
            <a:fillRect/>
          </a:stretch>
        </p:blipFill>
        <p:spPr>
          <a:xfrm>
            <a:off x="320040" y="1143000"/>
            <a:ext cx="1952144" cy="4343400"/>
          </a:xfrm>
          <a:prstGeom prst="rect">
            <a:avLst/>
          </a:prstGeom>
          <a:ln w="9525">
            <a:solidFill>
              <a:srgbClr val="D8E2E6"/>
            </a:solidFill>
          </a:ln>
        </p:spPr>
      </p:pic>
      <p:sp>
        <p:nvSpPr>
          <p:cNvPr id="5" name="TextBox 4"/>
          <p:cNvSpPr txBox="1"/>
          <p:nvPr/>
        </p:nvSpPr>
        <p:spPr>
          <a:xfrm>
            <a:off x="320040" y="5522976"/>
            <a:ext cx="1952143"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インストール済み：アプリ起動</a:t>
            </a:r>
          </a:p>
        </p:txBody>
      </p:sp>
      <p:pic>
        <p:nvPicPr>
          <p:cNvPr id="6" name="Picture 5" descr="app_hinan_store.png"/>
          <p:cNvPicPr>
            <a:picLocks noChangeAspect="1"/>
          </p:cNvPicPr>
          <p:nvPr/>
        </p:nvPicPr>
        <p:blipFill>
          <a:blip r:embed="rId3"/>
          <a:stretch>
            <a:fillRect/>
          </a:stretch>
        </p:blipFill>
        <p:spPr>
          <a:xfrm>
            <a:off x="2377440" y="1143000"/>
            <a:ext cx="1952144" cy="4343400"/>
          </a:xfrm>
          <a:prstGeom prst="rect">
            <a:avLst/>
          </a:prstGeom>
          <a:ln w="9525">
            <a:solidFill>
              <a:srgbClr val="D8E2E6"/>
            </a:solidFill>
          </a:ln>
        </p:spPr>
      </p:pic>
      <p:sp>
        <p:nvSpPr>
          <p:cNvPr id="7" name="TextBox 6"/>
          <p:cNvSpPr txBox="1"/>
          <p:nvPr/>
        </p:nvSpPr>
        <p:spPr>
          <a:xfrm>
            <a:off x="2377440" y="5522976"/>
            <a:ext cx="1952143" cy="219456"/>
          </a:xfrm>
          <a:prstGeom prst="rect">
            <a:avLst/>
          </a:prstGeom>
          <a:noFill/>
        </p:spPr>
        <p:txBody>
          <a:bodyPr wrap="square" anchor="t" lIns="45720" rIns="45720" tIns="18288" bIns="18288">
            <a:spAutoFit/>
          </a:bodyPr>
          <a:lstStyle/>
          <a:p>
            <a:pPr algn="ctr" marL="0" indent="0">
              <a:lnSpc>
                <a:spcPct val="112000"/>
              </a:lnSpc>
              <a:spcBef>
                <a:spcPts val="0"/>
              </a:spcBef>
              <a:spcAft>
                <a:spcPts val="300"/>
              </a:spcAft>
              <a:buNone/>
            </a:pPr>
            <a:r>
              <a:rPr sz="900" b="0">
                <a:solidFill>
                  <a:srgbClr val="00587A"/>
                </a:solidFill>
                <a:latin typeface="Meiryo UI"/>
                <a:ea typeface="Meiryo UI"/>
                <a:cs typeface="Meiryo UI"/>
              </a:rPr>
              <a:t>未インストール：ストアへ遷移</a:t>
            </a:r>
          </a:p>
        </p:txBody>
      </p:sp>
      <p:sp>
        <p:nvSpPr>
          <p:cNvPr id="8" name="Rectangle 7"/>
          <p:cNvSpPr/>
          <p:nvPr/>
        </p:nvSpPr>
        <p:spPr>
          <a:xfrm>
            <a:off x="4480560" y="1143000"/>
            <a:ext cx="1280160" cy="77724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連携方式</a:t>
            </a:r>
          </a:p>
        </p:txBody>
      </p:sp>
      <p:sp>
        <p:nvSpPr>
          <p:cNvPr id="9" name="TextBox 8"/>
          <p:cNvSpPr txBox="1"/>
          <p:nvPr/>
        </p:nvSpPr>
        <p:spPr>
          <a:xfrm>
            <a:off x="5852160" y="1143000"/>
            <a:ext cx="3063240" cy="77724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インストール済み端末ではアプリを起動</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未インストール時はアプリストアの当該ページを表示</a:t>
            </a:r>
          </a:p>
        </p:txBody>
      </p:sp>
      <p:sp>
        <p:nvSpPr>
          <p:cNvPr id="10" name="Rectangle 9"/>
          <p:cNvSpPr/>
          <p:nvPr/>
        </p:nvSpPr>
        <p:spPr>
          <a:xfrm>
            <a:off x="4480560" y="2057400"/>
            <a:ext cx="1280160" cy="77724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運用性</a:t>
            </a:r>
          </a:p>
        </p:txBody>
      </p:sp>
      <p:sp>
        <p:nvSpPr>
          <p:cNvPr id="11" name="TextBox 10"/>
          <p:cNvSpPr txBox="1"/>
          <p:nvPr/>
        </p:nvSpPr>
        <p:spPr>
          <a:xfrm>
            <a:off x="5852160" y="2057400"/>
            <a:ext cx="3063240" cy="77724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遷移先はリリース不要で変更可能とし、管理画面設定項目またはFirebase Remote Configを活用</a:t>
            </a:r>
          </a:p>
        </p:txBody>
      </p:sp>
      <p:sp>
        <p:nvSpPr>
          <p:cNvPr id="12" name="Rectangle 11"/>
          <p:cNvSpPr/>
          <p:nvPr/>
        </p:nvSpPr>
        <p:spPr>
          <a:xfrm>
            <a:off x="4480560" y="2971800"/>
            <a:ext cx="128016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今回の</a:t>
            </a:r>
          </a:p>
          <a:p>
            <a:pPr algn="ctr" marL="0" indent="0">
              <a:lnSpc>
                <a:spcPct val="112000"/>
              </a:lnSpc>
              <a:spcBef>
                <a:spcPts val="0"/>
              </a:spcBef>
              <a:spcAft>
                <a:spcPts val="300"/>
              </a:spcAft>
              <a:buNone/>
            </a:pPr>
            <a:r>
              <a:rPr sz="1100" b="0">
                <a:solidFill>
                  <a:srgbClr val="FFFFFF"/>
                </a:solidFill>
                <a:latin typeface="Meiryo UI"/>
                <a:ea typeface="Meiryo UI"/>
                <a:cs typeface="Meiryo UI"/>
              </a:rPr>
              <a:t>スコープ</a:t>
            </a:r>
          </a:p>
        </p:txBody>
      </p:sp>
      <p:sp>
        <p:nvSpPr>
          <p:cNvPr id="13" name="TextBox 12"/>
          <p:cNvSpPr txBox="1"/>
          <p:nvPr/>
        </p:nvSpPr>
        <p:spPr>
          <a:xfrm>
            <a:off x="5852160" y="2971800"/>
            <a:ext cx="3063240" cy="96012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外部アプリ連携＋ストア誘導までを対象とする</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としポアプリ内での防災機能の実装、および「避難所へGo!」との機能連携は将来拡張として位置づける</a:t>
            </a:r>
          </a:p>
        </p:txBody>
      </p:sp>
      <p:sp>
        <p:nvSpPr>
          <p:cNvPr id="14" name="Rectangle 13"/>
          <p:cNvSpPr/>
          <p:nvPr/>
        </p:nvSpPr>
        <p:spPr>
          <a:xfrm>
            <a:off x="4480560" y="4069080"/>
            <a:ext cx="128016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次頁以降</a:t>
            </a:r>
          </a:p>
        </p:txBody>
      </p:sp>
      <p:sp>
        <p:nvSpPr>
          <p:cNvPr id="15" name="TextBox 14"/>
          <p:cNvSpPr txBox="1"/>
          <p:nvPr/>
        </p:nvSpPr>
        <p:spPr>
          <a:xfrm>
            <a:off x="5852160" y="4069080"/>
            <a:ext cx="3063240" cy="96012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R9年度以降の段階的な機能拡張について、ロードマップとしてご提案します（P18〜P20）</a:t>
            </a:r>
          </a:p>
        </p:txBody>
      </p:sp>
      <p:sp>
        <p:nvSpPr>
          <p:cNvPr id="16" name="TextBox 15"/>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出典：別紙「アプリワイヤーフレーム_draft1_20260824.pdf」（E）</a:t>
            </a:r>
          </a:p>
        </p:txBody>
      </p:sp>
      <p:sp>
        <p:nvSpPr>
          <p:cNvPr id="17" name="TextBox 16"/>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65176" y="2651760"/>
            <a:ext cx="8613648" cy="45720"/>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 name="TextBox 2"/>
          <p:cNvSpPr txBox="1"/>
          <p:nvPr/>
        </p:nvSpPr>
        <p:spPr>
          <a:xfrm>
            <a:off x="265176" y="2834640"/>
            <a:ext cx="8613648" cy="566928"/>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3200" b="0">
                <a:solidFill>
                  <a:srgbClr val="000000"/>
                </a:solidFill>
                <a:latin typeface="Meiryo UI"/>
                <a:ea typeface="Meiryo UI"/>
                <a:cs typeface="Meiryo UI"/>
              </a:rPr>
              <a:t>6．防災機能の拡張ロードマップ</a:t>
            </a:r>
          </a:p>
        </p:txBody>
      </p:sp>
      <p:sp>
        <p:nvSpPr>
          <p:cNvPr id="4" name="TextBox 3"/>
          <p:cNvSpPr txBox="1"/>
          <p:nvPr/>
        </p:nvSpPr>
        <p:spPr>
          <a:xfrm>
            <a:off x="265176" y="3520440"/>
            <a:ext cx="8613648" cy="36576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400" b="0">
                <a:solidFill>
                  <a:srgbClr val="00587A"/>
                </a:solidFill>
                <a:latin typeface="Meiryo UI"/>
                <a:ea typeface="Meiryo UI"/>
                <a:cs typeface="Meiryo UI"/>
              </a:rPr>
              <a:t>広島広域都市圏ポータルアプリ連携から、将来の機能追加まで</a:t>
            </a:r>
          </a:p>
        </p:txBody>
      </p:sp>
      <p:sp>
        <p:nvSpPr>
          <p:cNvPr id="5" name="TextBox 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6-1．防災アプリ 機能拡張ロードマップ（案）</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R8年度はリンク設置から着実に開始し、R9年度に同等機能の実装、R10年度以降に高度化を図ります。</a:t>
            </a:r>
          </a:p>
        </p:txBody>
      </p:sp>
      <p:sp>
        <p:nvSpPr>
          <p:cNvPr id="4" name="Rectangle 3"/>
          <p:cNvSpPr/>
          <p:nvPr/>
        </p:nvSpPr>
        <p:spPr>
          <a:xfrm>
            <a:off x="274320" y="1097280"/>
            <a:ext cx="11887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
            </a:r>
          </a:p>
        </p:txBody>
      </p:sp>
      <p:sp>
        <p:nvSpPr>
          <p:cNvPr id="5" name="Rectangle 4"/>
          <p:cNvSpPr/>
          <p:nvPr/>
        </p:nvSpPr>
        <p:spPr>
          <a:xfrm>
            <a:off x="1463040" y="1097280"/>
            <a:ext cx="246888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R8年度</a:t>
            </a:r>
          </a:p>
        </p:txBody>
      </p:sp>
      <p:sp>
        <p:nvSpPr>
          <p:cNvPr id="6" name="Rectangle 5"/>
          <p:cNvSpPr/>
          <p:nvPr/>
        </p:nvSpPr>
        <p:spPr>
          <a:xfrm>
            <a:off x="3931920" y="1097280"/>
            <a:ext cx="246888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R9年度</a:t>
            </a:r>
          </a:p>
        </p:txBody>
      </p:sp>
      <p:sp>
        <p:nvSpPr>
          <p:cNvPr id="7" name="Rectangle 6"/>
          <p:cNvSpPr/>
          <p:nvPr/>
        </p:nvSpPr>
        <p:spPr>
          <a:xfrm>
            <a:off x="6400800" y="1097280"/>
            <a:ext cx="246888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R10年度以降</a:t>
            </a:r>
          </a:p>
        </p:txBody>
      </p:sp>
      <p:sp>
        <p:nvSpPr>
          <p:cNvPr id="8" name="Rectangle 7"/>
          <p:cNvSpPr/>
          <p:nvPr/>
        </p:nvSpPr>
        <p:spPr>
          <a:xfrm>
            <a:off x="274320" y="1408176"/>
            <a:ext cx="1188720" cy="12344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実装機能</a:t>
            </a:r>
          </a:p>
          <a:p>
            <a:pPr algn="ctr" marL="0" indent="0">
              <a:lnSpc>
                <a:spcPct val="112000"/>
              </a:lnSpc>
              <a:spcBef>
                <a:spcPts val="0"/>
              </a:spcBef>
              <a:spcAft>
                <a:spcPts val="300"/>
              </a:spcAft>
              <a:buNone/>
            </a:pPr>
            <a:r>
              <a:rPr sz="1000" b="1">
                <a:solidFill>
                  <a:srgbClr val="00587A"/>
                </a:solidFill>
                <a:latin typeface="Meiryo UI"/>
                <a:ea typeface="Meiryo UI"/>
                <a:cs typeface="Meiryo UI"/>
              </a:rPr>
              <a:t>（予定）</a:t>
            </a:r>
          </a:p>
        </p:txBody>
      </p:sp>
      <p:sp>
        <p:nvSpPr>
          <p:cNvPr id="9" name="Rectangle 8"/>
          <p:cNvSpPr/>
          <p:nvPr/>
        </p:nvSpPr>
        <p:spPr>
          <a:xfrm>
            <a:off x="1463040" y="1408176"/>
            <a:ext cx="2468880" cy="12344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ポータルアプリから「避難所へGo!」へのリンク設置</a:t>
            </a:r>
          </a:p>
        </p:txBody>
      </p:sp>
      <p:sp>
        <p:nvSpPr>
          <p:cNvPr id="10" name="Rectangle 9"/>
          <p:cNvSpPr/>
          <p:nvPr/>
        </p:nvSpPr>
        <p:spPr>
          <a:xfrm>
            <a:off x="3931920" y="1408176"/>
            <a:ext cx="2468880" cy="12344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「避難所へGo!」と同等機能の実装</a:t>
            </a:r>
          </a:p>
        </p:txBody>
      </p:sp>
      <p:sp>
        <p:nvSpPr>
          <p:cNvPr id="11" name="Rectangle 10"/>
          <p:cNvSpPr/>
          <p:nvPr/>
        </p:nvSpPr>
        <p:spPr>
          <a:xfrm>
            <a:off x="6400800" y="1408176"/>
            <a:ext cx="2468880" cy="12344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浸水被害ARシミュレーション機能</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避難所受付システム</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独自防災システムとのAPI連携（双方向データ連携）</a:t>
            </a:r>
          </a:p>
        </p:txBody>
      </p:sp>
      <p:sp>
        <p:nvSpPr>
          <p:cNvPr id="12" name="Rectangle 11"/>
          <p:cNvSpPr/>
          <p:nvPr/>
        </p:nvSpPr>
        <p:spPr>
          <a:xfrm>
            <a:off x="274320" y="2642616"/>
            <a:ext cx="1188720" cy="12344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検討事項</a:t>
            </a:r>
          </a:p>
        </p:txBody>
      </p:sp>
      <p:sp>
        <p:nvSpPr>
          <p:cNvPr id="13" name="Rectangle 12"/>
          <p:cNvSpPr/>
          <p:nvPr/>
        </p:nvSpPr>
        <p:spPr>
          <a:xfrm>
            <a:off x="1463040" y="264261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①「避難所へGo!」と同等機能の実装</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②浸水被害ARシミュレーション</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③避難所受付システム</a:t>
            </a:r>
          </a:p>
        </p:txBody>
      </p:sp>
      <p:sp>
        <p:nvSpPr>
          <p:cNvPr id="14" name="Rectangle 13"/>
          <p:cNvSpPr/>
          <p:nvPr/>
        </p:nvSpPr>
        <p:spPr>
          <a:xfrm>
            <a:off x="3931920" y="264261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①浸水被害ARシミュレーション</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②避難所受付システム</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③貴市防災システムとのAPI連携</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④関連市町・周辺市町への拡大対応</a:t>
            </a:r>
          </a:p>
        </p:txBody>
      </p:sp>
      <p:sp>
        <p:nvSpPr>
          <p:cNvPr id="15" name="Rectangle 14"/>
          <p:cNvSpPr/>
          <p:nvPr/>
        </p:nvSpPr>
        <p:spPr>
          <a:xfrm>
            <a:off x="6400800" y="264261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a:t>
            </a:r>
          </a:p>
        </p:txBody>
      </p:sp>
      <p:sp>
        <p:nvSpPr>
          <p:cNvPr id="16" name="Rectangle 15"/>
          <p:cNvSpPr/>
          <p:nvPr/>
        </p:nvSpPr>
        <p:spPr>
          <a:xfrm>
            <a:off x="274320" y="3877056"/>
            <a:ext cx="1188720" cy="9601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ご提案内容</a:t>
            </a:r>
          </a:p>
        </p:txBody>
      </p:sp>
      <p:sp>
        <p:nvSpPr>
          <p:cNvPr id="17" name="Rectangle 16"/>
          <p:cNvSpPr/>
          <p:nvPr/>
        </p:nvSpPr>
        <p:spPr>
          <a:xfrm>
            <a:off x="1463040" y="3877056"/>
            <a:ext cx="2468880" cy="9601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上記①②③の実装に関する概算お見積もりの提出（期日：2026年9月末）</a:t>
            </a:r>
          </a:p>
        </p:txBody>
      </p:sp>
      <p:sp>
        <p:nvSpPr>
          <p:cNvPr id="18" name="Rectangle 17"/>
          <p:cNvSpPr/>
          <p:nvPr/>
        </p:nvSpPr>
        <p:spPr>
          <a:xfrm>
            <a:off x="3931920" y="3877056"/>
            <a:ext cx="2468880" cy="9601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上記①②③の実装に関する概算お見積もりの提出</a:t>
            </a:r>
          </a:p>
        </p:txBody>
      </p:sp>
      <p:sp>
        <p:nvSpPr>
          <p:cNvPr id="19" name="Rectangle 18"/>
          <p:cNvSpPr/>
          <p:nvPr/>
        </p:nvSpPr>
        <p:spPr>
          <a:xfrm>
            <a:off x="6400800" y="3877056"/>
            <a:ext cx="2468880" cy="9601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a:t>
            </a:r>
          </a:p>
        </p:txBody>
      </p:sp>
      <p:sp>
        <p:nvSpPr>
          <p:cNvPr id="20" name="Rectangle 19"/>
          <p:cNvSpPr/>
          <p:nvPr/>
        </p:nvSpPr>
        <p:spPr>
          <a:xfrm>
            <a:off x="274320" y="4837176"/>
            <a:ext cx="1188720" cy="12344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補足</a:t>
            </a:r>
          </a:p>
        </p:txBody>
      </p:sp>
      <p:sp>
        <p:nvSpPr>
          <p:cNvPr id="21" name="Rectangle 20"/>
          <p:cNvSpPr/>
          <p:nvPr/>
        </p:nvSpPr>
        <p:spPr>
          <a:xfrm>
            <a:off x="1463040" y="483717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②③は詳細要件が未定のため参考試算</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関連市町（廿日市市・江田島市・熊野町）への事前説明が必要</a:t>
            </a:r>
          </a:p>
        </p:txBody>
      </p:sp>
      <p:sp>
        <p:nvSpPr>
          <p:cNvPr id="22" name="Rectangle 21"/>
          <p:cNvSpPr/>
          <p:nvPr/>
        </p:nvSpPr>
        <p:spPr>
          <a:xfrm>
            <a:off x="3931920" y="483717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避難所受付システムや防災システムとのAPI連携は、貴市の防災計画等を踏まえた全体的な整理が必要</a:t>
            </a:r>
          </a:p>
        </p:txBody>
      </p:sp>
      <p:sp>
        <p:nvSpPr>
          <p:cNvPr id="23" name="Rectangle 22"/>
          <p:cNvSpPr/>
          <p:nvPr/>
        </p:nvSpPr>
        <p:spPr>
          <a:xfrm>
            <a:off x="6400800" y="4837176"/>
            <a:ext cx="2468880" cy="12344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a:t>
            </a:r>
          </a:p>
        </p:txBody>
      </p:sp>
      <p:sp>
        <p:nvSpPr>
          <p:cNvPr id="24" name="TextBox 23"/>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同等機能の詳細は別紙「20260824_現状機能概要まとめ.xlsx」で整理しています。「避難所へGo!」は廿日市市・江田島市・熊野町でも利用中です。</a:t>
            </a:r>
          </a:p>
        </p:txBody>
      </p:sp>
      <p:sp>
        <p:nvSpPr>
          <p:cNvPr id="25" name="TextBox 2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6-2．R9年度｜「避難所へGo!」同等機能の実装範囲</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現行アプリの機能を項番単位で棚卸しし、ミニアプリとして取り込む範囲を整理しています。</a:t>
            </a:r>
          </a:p>
        </p:txBody>
      </p:sp>
      <p:sp>
        <p:nvSpPr>
          <p:cNvPr id="4" name="Rectangle 3"/>
          <p:cNvSpPr/>
          <p:nvPr/>
        </p:nvSpPr>
        <p:spPr>
          <a:xfrm>
            <a:off x="274320" y="1097280"/>
            <a:ext cx="192024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機能分類</a:t>
            </a:r>
          </a:p>
        </p:txBody>
      </p:sp>
      <p:sp>
        <p:nvSpPr>
          <p:cNvPr id="5" name="Rectangle 4"/>
          <p:cNvSpPr/>
          <p:nvPr/>
        </p:nvSpPr>
        <p:spPr>
          <a:xfrm>
            <a:off x="2194560" y="1097280"/>
            <a:ext cx="50749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主な機能</a:t>
            </a:r>
          </a:p>
        </p:txBody>
      </p:sp>
      <p:sp>
        <p:nvSpPr>
          <p:cNvPr id="6" name="Rectangle 5"/>
          <p:cNvSpPr/>
          <p:nvPr/>
        </p:nvSpPr>
        <p:spPr>
          <a:xfrm>
            <a:off x="7269479" y="1097280"/>
            <a:ext cx="160020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項番</a:t>
            </a:r>
          </a:p>
        </p:txBody>
      </p:sp>
      <p:sp>
        <p:nvSpPr>
          <p:cNvPr id="7" name="Rectangle 6"/>
          <p:cNvSpPr/>
          <p:nvPr/>
        </p:nvSpPr>
        <p:spPr>
          <a:xfrm>
            <a:off x="274320" y="1408176"/>
            <a:ext cx="192024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全般</a:t>
            </a:r>
          </a:p>
        </p:txBody>
      </p:sp>
      <p:sp>
        <p:nvSpPr>
          <p:cNvPr id="8" name="Rectangle 7"/>
          <p:cNvSpPr/>
          <p:nvPr/>
        </p:nvSpPr>
        <p:spPr>
          <a:xfrm>
            <a:off x="2194560" y="1408176"/>
            <a:ext cx="5074920" cy="38404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多言語表示（日本語／英語／中国語（繁体・簡体）／韓国語）。将来的な対応言語の拡充も可能</a:t>
            </a:r>
          </a:p>
        </p:txBody>
      </p:sp>
      <p:sp>
        <p:nvSpPr>
          <p:cNvPr id="9" name="Rectangle 8"/>
          <p:cNvSpPr/>
          <p:nvPr/>
        </p:nvSpPr>
        <p:spPr>
          <a:xfrm>
            <a:off x="7269479" y="1408176"/>
            <a:ext cx="1600200" cy="38404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1</a:t>
            </a:r>
          </a:p>
        </p:txBody>
      </p:sp>
      <p:sp>
        <p:nvSpPr>
          <p:cNvPr id="10" name="Rectangle 9"/>
          <p:cNvSpPr/>
          <p:nvPr/>
        </p:nvSpPr>
        <p:spPr>
          <a:xfrm>
            <a:off x="274320" y="1792224"/>
            <a:ext cx="192024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アプリ初回起動</a:t>
            </a:r>
          </a:p>
        </p:txBody>
      </p:sp>
      <p:sp>
        <p:nvSpPr>
          <p:cNvPr id="11" name="Rectangle 10"/>
          <p:cNvSpPr/>
          <p:nvPr/>
        </p:nvSpPr>
        <p:spPr>
          <a:xfrm>
            <a:off x="2194560" y="1792224"/>
            <a:ext cx="507492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位置情報・通知等の権限取得、アプリ非起動時のGPS ON／OFF設定</a:t>
            </a:r>
          </a:p>
        </p:txBody>
      </p:sp>
      <p:sp>
        <p:nvSpPr>
          <p:cNvPr id="12" name="Rectangle 11"/>
          <p:cNvSpPr/>
          <p:nvPr/>
        </p:nvSpPr>
        <p:spPr>
          <a:xfrm>
            <a:off x="7269479" y="1792224"/>
            <a:ext cx="160020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2〜9</a:t>
            </a:r>
          </a:p>
        </p:txBody>
      </p:sp>
      <p:sp>
        <p:nvSpPr>
          <p:cNvPr id="13" name="Rectangle 12"/>
          <p:cNvSpPr/>
          <p:nvPr/>
        </p:nvSpPr>
        <p:spPr>
          <a:xfrm>
            <a:off x="274320" y="2176272"/>
            <a:ext cx="1920240" cy="4572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地域選択</a:t>
            </a:r>
          </a:p>
        </p:txBody>
      </p:sp>
      <p:sp>
        <p:nvSpPr>
          <p:cNvPr id="14" name="Rectangle 13"/>
          <p:cNvSpPr/>
          <p:nvPr/>
        </p:nvSpPr>
        <p:spPr>
          <a:xfrm>
            <a:off x="2194560" y="2176272"/>
            <a:ext cx="5074920" cy="4572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小学校区単位での防災情報受信地域の設定。現在地に加え事前登録地点を3か所程度選択</a:t>
            </a:r>
          </a:p>
        </p:txBody>
      </p:sp>
      <p:sp>
        <p:nvSpPr>
          <p:cNvPr id="15" name="Rectangle 14"/>
          <p:cNvSpPr/>
          <p:nvPr/>
        </p:nvSpPr>
        <p:spPr>
          <a:xfrm>
            <a:off x="7269479" y="2176272"/>
            <a:ext cx="1600200" cy="4572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10〜13</a:t>
            </a:r>
          </a:p>
        </p:txBody>
      </p:sp>
      <p:sp>
        <p:nvSpPr>
          <p:cNvPr id="16" name="Rectangle 15"/>
          <p:cNvSpPr/>
          <p:nvPr/>
        </p:nvSpPr>
        <p:spPr>
          <a:xfrm>
            <a:off x="274320" y="2633472"/>
            <a:ext cx="192024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トップメニュー</a:t>
            </a:r>
          </a:p>
        </p:txBody>
      </p:sp>
      <p:sp>
        <p:nvSpPr>
          <p:cNvPr id="17" name="Rectangle 16"/>
          <p:cNvSpPr/>
          <p:nvPr/>
        </p:nvSpPr>
        <p:spPr>
          <a:xfrm>
            <a:off x="2194560" y="2633472"/>
            <a:ext cx="507492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ロゴ表示、現在地の天気予報・最高最低気温、ボトムメニュー、リンク集</a:t>
            </a:r>
          </a:p>
        </p:txBody>
      </p:sp>
      <p:sp>
        <p:nvSpPr>
          <p:cNvPr id="18" name="Rectangle 17"/>
          <p:cNvSpPr/>
          <p:nvPr/>
        </p:nvSpPr>
        <p:spPr>
          <a:xfrm>
            <a:off x="7269479" y="2633472"/>
            <a:ext cx="160020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14〜16</a:t>
            </a:r>
          </a:p>
        </p:txBody>
      </p:sp>
      <p:sp>
        <p:nvSpPr>
          <p:cNvPr id="19" name="Rectangle 18"/>
          <p:cNvSpPr/>
          <p:nvPr/>
        </p:nvSpPr>
        <p:spPr>
          <a:xfrm>
            <a:off x="274320" y="3017520"/>
            <a:ext cx="1920240" cy="71323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危険度の確認</a:t>
            </a:r>
          </a:p>
        </p:txBody>
      </p:sp>
      <p:sp>
        <p:nvSpPr>
          <p:cNvPr id="20" name="Rectangle 19"/>
          <p:cNvSpPr/>
          <p:nvPr/>
        </p:nvSpPr>
        <p:spPr>
          <a:xfrm>
            <a:off x="2194560" y="3017520"/>
            <a:ext cx="5074920" cy="71323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マップ基図切替（Googleマップ／地理院地図）、ハザード情報のレイヤ表示（土砂・河川・津波・高潮・洪水・雨水・ため池）、危険性判定、オフライン地図、ARカメラ・避難コンパスによる避難誘導</a:t>
            </a:r>
          </a:p>
        </p:txBody>
      </p:sp>
      <p:sp>
        <p:nvSpPr>
          <p:cNvPr id="21" name="Rectangle 20"/>
          <p:cNvSpPr/>
          <p:nvPr/>
        </p:nvSpPr>
        <p:spPr>
          <a:xfrm>
            <a:off x="7269479" y="3017520"/>
            <a:ext cx="1600200" cy="71323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17〜23</a:t>
            </a:r>
          </a:p>
        </p:txBody>
      </p:sp>
      <p:sp>
        <p:nvSpPr>
          <p:cNvPr id="22" name="Rectangle 21"/>
          <p:cNvSpPr/>
          <p:nvPr/>
        </p:nvSpPr>
        <p:spPr>
          <a:xfrm>
            <a:off x="274320" y="3730752"/>
            <a:ext cx="1920240" cy="4572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最寄りの避難所へ</a:t>
            </a:r>
          </a:p>
        </p:txBody>
      </p:sp>
      <p:sp>
        <p:nvSpPr>
          <p:cNvPr id="23" name="Rectangle 22"/>
          <p:cNvSpPr/>
          <p:nvPr/>
        </p:nvSpPr>
        <p:spPr>
          <a:xfrm>
            <a:off x="2194560" y="3730752"/>
            <a:ext cx="5074920" cy="45720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Lアラート連携による開設避難所への最短ルート検索、経由地検索・ルート再検索</a:t>
            </a:r>
          </a:p>
        </p:txBody>
      </p:sp>
      <p:sp>
        <p:nvSpPr>
          <p:cNvPr id="24" name="Rectangle 23"/>
          <p:cNvSpPr/>
          <p:nvPr/>
        </p:nvSpPr>
        <p:spPr>
          <a:xfrm>
            <a:off x="7269479" y="3730752"/>
            <a:ext cx="1600200" cy="45720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24〜25</a:t>
            </a:r>
          </a:p>
        </p:txBody>
      </p:sp>
      <p:sp>
        <p:nvSpPr>
          <p:cNvPr id="25" name="Rectangle 24"/>
          <p:cNvSpPr/>
          <p:nvPr/>
        </p:nvSpPr>
        <p:spPr>
          <a:xfrm>
            <a:off x="274320" y="4187952"/>
            <a:ext cx="192024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安否登録・確認</a:t>
            </a:r>
          </a:p>
        </p:txBody>
      </p:sp>
      <p:sp>
        <p:nvSpPr>
          <p:cNvPr id="26" name="Rectangle 25"/>
          <p:cNvSpPr/>
          <p:nvPr/>
        </p:nvSpPr>
        <p:spPr>
          <a:xfrm>
            <a:off x="2194560" y="4187952"/>
            <a:ext cx="5074920" cy="38404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web171・Googleパーソンファインダー・J-anpiへのリンク、家族へのメール送信</a:t>
            </a:r>
          </a:p>
        </p:txBody>
      </p:sp>
      <p:sp>
        <p:nvSpPr>
          <p:cNvPr id="27" name="Rectangle 26"/>
          <p:cNvSpPr/>
          <p:nvPr/>
        </p:nvSpPr>
        <p:spPr>
          <a:xfrm>
            <a:off x="7269479" y="4187952"/>
            <a:ext cx="1600200" cy="38404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26〜31</a:t>
            </a:r>
          </a:p>
        </p:txBody>
      </p:sp>
      <p:sp>
        <p:nvSpPr>
          <p:cNvPr id="28" name="Rectangle 27"/>
          <p:cNvSpPr/>
          <p:nvPr/>
        </p:nvSpPr>
        <p:spPr>
          <a:xfrm>
            <a:off x="274320" y="4572000"/>
            <a:ext cx="1920240" cy="310896"/>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防災ハンドブック</a:t>
            </a:r>
          </a:p>
        </p:txBody>
      </p:sp>
      <p:sp>
        <p:nvSpPr>
          <p:cNvPr id="29" name="Rectangle 28"/>
          <p:cNvSpPr/>
          <p:nvPr/>
        </p:nvSpPr>
        <p:spPr>
          <a:xfrm>
            <a:off x="2194560" y="4572000"/>
            <a:ext cx="5074920" cy="31089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アプリ上での防災ハンドブックの閲覧</a:t>
            </a:r>
          </a:p>
        </p:txBody>
      </p:sp>
      <p:sp>
        <p:nvSpPr>
          <p:cNvPr id="30" name="Rectangle 29"/>
          <p:cNvSpPr/>
          <p:nvPr/>
        </p:nvSpPr>
        <p:spPr>
          <a:xfrm>
            <a:off x="7269479" y="4572000"/>
            <a:ext cx="1600200" cy="310896"/>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32〜33</a:t>
            </a:r>
          </a:p>
        </p:txBody>
      </p:sp>
      <p:sp>
        <p:nvSpPr>
          <p:cNvPr id="31" name="Rectangle 30"/>
          <p:cNvSpPr/>
          <p:nvPr/>
        </p:nvSpPr>
        <p:spPr>
          <a:xfrm>
            <a:off x="274320" y="4882896"/>
            <a:ext cx="192024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避難所検索</a:t>
            </a:r>
          </a:p>
        </p:txBody>
      </p:sp>
      <p:sp>
        <p:nvSpPr>
          <p:cNvPr id="32" name="Rectangle 31"/>
          <p:cNvSpPr/>
          <p:nvPr/>
        </p:nvSpPr>
        <p:spPr>
          <a:xfrm>
            <a:off x="2194560" y="4882896"/>
            <a:ext cx="507492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現在地・地図上の任意地点・全国の地域リストからの検索、避難所詳細（名称・住所・標高・災害対応種別・収容人数・備蓄）</a:t>
            </a:r>
          </a:p>
        </p:txBody>
      </p:sp>
      <p:sp>
        <p:nvSpPr>
          <p:cNvPr id="33" name="Rectangle 32"/>
          <p:cNvSpPr/>
          <p:nvPr/>
        </p:nvSpPr>
        <p:spPr>
          <a:xfrm>
            <a:off x="7269479" y="4882896"/>
            <a:ext cx="160020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34〜35</a:t>
            </a:r>
          </a:p>
        </p:txBody>
      </p:sp>
      <p:sp>
        <p:nvSpPr>
          <p:cNvPr id="34" name="Rectangle 33"/>
          <p:cNvSpPr/>
          <p:nvPr/>
        </p:nvSpPr>
        <p:spPr>
          <a:xfrm>
            <a:off x="274320" y="5449824"/>
            <a:ext cx="1920240" cy="4572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1">
                <a:solidFill>
                  <a:srgbClr val="00587A"/>
                </a:solidFill>
                <a:latin typeface="Meiryo UI"/>
                <a:ea typeface="Meiryo UI"/>
                <a:cs typeface="Meiryo UI"/>
              </a:rPr>
              <a:t>防災情報・お知らせ</a:t>
            </a:r>
          </a:p>
        </p:txBody>
      </p:sp>
      <p:sp>
        <p:nvSpPr>
          <p:cNvPr id="35" name="Rectangle 34"/>
          <p:cNvSpPr/>
          <p:nvPr/>
        </p:nvSpPr>
        <p:spPr>
          <a:xfrm>
            <a:off x="2194560" y="5449824"/>
            <a:ext cx="5074920" cy="45720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Lアラート連携の防災緊急情報、履歴100件程度の保存・未読表示、自治体情報・気象情報の提供</a:t>
            </a:r>
          </a:p>
        </p:txBody>
      </p:sp>
      <p:sp>
        <p:nvSpPr>
          <p:cNvPr id="36" name="Rectangle 35"/>
          <p:cNvSpPr/>
          <p:nvPr/>
        </p:nvSpPr>
        <p:spPr>
          <a:xfrm>
            <a:off x="7269479" y="5449824"/>
            <a:ext cx="1600200" cy="45720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950" b="0">
                <a:solidFill>
                  <a:srgbClr val="262626"/>
                </a:solidFill>
                <a:latin typeface="Meiryo UI"/>
                <a:ea typeface="Meiryo UI"/>
                <a:cs typeface="Meiryo UI"/>
              </a:rPr>
              <a:t>36〜37</a:t>
            </a:r>
          </a:p>
        </p:txBody>
      </p:sp>
      <p:sp>
        <p:nvSpPr>
          <p:cNvPr id="37" name="TextBox 36"/>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地域選択の対象は広島市8区（150区分）・廿日市市（28）・江田島市（25）・熊野町（1）の計204区分。項番は別紙「20260824_現状機能概要まとめ.xlsx」に対応します。</a:t>
            </a:r>
          </a:p>
        </p:txBody>
      </p:sp>
      <p:sp>
        <p:nvSpPr>
          <p:cNvPr id="38" name="TextBox 37"/>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6-3．防災×としポ 企画案</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防災アプリの普及率向上と平時からの防災行動の定着を、としポの付与施策と組み合わせて実現します。</a:t>
            </a:r>
          </a:p>
        </p:txBody>
      </p:sp>
      <p:sp>
        <p:nvSpPr>
          <p:cNvPr id="4" name="Rectangle 3"/>
          <p:cNvSpPr/>
          <p:nvPr/>
        </p:nvSpPr>
        <p:spPr>
          <a:xfrm>
            <a:off x="274320" y="1097280"/>
            <a:ext cx="21031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項目</a:t>
            </a:r>
          </a:p>
        </p:txBody>
      </p:sp>
      <p:sp>
        <p:nvSpPr>
          <p:cNvPr id="5" name="Rectangle 4"/>
          <p:cNvSpPr/>
          <p:nvPr/>
        </p:nvSpPr>
        <p:spPr>
          <a:xfrm>
            <a:off x="2377439" y="1097280"/>
            <a:ext cx="384048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内容</a:t>
            </a:r>
          </a:p>
        </p:txBody>
      </p:sp>
      <p:sp>
        <p:nvSpPr>
          <p:cNvPr id="6" name="Rectangle 5"/>
          <p:cNvSpPr/>
          <p:nvPr/>
        </p:nvSpPr>
        <p:spPr>
          <a:xfrm>
            <a:off x="6217920" y="1097280"/>
            <a:ext cx="26517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補足</a:t>
            </a:r>
          </a:p>
        </p:txBody>
      </p:sp>
      <p:sp>
        <p:nvSpPr>
          <p:cNvPr id="7" name="Rectangle 6"/>
          <p:cNvSpPr/>
          <p:nvPr/>
        </p:nvSpPr>
        <p:spPr>
          <a:xfrm>
            <a:off x="274320" y="1408176"/>
            <a:ext cx="2103120" cy="13716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防災アプリの</a:t>
            </a:r>
          </a:p>
          <a:p>
            <a:pPr algn="ctr" marL="0" indent="0">
              <a:lnSpc>
                <a:spcPct val="112000"/>
              </a:lnSpc>
              <a:spcBef>
                <a:spcPts val="0"/>
              </a:spcBef>
              <a:spcAft>
                <a:spcPts val="300"/>
              </a:spcAft>
              <a:buNone/>
            </a:pPr>
            <a:r>
              <a:rPr sz="1000" b="1">
                <a:solidFill>
                  <a:srgbClr val="00587A"/>
                </a:solidFill>
                <a:latin typeface="Meiryo UI"/>
                <a:ea typeface="Meiryo UI"/>
                <a:cs typeface="Meiryo UI"/>
              </a:rPr>
              <a:t>普及率向上</a:t>
            </a:r>
          </a:p>
        </p:txBody>
      </p:sp>
      <p:sp>
        <p:nvSpPr>
          <p:cNvPr id="8" name="Rectangle 7"/>
          <p:cNvSpPr/>
          <p:nvPr/>
        </p:nvSpPr>
        <p:spPr>
          <a:xfrm>
            <a:off x="2377439" y="1408176"/>
            <a:ext cx="384048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下記の行動に対してとしポを付与</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「避難所へGo!」のインストール（実施中）</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「避難所へGo!」を開く</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広島市防災情報メールの登録</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災害ボランティア事前登録</a:t>
            </a:r>
          </a:p>
        </p:txBody>
      </p:sp>
      <p:sp>
        <p:nvSpPr>
          <p:cNvPr id="9" name="Rectangle 8"/>
          <p:cNvSpPr/>
          <p:nvPr/>
        </p:nvSpPr>
        <p:spPr>
          <a:xfrm>
            <a:off x="6217920" y="1408176"/>
            <a:ext cx="2651760" cy="13716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としポとは別に「防災ポイント」（1p＝1円ではないポイント）を発行可能</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防災グッズ等が当たる抽選への応募といった施策も実施可能</a:t>
            </a:r>
          </a:p>
        </p:txBody>
      </p:sp>
      <p:sp>
        <p:nvSpPr>
          <p:cNvPr id="10" name="Rectangle 9"/>
          <p:cNvSpPr/>
          <p:nvPr/>
        </p:nvSpPr>
        <p:spPr>
          <a:xfrm>
            <a:off x="274320" y="2779776"/>
            <a:ext cx="2103120" cy="9601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避難所チェックラリー</a:t>
            </a:r>
          </a:p>
        </p:txBody>
      </p:sp>
      <p:sp>
        <p:nvSpPr>
          <p:cNvPr id="11" name="Rectangle 10"/>
          <p:cNvSpPr/>
          <p:nvPr/>
        </p:nvSpPr>
        <p:spPr>
          <a:xfrm>
            <a:off x="2377439" y="2779776"/>
            <a:ext cx="3840480" cy="96012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マップ上に表示された避難所等の半径●m以内に入るとチェックインが可能（1日1回など）</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チェックインで1日1回ポイントを付与</a:t>
            </a:r>
          </a:p>
        </p:txBody>
      </p:sp>
      <p:sp>
        <p:nvSpPr>
          <p:cNvPr id="12" name="Rectangle 11"/>
          <p:cNvSpPr/>
          <p:nvPr/>
        </p:nvSpPr>
        <p:spPr>
          <a:xfrm>
            <a:off x="6217920" y="2779776"/>
            <a:ext cx="2651760" cy="96012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チェックイン＋防災に関する動画閲覧でのポイント付与も可能</a:t>
            </a:r>
          </a:p>
        </p:txBody>
      </p:sp>
      <p:sp>
        <p:nvSpPr>
          <p:cNvPr id="13" name="Rectangle 12"/>
          <p:cNvSpPr/>
          <p:nvPr/>
        </p:nvSpPr>
        <p:spPr>
          <a:xfrm>
            <a:off x="274320" y="3739896"/>
            <a:ext cx="2103120" cy="91440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防災スタンプラリー</a:t>
            </a:r>
          </a:p>
        </p:txBody>
      </p:sp>
      <p:sp>
        <p:nvSpPr>
          <p:cNvPr id="14" name="Rectangle 13"/>
          <p:cNvSpPr/>
          <p:nvPr/>
        </p:nvSpPr>
        <p:spPr>
          <a:xfrm>
            <a:off x="2377439" y="3739896"/>
            <a:ext cx="3840480" cy="9144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避難所巡りでスタンプを獲得し、達成者にとしポを付与</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広域都市圏を対象としたスタンプラリーも可能</a:t>
            </a:r>
          </a:p>
        </p:txBody>
      </p:sp>
      <p:sp>
        <p:nvSpPr>
          <p:cNvPr id="15" name="Rectangle 14"/>
          <p:cNvSpPr/>
          <p:nvPr/>
        </p:nvSpPr>
        <p:spPr>
          <a:xfrm>
            <a:off x="6217920" y="3739896"/>
            <a:ext cx="2651760" cy="91440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例）広島市中心部：広島市役所前避難所、平和記念公園津波避難ビル、比治山公園</a:t>
            </a:r>
          </a:p>
        </p:txBody>
      </p:sp>
      <p:sp>
        <p:nvSpPr>
          <p:cNvPr id="16" name="Rectangle 15"/>
          <p:cNvSpPr/>
          <p:nvPr/>
        </p:nvSpPr>
        <p:spPr>
          <a:xfrm>
            <a:off x="274320" y="4654296"/>
            <a:ext cx="2103120" cy="86868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防災クイズ</a:t>
            </a:r>
          </a:p>
        </p:txBody>
      </p:sp>
      <p:sp>
        <p:nvSpPr>
          <p:cNvPr id="17" name="Rectangle 16"/>
          <p:cNvSpPr/>
          <p:nvPr/>
        </p:nvSpPr>
        <p:spPr>
          <a:xfrm>
            <a:off x="2377439" y="4654296"/>
            <a:ext cx="3840480" cy="86868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3択クイズに正解するととしポをプレゼント</a:t>
            </a:r>
          </a:p>
        </p:txBody>
      </p:sp>
      <p:sp>
        <p:nvSpPr>
          <p:cNvPr id="18" name="Rectangle 17"/>
          <p:cNvSpPr/>
          <p:nvPr/>
        </p:nvSpPr>
        <p:spPr>
          <a:xfrm>
            <a:off x="6217920" y="4654296"/>
            <a:ext cx="2651760" cy="86868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例）広島市で特に多い災害はどれですか？（大規模雪害／土砂災害／竜巻）</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例）大雨危険警報はどの警戒レベルに対応しますか？（警戒レベル4／3／2）</a:t>
            </a:r>
          </a:p>
        </p:txBody>
      </p:sp>
      <p:sp>
        <p:nvSpPr>
          <p:cNvPr id="19" name="TextBox 18"/>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貯まった防災ポイントで防災グッズ等が当たる抽選への応募、一定以上の獲得者を「防災マスター」として表彰する等の運用も可能です。</a:t>
            </a:r>
          </a:p>
        </p:txBody>
      </p:sp>
      <p:sp>
        <p:nvSpPr>
          <p:cNvPr id="20" name="TextBox 19"/>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7-1．管理画面と運用フロー</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アプリ改修を伴わない管理画面運用により、市の運用サイクルに合わせた情報発信を実現します。</a:t>
            </a:r>
          </a:p>
        </p:txBody>
      </p:sp>
      <p:sp>
        <p:nvSpPr>
          <p:cNvPr id="4" name="Rectangle 3"/>
          <p:cNvSpPr/>
          <p:nvPr/>
        </p:nvSpPr>
        <p:spPr>
          <a:xfrm>
            <a:off x="274320" y="1097280"/>
            <a:ext cx="21945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管理メニュー</a:t>
            </a:r>
          </a:p>
        </p:txBody>
      </p:sp>
      <p:sp>
        <p:nvSpPr>
          <p:cNvPr id="5" name="Rectangle 4"/>
          <p:cNvSpPr/>
          <p:nvPr/>
        </p:nvSpPr>
        <p:spPr>
          <a:xfrm>
            <a:off x="2468879" y="1097280"/>
            <a:ext cx="329184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主な操作</a:t>
            </a:r>
          </a:p>
        </p:txBody>
      </p:sp>
      <p:sp>
        <p:nvSpPr>
          <p:cNvPr id="6" name="Rectangle 5"/>
          <p:cNvSpPr/>
          <p:nvPr/>
        </p:nvSpPr>
        <p:spPr>
          <a:xfrm>
            <a:off x="5760720" y="1097280"/>
            <a:ext cx="31089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運用イメージ</a:t>
            </a:r>
          </a:p>
        </p:txBody>
      </p:sp>
      <p:sp>
        <p:nvSpPr>
          <p:cNvPr id="7" name="Rectangle 6"/>
          <p:cNvSpPr/>
          <p:nvPr/>
        </p:nvSpPr>
        <p:spPr>
          <a:xfrm>
            <a:off x="274320" y="1408176"/>
            <a:ext cx="219456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メニュー・</a:t>
            </a:r>
          </a:p>
          <a:p>
            <a:pPr algn="ctr" marL="0" indent="0">
              <a:lnSpc>
                <a:spcPct val="112000"/>
              </a:lnSpc>
              <a:spcBef>
                <a:spcPts val="0"/>
              </a:spcBef>
              <a:spcAft>
                <a:spcPts val="300"/>
              </a:spcAft>
              <a:buNone/>
            </a:pPr>
            <a:r>
              <a:rPr sz="1000" b="1">
                <a:solidFill>
                  <a:srgbClr val="00587A"/>
                </a:solidFill>
                <a:latin typeface="Meiryo UI"/>
                <a:ea typeface="Meiryo UI"/>
                <a:cs typeface="Meiryo UI"/>
              </a:rPr>
              <a:t>コンテンツ管理</a:t>
            </a:r>
          </a:p>
        </p:txBody>
      </p:sp>
      <p:sp>
        <p:nvSpPr>
          <p:cNvPr id="8" name="Rectangle 7"/>
          <p:cNvSpPr/>
          <p:nvPr/>
        </p:nvSpPr>
        <p:spPr>
          <a:xfrm>
            <a:off x="2468879" y="1408176"/>
            <a:ext cx="329184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メニュー名称／アイコン／並び順／遷移先の登録・変更</a:t>
            </a:r>
          </a:p>
        </p:txBody>
      </p:sp>
      <p:sp>
        <p:nvSpPr>
          <p:cNvPr id="9" name="Rectangle 8"/>
          <p:cNvSpPr/>
          <p:nvPr/>
        </p:nvSpPr>
        <p:spPr>
          <a:xfrm>
            <a:off x="5760720" y="1408176"/>
            <a:ext cx="310896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アプリ改修・ストア申請なしで反映</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（項番89）</a:t>
            </a:r>
          </a:p>
        </p:txBody>
      </p:sp>
      <p:sp>
        <p:nvSpPr>
          <p:cNvPr id="10" name="Rectangle 9"/>
          <p:cNvSpPr/>
          <p:nvPr/>
        </p:nvSpPr>
        <p:spPr>
          <a:xfrm>
            <a:off x="274320" y="1975104"/>
            <a:ext cx="2194560" cy="5029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お知らせ管理</a:t>
            </a:r>
          </a:p>
        </p:txBody>
      </p:sp>
      <p:sp>
        <p:nvSpPr>
          <p:cNvPr id="11" name="Rectangle 10"/>
          <p:cNvSpPr/>
          <p:nvPr/>
        </p:nvSpPr>
        <p:spPr>
          <a:xfrm>
            <a:off x="2468879" y="1975104"/>
            <a:ext cx="3291840" cy="50292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お知らせの起案・カテゴリ設定・対象エリア指定（市全域／各区）</a:t>
            </a:r>
          </a:p>
        </p:txBody>
      </p:sp>
      <p:sp>
        <p:nvSpPr>
          <p:cNvPr id="12" name="Rectangle 11"/>
          <p:cNvSpPr/>
          <p:nvPr/>
        </p:nvSpPr>
        <p:spPr>
          <a:xfrm>
            <a:off x="5760720" y="1975104"/>
            <a:ext cx="3108960" cy="50292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所管課が起案し、広報担当が承認</a:t>
            </a:r>
          </a:p>
        </p:txBody>
      </p:sp>
      <p:sp>
        <p:nvSpPr>
          <p:cNvPr id="13" name="Rectangle 12"/>
          <p:cNvSpPr/>
          <p:nvPr/>
        </p:nvSpPr>
        <p:spPr>
          <a:xfrm>
            <a:off x="274320" y="2478024"/>
            <a:ext cx="2194560" cy="5029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広報誌管理</a:t>
            </a:r>
          </a:p>
        </p:txBody>
      </p:sp>
      <p:sp>
        <p:nvSpPr>
          <p:cNvPr id="14" name="Rectangle 13"/>
          <p:cNvSpPr/>
          <p:nvPr/>
        </p:nvSpPr>
        <p:spPr>
          <a:xfrm>
            <a:off x="2468879" y="2478024"/>
            <a:ext cx="329184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広報誌・号数の登録、PDF／表紙画像の登録、公開ステータス管理</a:t>
            </a:r>
          </a:p>
        </p:txBody>
      </p:sp>
      <p:sp>
        <p:nvSpPr>
          <p:cNvPr id="15" name="Rectangle 14"/>
          <p:cNvSpPr/>
          <p:nvPr/>
        </p:nvSpPr>
        <p:spPr>
          <a:xfrm>
            <a:off x="5760720" y="2478024"/>
            <a:ext cx="310896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入稿から公開までを1画面で完結</a:t>
            </a:r>
          </a:p>
        </p:txBody>
      </p:sp>
      <p:sp>
        <p:nvSpPr>
          <p:cNvPr id="16" name="Rectangle 15"/>
          <p:cNvSpPr/>
          <p:nvPr/>
        </p:nvSpPr>
        <p:spPr>
          <a:xfrm>
            <a:off x="274320" y="2980944"/>
            <a:ext cx="219456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配信・承認管理</a:t>
            </a:r>
          </a:p>
        </p:txBody>
      </p:sp>
      <p:sp>
        <p:nvSpPr>
          <p:cNvPr id="17" name="Rectangle 16"/>
          <p:cNvSpPr/>
          <p:nvPr/>
        </p:nvSpPr>
        <p:spPr>
          <a:xfrm>
            <a:off x="2468879" y="2980944"/>
            <a:ext cx="329184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起案の承認／却下・差し戻し、予約配信日時の設定、プッシュ通知の同時送信</a:t>
            </a:r>
          </a:p>
        </p:txBody>
      </p:sp>
      <p:sp>
        <p:nvSpPr>
          <p:cNvPr id="18" name="Rectangle 17"/>
          <p:cNvSpPr/>
          <p:nvPr/>
        </p:nvSpPr>
        <p:spPr>
          <a:xfrm>
            <a:off x="5760720" y="2980944"/>
            <a:ext cx="310896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承認フローにより誤配信を防止</a:t>
            </a:r>
          </a:p>
        </p:txBody>
      </p:sp>
      <p:sp>
        <p:nvSpPr>
          <p:cNvPr id="19" name="Rectangle 18"/>
          <p:cNvSpPr/>
          <p:nvPr/>
        </p:nvSpPr>
        <p:spPr>
          <a:xfrm>
            <a:off x="274320" y="3547872"/>
            <a:ext cx="2194560" cy="43891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通知管理</a:t>
            </a:r>
          </a:p>
        </p:txBody>
      </p:sp>
      <p:sp>
        <p:nvSpPr>
          <p:cNvPr id="20" name="Rectangle 19"/>
          <p:cNvSpPr/>
          <p:nvPr/>
        </p:nvSpPr>
        <p:spPr>
          <a:xfrm>
            <a:off x="2468879" y="3547872"/>
            <a:ext cx="329184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プッシュ通知の作成・予約配信・配信結果の確認</a:t>
            </a:r>
          </a:p>
        </p:txBody>
      </p:sp>
      <p:sp>
        <p:nvSpPr>
          <p:cNvPr id="21" name="Rectangle 20"/>
          <p:cNvSpPr/>
          <p:nvPr/>
        </p:nvSpPr>
        <p:spPr>
          <a:xfrm>
            <a:off x="5760720" y="3547872"/>
            <a:ext cx="310896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発行案内の通知と広報誌公開を連動</a:t>
            </a:r>
          </a:p>
        </p:txBody>
      </p:sp>
      <p:sp>
        <p:nvSpPr>
          <p:cNvPr id="22" name="Rectangle 21"/>
          <p:cNvSpPr/>
          <p:nvPr/>
        </p:nvSpPr>
        <p:spPr>
          <a:xfrm>
            <a:off x="274320" y="3986783"/>
            <a:ext cx="2194560" cy="43891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利用状況の確認</a:t>
            </a:r>
          </a:p>
        </p:txBody>
      </p:sp>
      <p:sp>
        <p:nvSpPr>
          <p:cNvPr id="23" name="Rectangle 22"/>
          <p:cNvSpPr/>
          <p:nvPr/>
        </p:nvSpPr>
        <p:spPr>
          <a:xfrm>
            <a:off x="2468879" y="3986783"/>
            <a:ext cx="3291840" cy="438912"/>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配信対象者数・開封率・閲覧数の確認、CSV出力</a:t>
            </a:r>
          </a:p>
        </p:txBody>
      </p:sp>
      <p:sp>
        <p:nvSpPr>
          <p:cNvPr id="24" name="Rectangle 23"/>
          <p:cNvSpPr/>
          <p:nvPr/>
        </p:nvSpPr>
        <p:spPr>
          <a:xfrm>
            <a:off x="5760720" y="3986783"/>
            <a:ext cx="3108960" cy="438912"/>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効果検証と次回施策の改善に活用</a:t>
            </a:r>
          </a:p>
        </p:txBody>
      </p:sp>
      <p:sp>
        <p:nvSpPr>
          <p:cNvPr id="25" name="TextBox 24"/>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権限（起案／承認／閲覧）は操作ID管理により、所管課・区役所等の運用体制に合わせて設定します。</a:t>
            </a:r>
          </a:p>
        </p:txBody>
      </p:sp>
      <p:sp>
        <p:nvSpPr>
          <p:cNvPr id="26" name="TextBox 25"/>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7-2．分析・効果測定</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GCP／BigQueryを活用し、利用状況の可視化とデータに基づく施策改善をご支援します。</a:t>
            </a:r>
          </a:p>
        </p:txBody>
      </p:sp>
      <p:sp>
        <p:nvSpPr>
          <p:cNvPr id="4" name="Rectangle 3"/>
          <p:cNvSpPr/>
          <p:nvPr/>
        </p:nvSpPr>
        <p:spPr>
          <a:xfrm>
            <a:off x="274320" y="1143000"/>
            <a:ext cx="155448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分析基盤</a:t>
            </a:r>
          </a:p>
        </p:txBody>
      </p:sp>
      <p:sp>
        <p:nvSpPr>
          <p:cNvPr id="5" name="TextBox 4"/>
          <p:cNvSpPr txBox="1"/>
          <p:nvPr/>
        </p:nvSpPr>
        <p:spPr>
          <a:xfrm>
            <a:off x="1920240" y="1143000"/>
            <a:ext cx="6949440" cy="96012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弊社システムはGCPのサーバー環境で稼働し、BigQueryを活用したデータの可視化が可能</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ダッシュボードは事業特性に応じてカスタマイズ可能。管理画面から取引データのCSV出力にも対応</a:t>
            </a:r>
          </a:p>
        </p:txBody>
      </p:sp>
      <p:sp>
        <p:nvSpPr>
          <p:cNvPr id="6" name="Rectangle 5"/>
          <p:cNvSpPr/>
          <p:nvPr/>
        </p:nvSpPr>
        <p:spPr>
          <a:xfrm>
            <a:off x="274320" y="2240280"/>
            <a:ext cx="1554480" cy="960120"/>
          </a:xfrm>
          <a:prstGeom prst="rect">
            <a:avLst/>
          </a:prstGeom>
          <a:solidFill>
            <a:srgbClr val="00587A"/>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分析観点</a:t>
            </a:r>
          </a:p>
        </p:txBody>
      </p:sp>
      <p:sp>
        <p:nvSpPr>
          <p:cNvPr id="7" name="TextBox 6"/>
          <p:cNvSpPr txBox="1"/>
          <p:nvPr/>
        </p:nvSpPr>
        <p:spPr>
          <a:xfrm>
            <a:off x="1920240" y="2240280"/>
            <a:ext cx="6949440" cy="960120"/>
          </a:xfrm>
          <a:prstGeom prst="rect">
            <a:avLst/>
          </a:prstGeom>
          <a:noFill/>
        </p:spPr>
        <p:txBody>
          <a:bodyPr wrap="square" anchor="t" lIns="45720" rIns="45720" tIns="18288" bIns="18288">
            <a:spAutoFit/>
          </a:bodyPr>
          <a:lstStyle/>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ファネル分析により、登録者数の伸び悩みや同意画面での離脱等の原因を究明</a:t>
            </a:r>
          </a:p>
          <a:p>
            <a:pPr algn="l" marL="212344" indent="-181610">
              <a:lnSpc>
                <a:spcPct val="112000"/>
              </a:lnSpc>
              <a:spcBef>
                <a:spcPts val="0"/>
              </a:spcBef>
              <a:spcAft>
                <a:spcPts val="300"/>
              </a:spcAft>
              <a:buClr>
                <a:srgbClr val="0081AF"/>
              </a:buClr>
              <a:buSzPct val="55000"/>
              <a:buFont typeface="Arial"/>
              <a:buChar char="●"/>
            </a:pPr>
            <a:r>
              <a:rPr sz="1100" b="0">
                <a:solidFill>
                  <a:srgbClr val="262626"/>
                </a:solidFill>
                <a:latin typeface="Meiryo UI"/>
                <a:ea typeface="Meiryo UI"/>
                <a:cs typeface="Meiryo UI"/>
              </a:rPr>
              <a:t>アプリ・サーバーの各種データを取り込み、施策実施前後の変化を定量的に確認</a:t>
            </a:r>
          </a:p>
        </p:txBody>
      </p:sp>
      <p:sp>
        <p:nvSpPr>
          <p:cNvPr id="8" name="TextBox 7"/>
          <p:cNvSpPr txBox="1"/>
          <p:nvPr/>
        </p:nvSpPr>
        <p:spPr>
          <a:xfrm>
            <a:off x="274320" y="3383280"/>
            <a:ext cx="8595360" cy="329184"/>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1">
                <a:solidFill>
                  <a:srgbClr val="00587A"/>
                </a:solidFill>
                <a:latin typeface="Meiryo UI"/>
                <a:ea typeface="Meiryo UI"/>
                <a:cs typeface="Meiryo UI"/>
              </a:rPr>
              <a:t>KPI（案）</a:t>
            </a:r>
          </a:p>
        </p:txBody>
      </p:sp>
      <p:sp>
        <p:nvSpPr>
          <p:cNvPr id="9" name="Rectangle 8"/>
          <p:cNvSpPr/>
          <p:nvPr/>
        </p:nvSpPr>
        <p:spPr>
          <a:xfrm>
            <a:off x="274320" y="3749039"/>
            <a:ext cx="21031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区分</a:t>
            </a:r>
          </a:p>
        </p:txBody>
      </p:sp>
      <p:sp>
        <p:nvSpPr>
          <p:cNvPr id="10" name="Rectangle 9"/>
          <p:cNvSpPr/>
          <p:nvPr/>
        </p:nvSpPr>
        <p:spPr>
          <a:xfrm>
            <a:off x="2377439" y="3749039"/>
            <a:ext cx="338328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指標</a:t>
            </a:r>
          </a:p>
        </p:txBody>
      </p:sp>
      <p:sp>
        <p:nvSpPr>
          <p:cNvPr id="11" name="Rectangle 10"/>
          <p:cNvSpPr/>
          <p:nvPr/>
        </p:nvSpPr>
        <p:spPr>
          <a:xfrm>
            <a:off x="5760720" y="3749039"/>
            <a:ext cx="31089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取得方法</a:t>
            </a:r>
          </a:p>
        </p:txBody>
      </p:sp>
      <p:sp>
        <p:nvSpPr>
          <p:cNvPr id="12" name="Rectangle 11"/>
          <p:cNvSpPr/>
          <p:nvPr/>
        </p:nvSpPr>
        <p:spPr>
          <a:xfrm>
            <a:off x="274320" y="4059935"/>
            <a:ext cx="2103120" cy="5029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A．広島市モード</a:t>
            </a:r>
          </a:p>
        </p:txBody>
      </p:sp>
      <p:sp>
        <p:nvSpPr>
          <p:cNvPr id="13" name="Rectangle 12"/>
          <p:cNvSpPr/>
          <p:nvPr/>
        </p:nvSpPr>
        <p:spPr>
          <a:xfrm>
            <a:off x="2377439" y="4059935"/>
            <a:ext cx="338328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インストール数／広島市モードON率／ホーム表示回数</a:t>
            </a:r>
          </a:p>
        </p:txBody>
      </p:sp>
      <p:sp>
        <p:nvSpPr>
          <p:cNvPr id="14" name="Rectangle 13"/>
          <p:cNvSpPr/>
          <p:nvPr/>
        </p:nvSpPr>
        <p:spPr>
          <a:xfrm>
            <a:off x="5760720" y="4059935"/>
            <a:ext cx="310896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弊社システムDB／BigQuery</a:t>
            </a:r>
          </a:p>
        </p:txBody>
      </p:sp>
      <p:sp>
        <p:nvSpPr>
          <p:cNvPr id="15" name="Rectangle 14"/>
          <p:cNvSpPr/>
          <p:nvPr/>
        </p:nvSpPr>
        <p:spPr>
          <a:xfrm>
            <a:off x="274320" y="4562855"/>
            <a:ext cx="210312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B．電子申請</a:t>
            </a:r>
          </a:p>
        </p:txBody>
      </p:sp>
      <p:sp>
        <p:nvSpPr>
          <p:cNvPr id="16" name="Rectangle 15"/>
          <p:cNvSpPr/>
          <p:nvPr/>
        </p:nvSpPr>
        <p:spPr>
          <a:xfrm>
            <a:off x="2377439" y="4562855"/>
            <a:ext cx="338328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電子申請メニューの遷移数・遷移率</a:t>
            </a:r>
          </a:p>
        </p:txBody>
      </p:sp>
      <p:sp>
        <p:nvSpPr>
          <p:cNvPr id="17" name="Rectangle 16"/>
          <p:cNvSpPr/>
          <p:nvPr/>
        </p:nvSpPr>
        <p:spPr>
          <a:xfrm>
            <a:off x="5760720" y="4562855"/>
            <a:ext cx="310896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アプリイベントログ</a:t>
            </a:r>
          </a:p>
        </p:txBody>
      </p:sp>
      <p:sp>
        <p:nvSpPr>
          <p:cNvPr id="18" name="Rectangle 17"/>
          <p:cNvSpPr/>
          <p:nvPr/>
        </p:nvSpPr>
        <p:spPr>
          <a:xfrm>
            <a:off x="274320" y="4946903"/>
            <a:ext cx="2103120" cy="5029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C．広報</a:t>
            </a:r>
          </a:p>
        </p:txBody>
      </p:sp>
      <p:sp>
        <p:nvSpPr>
          <p:cNvPr id="19" name="Rectangle 18"/>
          <p:cNvSpPr/>
          <p:nvPr/>
        </p:nvSpPr>
        <p:spPr>
          <a:xfrm>
            <a:off x="2377439" y="4946903"/>
            <a:ext cx="338328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広報紙の閲覧数／通知開封率／区別の閲覧傾向</a:t>
            </a:r>
          </a:p>
        </p:txBody>
      </p:sp>
      <p:sp>
        <p:nvSpPr>
          <p:cNvPr id="20" name="Rectangle 19"/>
          <p:cNvSpPr/>
          <p:nvPr/>
        </p:nvSpPr>
        <p:spPr>
          <a:xfrm>
            <a:off x="5760720" y="4946903"/>
            <a:ext cx="3108960" cy="5029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管理画面（閲覧数・開封率）</a:t>
            </a:r>
          </a:p>
        </p:txBody>
      </p:sp>
      <p:sp>
        <p:nvSpPr>
          <p:cNvPr id="21" name="Rectangle 20"/>
          <p:cNvSpPr/>
          <p:nvPr/>
        </p:nvSpPr>
        <p:spPr>
          <a:xfrm>
            <a:off x="274320" y="5449823"/>
            <a:ext cx="2103120" cy="38404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D．防災</a:t>
            </a:r>
          </a:p>
        </p:txBody>
      </p:sp>
      <p:sp>
        <p:nvSpPr>
          <p:cNvPr id="22" name="Rectangle 21"/>
          <p:cNvSpPr/>
          <p:nvPr/>
        </p:nvSpPr>
        <p:spPr>
          <a:xfrm>
            <a:off x="2377439" y="5449823"/>
            <a:ext cx="338328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「避難所へGo!」への遷移数／ストア遷移数</a:t>
            </a:r>
          </a:p>
        </p:txBody>
      </p:sp>
      <p:sp>
        <p:nvSpPr>
          <p:cNvPr id="23" name="Rectangle 22"/>
          <p:cNvSpPr/>
          <p:nvPr/>
        </p:nvSpPr>
        <p:spPr>
          <a:xfrm>
            <a:off x="5760720" y="5449823"/>
            <a:ext cx="3108960" cy="38404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アプリイベントログ</a:t>
            </a:r>
          </a:p>
        </p:txBody>
      </p:sp>
      <p:sp>
        <p:nvSpPr>
          <p:cNvPr id="24" name="TextBox 23"/>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指標および取得方法は、要件定義にて最終確定します。</a:t>
            </a:r>
          </a:p>
        </p:txBody>
      </p:sp>
      <p:sp>
        <p:nvSpPr>
          <p:cNvPr id="25" name="TextBox 2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7-3．システム基盤・セキュリティ</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既存パッケージの実績ある基盤を活用し、可用性・セキュリティ・運用性を確保します。</a:t>
            </a:r>
          </a:p>
        </p:txBody>
      </p:sp>
      <p:sp>
        <p:nvSpPr>
          <p:cNvPr id="4" name="Rectangle 3"/>
          <p:cNvSpPr/>
          <p:nvPr/>
        </p:nvSpPr>
        <p:spPr>
          <a:xfrm>
            <a:off x="274320" y="1097280"/>
            <a:ext cx="21031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区分</a:t>
            </a:r>
          </a:p>
        </p:txBody>
      </p:sp>
      <p:sp>
        <p:nvSpPr>
          <p:cNvPr id="5" name="Rectangle 4"/>
          <p:cNvSpPr/>
          <p:nvPr/>
        </p:nvSpPr>
        <p:spPr>
          <a:xfrm>
            <a:off x="2377439" y="1097280"/>
            <a:ext cx="649224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内容</a:t>
            </a:r>
          </a:p>
        </p:txBody>
      </p:sp>
      <p:sp>
        <p:nvSpPr>
          <p:cNvPr id="6" name="Rectangle 5"/>
          <p:cNvSpPr/>
          <p:nvPr/>
        </p:nvSpPr>
        <p:spPr>
          <a:xfrm>
            <a:off x="274320" y="1408176"/>
            <a:ext cx="2103120" cy="7772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稼働環境</a:t>
            </a:r>
          </a:p>
        </p:txBody>
      </p:sp>
      <p:sp>
        <p:nvSpPr>
          <p:cNvPr id="7" name="Rectangle 6"/>
          <p:cNvSpPr/>
          <p:nvPr/>
        </p:nvSpPr>
        <p:spPr>
          <a:xfrm>
            <a:off x="2377439" y="1408176"/>
            <a:ext cx="6492240" cy="7772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インターネット上のクラウド（GCP）を利用し、安定的な常時運用が可能で耐災性の高い構成とする</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データセンターは、広島市で災害が発生しても影響が生じない地域のものとする</a:t>
            </a:r>
          </a:p>
        </p:txBody>
      </p:sp>
      <p:sp>
        <p:nvSpPr>
          <p:cNvPr id="8" name="Rectangle 7"/>
          <p:cNvSpPr/>
          <p:nvPr/>
        </p:nvSpPr>
        <p:spPr>
          <a:xfrm>
            <a:off x="274320" y="2185416"/>
            <a:ext cx="2103120" cy="7772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認証・第三者評価</a:t>
            </a:r>
          </a:p>
        </p:txBody>
      </p:sp>
      <p:sp>
        <p:nvSpPr>
          <p:cNvPr id="9" name="Rectangle 8"/>
          <p:cNvSpPr/>
          <p:nvPr/>
        </p:nvSpPr>
        <p:spPr>
          <a:xfrm>
            <a:off x="2377439" y="2185416"/>
            <a:ext cx="6492240" cy="7772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プライバシーマーク、情報セキュリティマネジメントシステム（ISMS／ISO27001）の認証を取得</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デジタル庁「デジタル地方創生サービスカタログ」に「よむすび」「健康ポイント」が掲載</a:t>
            </a:r>
          </a:p>
        </p:txBody>
      </p:sp>
      <p:sp>
        <p:nvSpPr>
          <p:cNvPr id="10" name="Rectangle 9"/>
          <p:cNvSpPr/>
          <p:nvPr/>
        </p:nvSpPr>
        <p:spPr>
          <a:xfrm>
            <a:off x="274320" y="2962656"/>
            <a:ext cx="2103120" cy="7772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アプリの安全性</a:t>
            </a:r>
          </a:p>
        </p:txBody>
      </p:sp>
      <p:sp>
        <p:nvSpPr>
          <p:cNvPr id="11" name="Rectangle 10"/>
          <p:cNvSpPr/>
          <p:nvPr/>
        </p:nvSpPr>
        <p:spPr>
          <a:xfrm>
            <a:off x="2377439" y="2962656"/>
            <a:ext cx="6492240" cy="7772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PDF閲覧時のセキュリティに配慮（外部ファイルに起因するリスク対策）</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対象OSは、リリース時点でサポートされる版数に合わせて設定</a:t>
            </a:r>
          </a:p>
        </p:txBody>
      </p:sp>
      <p:sp>
        <p:nvSpPr>
          <p:cNvPr id="12" name="Rectangle 11"/>
          <p:cNvSpPr/>
          <p:nvPr/>
        </p:nvSpPr>
        <p:spPr>
          <a:xfrm>
            <a:off x="274320" y="3739896"/>
            <a:ext cx="2103120" cy="7772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運用性</a:t>
            </a:r>
          </a:p>
        </p:txBody>
      </p:sp>
      <p:sp>
        <p:nvSpPr>
          <p:cNvPr id="13" name="Rectangle 12"/>
          <p:cNvSpPr/>
          <p:nvPr/>
        </p:nvSpPr>
        <p:spPr>
          <a:xfrm>
            <a:off x="2377439" y="3739896"/>
            <a:ext cx="6492240" cy="77724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電子申請・防災アプリの遷移先は、Firebase Remote Config等の標準機能を活用しリリース不要で変更可能</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メニュー・コンテンツは管理画面から変更でき、アプリ改修・ストア申請を伴わない</a:t>
            </a:r>
          </a:p>
        </p:txBody>
      </p:sp>
      <p:sp>
        <p:nvSpPr>
          <p:cNvPr id="14" name="Rectangle 13"/>
          <p:cNvSpPr/>
          <p:nvPr/>
        </p:nvSpPr>
        <p:spPr>
          <a:xfrm>
            <a:off x="274320" y="4517136"/>
            <a:ext cx="2103120" cy="100584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防災同等機能</a:t>
            </a:r>
          </a:p>
          <a:p>
            <a:pPr algn="ctr" marL="0" indent="0">
              <a:lnSpc>
                <a:spcPct val="112000"/>
              </a:lnSpc>
              <a:spcBef>
                <a:spcPts val="0"/>
              </a:spcBef>
              <a:spcAft>
                <a:spcPts val="300"/>
              </a:spcAft>
              <a:buNone/>
            </a:pPr>
            <a:r>
              <a:rPr sz="1000" b="1">
                <a:solidFill>
                  <a:srgbClr val="00587A"/>
                </a:solidFill>
                <a:latin typeface="Meiryo UI"/>
                <a:ea typeface="Meiryo UI"/>
                <a:cs typeface="Meiryo UI"/>
              </a:rPr>
              <a:t>実装時の前提</a:t>
            </a:r>
          </a:p>
        </p:txBody>
      </p:sp>
      <p:sp>
        <p:nvSpPr>
          <p:cNvPr id="15" name="Rectangle 14"/>
          <p:cNvSpPr/>
          <p:nvPr/>
        </p:nvSpPr>
        <p:spPr>
          <a:xfrm>
            <a:off x="2377439" y="4517136"/>
            <a:ext cx="6492240" cy="100584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36576" bIns="36576"/>
          <a:lstStyle/>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10万人が同時にアクセスした場合も支障なく運用できる容量と性能を確保</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ポップアップ通知は、正常な通信下において10万人に対して10秒程度で全利用者へ通知</a:t>
            </a:r>
          </a:p>
          <a:p>
            <a:pPr algn="l" marL="193040" indent="-165100">
              <a:lnSpc>
                <a:spcPct val="112000"/>
              </a:lnSpc>
              <a:spcBef>
                <a:spcPts val="0"/>
              </a:spcBef>
              <a:spcAft>
                <a:spcPts val="300"/>
              </a:spcAft>
              <a:buClr>
                <a:srgbClr val="0081AF"/>
              </a:buClr>
              <a:buSzPct val="55000"/>
              <a:buFont typeface="Arial"/>
              <a:buChar char="●"/>
            </a:pPr>
            <a:r>
              <a:rPr sz="1000" b="0">
                <a:solidFill>
                  <a:srgbClr val="262626"/>
                </a:solidFill>
                <a:latin typeface="Meiryo UI"/>
                <a:ea typeface="Meiryo UI"/>
                <a:cs typeface="Meiryo UI"/>
              </a:rPr>
              <a:t>Lアラートの情報伝達者申請、App Store／Google Playへの登録申請の補助を実施</a:t>
            </a:r>
          </a:p>
        </p:txBody>
      </p:sp>
      <p:sp>
        <p:nvSpPr>
          <p:cNvPr id="16" name="TextBox 15"/>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「防災同等機能実装時の前提」は、現行「避難所へGo!」の仕様書に基づく要件です（R9年度以降のご提案範囲）。</a:t>
            </a:r>
          </a:p>
        </p:txBody>
      </p:sp>
      <p:sp>
        <p:nvSpPr>
          <p:cNvPr id="17" name="TextBox 16"/>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8-1．実施スケジュール（案）</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R8年度は4要件のリリースを最優先とし、並行して防災機能拡張の概算お見積もりを提出します。</a:t>
            </a:r>
          </a:p>
        </p:txBody>
      </p:sp>
      <p:sp>
        <p:nvSpPr>
          <p:cNvPr id="4" name="Rectangle 3"/>
          <p:cNvSpPr/>
          <p:nvPr/>
        </p:nvSpPr>
        <p:spPr>
          <a:xfrm>
            <a:off x="274320" y="1143000"/>
            <a:ext cx="17373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工程</a:t>
            </a:r>
          </a:p>
        </p:txBody>
      </p:sp>
      <p:sp>
        <p:nvSpPr>
          <p:cNvPr id="5" name="Rectangle 4"/>
          <p:cNvSpPr/>
          <p:nvPr/>
        </p:nvSpPr>
        <p:spPr>
          <a:xfrm>
            <a:off x="2011680"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2026/9</a:t>
            </a:r>
          </a:p>
        </p:txBody>
      </p:sp>
      <p:sp>
        <p:nvSpPr>
          <p:cNvPr id="6" name="Rectangle 5"/>
          <p:cNvSpPr/>
          <p:nvPr/>
        </p:nvSpPr>
        <p:spPr>
          <a:xfrm>
            <a:off x="2871216"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10月</a:t>
            </a:r>
          </a:p>
        </p:txBody>
      </p:sp>
      <p:sp>
        <p:nvSpPr>
          <p:cNvPr id="7" name="Rectangle 6"/>
          <p:cNvSpPr/>
          <p:nvPr/>
        </p:nvSpPr>
        <p:spPr>
          <a:xfrm>
            <a:off x="3730752"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11月</a:t>
            </a:r>
          </a:p>
        </p:txBody>
      </p:sp>
      <p:sp>
        <p:nvSpPr>
          <p:cNvPr id="8" name="Rectangle 7"/>
          <p:cNvSpPr/>
          <p:nvPr/>
        </p:nvSpPr>
        <p:spPr>
          <a:xfrm>
            <a:off x="4590288"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12月</a:t>
            </a:r>
          </a:p>
        </p:txBody>
      </p:sp>
      <p:sp>
        <p:nvSpPr>
          <p:cNvPr id="9" name="Rectangle 8"/>
          <p:cNvSpPr/>
          <p:nvPr/>
        </p:nvSpPr>
        <p:spPr>
          <a:xfrm>
            <a:off x="5449823"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2027/1</a:t>
            </a:r>
          </a:p>
        </p:txBody>
      </p:sp>
      <p:sp>
        <p:nvSpPr>
          <p:cNvPr id="10" name="Rectangle 9"/>
          <p:cNvSpPr/>
          <p:nvPr/>
        </p:nvSpPr>
        <p:spPr>
          <a:xfrm>
            <a:off x="6309359"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2月</a:t>
            </a:r>
          </a:p>
        </p:txBody>
      </p:sp>
      <p:sp>
        <p:nvSpPr>
          <p:cNvPr id="11" name="Rectangle 10"/>
          <p:cNvSpPr/>
          <p:nvPr/>
        </p:nvSpPr>
        <p:spPr>
          <a:xfrm>
            <a:off x="7168895"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3月</a:t>
            </a:r>
          </a:p>
        </p:txBody>
      </p:sp>
      <p:sp>
        <p:nvSpPr>
          <p:cNvPr id="12" name="Rectangle 11"/>
          <p:cNvSpPr/>
          <p:nvPr/>
        </p:nvSpPr>
        <p:spPr>
          <a:xfrm>
            <a:off x="8028431" y="1143000"/>
            <a:ext cx="859536"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950" b="0">
                <a:solidFill>
                  <a:srgbClr val="FFFFFF"/>
                </a:solidFill>
                <a:latin typeface="Meiryo UI"/>
                <a:ea typeface="Meiryo UI"/>
                <a:cs typeface="Meiryo UI"/>
              </a:rPr>
              <a:t>R9年度以降</a:t>
            </a:r>
          </a:p>
        </p:txBody>
      </p:sp>
      <p:sp>
        <p:nvSpPr>
          <p:cNvPr id="13" name="Rectangle 12"/>
          <p:cNvSpPr/>
          <p:nvPr/>
        </p:nvSpPr>
        <p:spPr>
          <a:xfrm>
            <a:off x="274320" y="1453896"/>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要求仕様の確定</a:t>
            </a:r>
          </a:p>
        </p:txBody>
      </p:sp>
      <p:sp>
        <p:nvSpPr>
          <p:cNvPr id="14" name="Rectangle 13"/>
          <p:cNvSpPr/>
          <p:nvPr/>
        </p:nvSpPr>
        <p:spPr>
          <a:xfrm>
            <a:off x="2011680" y="145389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15" name="Rectangle 14"/>
          <p:cNvSpPr/>
          <p:nvPr/>
        </p:nvSpPr>
        <p:spPr>
          <a:xfrm>
            <a:off x="2871216" y="145389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16" name="Rectangle 15"/>
          <p:cNvSpPr/>
          <p:nvPr/>
        </p:nvSpPr>
        <p:spPr>
          <a:xfrm>
            <a:off x="3730752" y="145389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17" name="Rectangle 16"/>
          <p:cNvSpPr/>
          <p:nvPr/>
        </p:nvSpPr>
        <p:spPr>
          <a:xfrm>
            <a:off x="4590288" y="145389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18" name="Rectangle 17"/>
          <p:cNvSpPr/>
          <p:nvPr/>
        </p:nvSpPr>
        <p:spPr>
          <a:xfrm>
            <a:off x="5449824" y="145389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19" name="Rectangle 18"/>
          <p:cNvSpPr/>
          <p:nvPr/>
        </p:nvSpPr>
        <p:spPr>
          <a:xfrm>
            <a:off x="6309359" y="145389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0" name="Rectangle 19"/>
          <p:cNvSpPr/>
          <p:nvPr/>
        </p:nvSpPr>
        <p:spPr>
          <a:xfrm>
            <a:off x="7168896" y="145389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1" name="Rectangle 20"/>
          <p:cNvSpPr/>
          <p:nvPr/>
        </p:nvSpPr>
        <p:spPr>
          <a:xfrm>
            <a:off x="8028432" y="145389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2" name="Rectangle 21"/>
          <p:cNvSpPr/>
          <p:nvPr/>
        </p:nvSpPr>
        <p:spPr>
          <a:xfrm>
            <a:off x="2048256" y="1554480"/>
            <a:ext cx="786384"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3" name="Rectangle 22"/>
          <p:cNvSpPr/>
          <p:nvPr/>
        </p:nvSpPr>
        <p:spPr>
          <a:xfrm>
            <a:off x="274320" y="1874520"/>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要件定義・基本設計</a:t>
            </a:r>
          </a:p>
        </p:txBody>
      </p:sp>
      <p:sp>
        <p:nvSpPr>
          <p:cNvPr id="24" name="Rectangle 23"/>
          <p:cNvSpPr/>
          <p:nvPr/>
        </p:nvSpPr>
        <p:spPr>
          <a:xfrm>
            <a:off x="2011680" y="187452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5" name="Rectangle 24"/>
          <p:cNvSpPr/>
          <p:nvPr/>
        </p:nvSpPr>
        <p:spPr>
          <a:xfrm>
            <a:off x="2871216" y="187452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6" name="Rectangle 25"/>
          <p:cNvSpPr/>
          <p:nvPr/>
        </p:nvSpPr>
        <p:spPr>
          <a:xfrm>
            <a:off x="3730752" y="187452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7" name="Rectangle 26"/>
          <p:cNvSpPr/>
          <p:nvPr/>
        </p:nvSpPr>
        <p:spPr>
          <a:xfrm>
            <a:off x="4590288" y="187452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8" name="Rectangle 27"/>
          <p:cNvSpPr/>
          <p:nvPr/>
        </p:nvSpPr>
        <p:spPr>
          <a:xfrm>
            <a:off x="5449824" y="187452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29" name="Rectangle 28"/>
          <p:cNvSpPr/>
          <p:nvPr/>
        </p:nvSpPr>
        <p:spPr>
          <a:xfrm>
            <a:off x="6309359" y="187452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0" name="Rectangle 29"/>
          <p:cNvSpPr/>
          <p:nvPr/>
        </p:nvSpPr>
        <p:spPr>
          <a:xfrm>
            <a:off x="7168896" y="187452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1" name="Rectangle 30"/>
          <p:cNvSpPr/>
          <p:nvPr/>
        </p:nvSpPr>
        <p:spPr>
          <a:xfrm>
            <a:off x="8028432" y="187452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2" name="Rectangle 31"/>
          <p:cNvSpPr/>
          <p:nvPr/>
        </p:nvSpPr>
        <p:spPr>
          <a:xfrm>
            <a:off x="2907792" y="1975104"/>
            <a:ext cx="1645919"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3" name="Rectangle 32"/>
          <p:cNvSpPr/>
          <p:nvPr/>
        </p:nvSpPr>
        <p:spPr>
          <a:xfrm>
            <a:off x="274320" y="2295144"/>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詳細設計・開発</a:t>
            </a:r>
          </a:p>
        </p:txBody>
      </p:sp>
      <p:sp>
        <p:nvSpPr>
          <p:cNvPr id="34" name="Rectangle 33"/>
          <p:cNvSpPr/>
          <p:nvPr/>
        </p:nvSpPr>
        <p:spPr>
          <a:xfrm>
            <a:off x="2011680" y="2295144"/>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5" name="Rectangle 34"/>
          <p:cNvSpPr/>
          <p:nvPr/>
        </p:nvSpPr>
        <p:spPr>
          <a:xfrm>
            <a:off x="2871216" y="2295144"/>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6" name="Rectangle 35"/>
          <p:cNvSpPr/>
          <p:nvPr/>
        </p:nvSpPr>
        <p:spPr>
          <a:xfrm>
            <a:off x="3730752" y="2295144"/>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7" name="Rectangle 36"/>
          <p:cNvSpPr/>
          <p:nvPr/>
        </p:nvSpPr>
        <p:spPr>
          <a:xfrm>
            <a:off x="4590288" y="2295144"/>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8" name="Rectangle 37"/>
          <p:cNvSpPr/>
          <p:nvPr/>
        </p:nvSpPr>
        <p:spPr>
          <a:xfrm>
            <a:off x="5449824" y="2295144"/>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39" name="Rectangle 38"/>
          <p:cNvSpPr/>
          <p:nvPr/>
        </p:nvSpPr>
        <p:spPr>
          <a:xfrm>
            <a:off x="6309359" y="2295144"/>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0" name="Rectangle 39"/>
          <p:cNvSpPr/>
          <p:nvPr/>
        </p:nvSpPr>
        <p:spPr>
          <a:xfrm>
            <a:off x="7168896" y="2295144"/>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1" name="Rectangle 40"/>
          <p:cNvSpPr/>
          <p:nvPr/>
        </p:nvSpPr>
        <p:spPr>
          <a:xfrm>
            <a:off x="8028432" y="2295144"/>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2" name="Rectangle 41"/>
          <p:cNvSpPr/>
          <p:nvPr/>
        </p:nvSpPr>
        <p:spPr>
          <a:xfrm>
            <a:off x="3767328" y="2395728"/>
            <a:ext cx="2505456"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3" name="Rectangle 42"/>
          <p:cNvSpPr/>
          <p:nvPr/>
        </p:nvSpPr>
        <p:spPr>
          <a:xfrm>
            <a:off x="274320" y="2715768"/>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テスト（結合・総合）</a:t>
            </a:r>
          </a:p>
        </p:txBody>
      </p:sp>
      <p:sp>
        <p:nvSpPr>
          <p:cNvPr id="44" name="Rectangle 43"/>
          <p:cNvSpPr/>
          <p:nvPr/>
        </p:nvSpPr>
        <p:spPr>
          <a:xfrm>
            <a:off x="2011680" y="2715768"/>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5" name="Rectangle 44"/>
          <p:cNvSpPr/>
          <p:nvPr/>
        </p:nvSpPr>
        <p:spPr>
          <a:xfrm>
            <a:off x="2871216" y="2715768"/>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6" name="Rectangle 45"/>
          <p:cNvSpPr/>
          <p:nvPr/>
        </p:nvSpPr>
        <p:spPr>
          <a:xfrm>
            <a:off x="3730752" y="2715768"/>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7" name="Rectangle 46"/>
          <p:cNvSpPr/>
          <p:nvPr/>
        </p:nvSpPr>
        <p:spPr>
          <a:xfrm>
            <a:off x="4590288" y="2715768"/>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8" name="Rectangle 47"/>
          <p:cNvSpPr/>
          <p:nvPr/>
        </p:nvSpPr>
        <p:spPr>
          <a:xfrm>
            <a:off x="5449824" y="2715768"/>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49" name="Rectangle 48"/>
          <p:cNvSpPr/>
          <p:nvPr/>
        </p:nvSpPr>
        <p:spPr>
          <a:xfrm>
            <a:off x="6309359" y="2715768"/>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0" name="Rectangle 49"/>
          <p:cNvSpPr/>
          <p:nvPr/>
        </p:nvSpPr>
        <p:spPr>
          <a:xfrm>
            <a:off x="7168896" y="2715768"/>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1" name="Rectangle 50"/>
          <p:cNvSpPr/>
          <p:nvPr/>
        </p:nvSpPr>
        <p:spPr>
          <a:xfrm>
            <a:off x="8028432" y="2715768"/>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2" name="Rectangle 51"/>
          <p:cNvSpPr/>
          <p:nvPr/>
        </p:nvSpPr>
        <p:spPr>
          <a:xfrm>
            <a:off x="6345936" y="2816352"/>
            <a:ext cx="786384"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3" name="Rectangle 52"/>
          <p:cNvSpPr/>
          <p:nvPr/>
        </p:nvSpPr>
        <p:spPr>
          <a:xfrm>
            <a:off x="274320" y="3136392"/>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ストア申請・リリース</a:t>
            </a:r>
          </a:p>
        </p:txBody>
      </p:sp>
      <p:sp>
        <p:nvSpPr>
          <p:cNvPr id="54" name="Rectangle 53"/>
          <p:cNvSpPr/>
          <p:nvPr/>
        </p:nvSpPr>
        <p:spPr>
          <a:xfrm>
            <a:off x="2011680" y="3136392"/>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5" name="Rectangle 54"/>
          <p:cNvSpPr/>
          <p:nvPr/>
        </p:nvSpPr>
        <p:spPr>
          <a:xfrm>
            <a:off x="2871216" y="3136392"/>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6" name="Rectangle 55"/>
          <p:cNvSpPr/>
          <p:nvPr/>
        </p:nvSpPr>
        <p:spPr>
          <a:xfrm>
            <a:off x="3730752" y="3136392"/>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7" name="Rectangle 56"/>
          <p:cNvSpPr/>
          <p:nvPr/>
        </p:nvSpPr>
        <p:spPr>
          <a:xfrm>
            <a:off x="4590288" y="3136392"/>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8" name="Rectangle 57"/>
          <p:cNvSpPr/>
          <p:nvPr/>
        </p:nvSpPr>
        <p:spPr>
          <a:xfrm>
            <a:off x="5449824" y="3136392"/>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59" name="Rectangle 58"/>
          <p:cNvSpPr/>
          <p:nvPr/>
        </p:nvSpPr>
        <p:spPr>
          <a:xfrm>
            <a:off x="6309359" y="3136392"/>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0" name="Rectangle 59"/>
          <p:cNvSpPr/>
          <p:nvPr/>
        </p:nvSpPr>
        <p:spPr>
          <a:xfrm>
            <a:off x="7168896" y="3136392"/>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1" name="Rectangle 60"/>
          <p:cNvSpPr/>
          <p:nvPr/>
        </p:nvSpPr>
        <p:spPr>
          <a:xfrm>
            <a:off x="8028432" y="3136392"/>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2" name="Rectangle 61"/>
          <p:cNvSpPr/>
          <p:nvPr/>
        </p:nvSpPr>
        <p:spPr>
          <a:xfrm>
            <a:off x="7205472" y="3236976"/>
            <a:ext cx="786384"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3" name="Rectangle 62"/>
          <p:cNvSpPr/>
          <p:nvPr/>
        </p:nvSpPr>
        <p:spPr>
          <a:xfrm>
            <a:off x="274320" y="3557016"/>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防災：概算お見積もり提出</a:t>
            </a:r>
          </a:p>
        </p:txBody>
      </p:sp>
      <p:sp>
        <p:nvSpPr>
          <p:cNvPr id="64" name="Rectangle 63"/>
          <p:cNvSpPr/>
          <p:nvPr/>
        </p:nvSpPr>
        <p:spPr>
          <a:xfrm>
            <a:off x="2011680" y="355701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5" name="Rectangle 64"/>
          <p:cNvSpPr/>
          <p:nvPr/>
        </p:nvSpPr>
        <p:spPr>
          <a:xfrm>
            <a:off x="2871216" y="355701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6" name="Rectangle 65"/>
          <p:cNvSpPr/>
          <p:nvPr/>
        </p:nvSpPr>
        <p:spPr>
          <a:xfrm>
            <a:off x="3730752" y="355701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7" name="Rectangle 66"/>
          <p:cNvSpPr/>
          <p:nvPr/>
        </p:nvSpPr>
        <p:spPr>
          <a:xfrm>
            <a:off x="4590288" y="355701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8" name="Rectangle 67"/>
          <p:cNvSpPr/>
          <p:nvPr/>
        </p:nvSpPr>
        <p:spPr>
          <a:xfrm>
            <a:off x="5449824" y="355701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69" name="Rectangle 68"/>
          <p:cNvSpPr/>
          <p:nvPr/>
        </p:nvSpPr>
        <p:spPr>
          <a:xfrm>
            <a:off x="6309359" y="355701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0" name="Rectangle 69"/>
          <p:cNvSpPr/>
          <p:nvPr/>
        </p:nvSpPr>
        <p:spPr>
          <a:xfrm>
            <a:off x="7168896" y="3557016"/>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1" name="Rectangle 70"/>
          <p:cNvSpPr/>
          <p:nvPr/>
        </p:nvSpPr>
        <p:spPr>
          <a:xfrm>
            <a:off x="8028432" y="3557016"/>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2" name="Rectangle 71"/>
          <p:cNvSpPr/>
          <p:nvPr/>
        </p:nvSpPr>
        <p:spPr>
          <a:xfrm>
            <a:off x="2048256" y="3657600"/>
            <a:ext cx="786384"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3" name="Rectangle 72"/>
          <p:cNvSpPr/>
          <p:nvPr/>
        </p:nvSpPr>
        <p:spPr>
          <a:xfrm>
            <a:off x="274320" y="3977640"/>
            <a:ext cx="1737360" cy="420624"/>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0">
                <a:solidFill>
                  <a:srgbClr val="00587A"/>
                </a:solidFill>
                <a:latin typeface="Meiryo UI"/>
                <a:ea typeface="Meiryo UI"/>
                <a:cs typeface="Meiryo UI"/>
              </a:rPr>
              <a:t>防災：同等機能の実装</a:t>
            </a:r>
          </a:p>
        </p:txBody>
      </p:sp>
      <p:sp>
        <p:nvSpPr>
          <p:cNvPr id="74" name="Rectangle 73"/>
          <p:cNvSpPr/>
          <p:nvPr/>
        </p:nvSpPr>
        <p:spPr>
          <a:xfrm>
            <a:off x="2011680" y="397764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5" name="Rectangle 74"/>
          <p:cNvSpPr/>
          <p:nvPr/>
        </p:nvSpPr>
        <p:spPr>
          <a:xfrm>
            <a:off x="2871216" y="397764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6" name="Rectangle 75"/>
          <p:cNvSpPr/>
          <p:nvPr/>
        </p:nvSpPr>
        <p:spPr>
          <a:xfrm>
            <a:off x="3730752" y="397764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7" name="Rectangle 76"/>
          <p:cNvSpPr/>
          <p:nvPr/>
        </p:nvSpPr>
        <p:spPr>
          <a:xfrm>
            <a:off x="4590288" y="397764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8" name="Rectangle 77"/>
          <p:cNvSpPr/>
          <p:nvPr/>
        </p:nvSpPr>
        <p:spPr>
          <a:xfrm>
            <a:off x="5449824" y="397764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79" name="Rectangle 78"/>
          <p:cNvSpPr/>
          <p:nvPr/>
        </p:nvSpPr>
        <p:spPr>
          <a:xfrm>
            <a:off x="6309359" y="397764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80" name="Rectangle 79"/>
          <p:cNvSpPr/>
          <p:nvPr/>
        </p:nvSpPr>
        <p:spPr>
          <a:xfrm>
            <a:off x="7168896" y="3977640"/>
            <a:ext cx="859536" cy="420624"/>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81" name="Rectangle 80"/>
          <p:cNvSpPr/>
          <p:nvPr/>
        </p:nvSpPr>
        <p:spPr>
          <a:xfrm>
            <a:off x="8028432" y="3977640"/>
            <a:ext cx="859536" cy="420624"/>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82" name="Rectangle 81"/>
          <p:cNvSpPr/>
          <p:nvPr/>
        </p:nvSpPr>
        <p:spPr>
          <a:xfrm>
            <a:off x="8065008" y="4078224"/>
            <a:ext cx="786384" cy="219456"/>
          </a:xfrm>
          <a:prstGeom prst="rect">
            <a:avLst/>
          </a:prstGeom>
          <a:solidFill>
            <a:srgbClr val="0081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50" b="0">
                <a:solidFill>
                  <a:srgbClr val="262626"/>
                </a:solidFill>
                <a:latin typeface="Meiryo UI"/>
                <a:ea typeface="Meiryo UI"/>
                <a:cs typeface="Meiryo UI"/>
              </a:rPr>
              <a:t/>
            </a:r>
          </a:p>
        </p:txBody>
      </p:sp>
      <p:sp>
        <p:nvSpPr>
          <p:cNvPr id="83" name="TextBox 82"/>
          <p:cNvSpPr txBox="1"/>
          <p:nvPr/>
        </p:nvSpPr>
        <p:spPr>
          <a:xfrm>
            <a:off x="274320" y="4535424"/>
            <a:ext cx="8595360" cy="1188720"/>
          </a:xfrm>
          <a:prstGeom prst="rect">
            <a:avLst/>
          </a:prstGeom>
          <a:noFill/>
        </p:spPr>
        <p:txBody>
          <a:bodyPr wrap="square" anchor="t" lIns="45720" rIns="45720" tIns="18288" bIns="18288">
            <a:spAutoFit/>
          </a:bodyPr>
          <a:lstStyle/>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防災機能拡張（同等機能の実装／浸水被害ARシミュレーション／避難所受付システム）の概算お見積もりは、2026年9月末までに提出します</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関連市町（廿日市市・江田島市・熊野町）への事前説明が必要となるため、実施時期は貴市と調整のうえ決定します</a:t>
            </a:r>
          </a:p>
          <a:p>
            <a:pPr algn="l" marL="202692" indent="-173355">
              <a:lnSpc>
                <a:spcPct val="112000"/>
              </a:lnSpc>
              <a:spcBef>
                <a:spcPts val="0"/>
              </a:spcBef>
              <a:spcAft>
                <a:spcPts val="300"/>
              </a:spcAft>
              <a:buClr>
                <a:srgbClr val="0081AF"/>
              </a:buClr>
              <a:buSzPct val="55000"/>
              <a:buFont typeface="Arial"/>
              <a:buChar char="●"/>
            </a:pPr>
            <a:r>
              <a:rPr sz="1050" b="0">
                <a:solidFill>
                  <a:srgbClr val="262626"/>
                </a:solidFill>
                <a:latin typeface="Meiryo UI"/>
                <a:ea typeface="Meiryo UI"/>
                <a:cs typeface="Meiryo UI"/>
              </a:rPr>
              <a:t>「休日保育予約」は別資料にて整理のうえ、スケジュールを別途ご提示します</a:t>
            </a:r>
          </a:p>
        </p:txBody>
      </p:sp>
      <p:sp>
        <p:nvSpPr>
          <p:cNvPr id="84" name="TextBox 83"/>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期間は現時点の目安であり、要求仕様の確定内容および貴市の調達手続に応じて調整します。</a:t>
            </a:r>
          </a:p>
        </p:txBody>
      </p:sp>
      <p:sp>
        <p:nvSpPr>
          <p:cNvPr id="85" name="TextBox 84"/>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8-2．今後の進め方とご確認事項</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以下の事項についてご確認・ご指示をいただき、要求仕様を確定させていただきたく存じます。</a:t>
            </a:r>
          </a:p>
        </p:txBody>
      </p:sp>
      <p:sp>
        <p:nvSpPr>
          <p:cNvPr id="4" name="Rectangle 3"/>
          <p:cNvSpPr/>
          <p:nvPr/>
        </p:nvSpPr>
        <p:spPr>
          <a:xfrm>
            <a:off x="274320" y="1097280"/>
            <a:ext cx="68580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No</a:t>
            </a:r>
          </a:p>
        </p:txBody>
      </p:sp>
      <p:sp>
        <p:nvSpPr>
          <p:cNvPr id="5" name="Rectangle 4"/>
          <p:cNvSpPr/>
          <p:nvPr/>
        </p:nvSpPr>
        <p:spPr>
          <a:xfrm>
            <a:off x="960120" y="1097280"/>
            <a:ext cx="233172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区分</a:t>
            </a:r>
          </a:p>
        </p:txBody>
      </p:sp>
      <p:sp>
        <p:nvSpPr>
          <p:cNvPr id="6" name="Rectangle 5"/>
          <p:cNvSpPr/>
          <p:nvPr/>
        </p:nvSpPr>
        <p:spPr>
          <a:xfrm>
            <a:off x="3291839" y="1097280"/>
            <a:ext cx="557784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ご確認事項</a:t>
            </a:r>
          </a:p>
        </p:txBody>
      </p:sp>
      <p:sp>
        <p:nvSpPr>
          <p:cNvPr id="7" name="Rectangle 6"/>
          <p:cNvSpPr/>
          <p:nvPr/>
        </p:nvSpPr>
        <p:spPr>
          <a:xfrm>
            <a:off x="274320" y="1408176"/>
            <a:ext cx="68580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1</a:t>
            </a:r>
          </a:p>
        </p:txBody>
      </p:sp>
      <p:sp>
        <p:nvSpPr>
          <p:cNvPr id="8" name="Rectangle 7"/>
          <p:cNvSpPr/>
          <p:nvPr/>
        </p:nvSpPr>
        <p:spPr>
          <a:xfrm>
            <a:off x="960120" y="1408176"/>
            <a:ext cx="233172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A．広島市モード</a:t>
            </a:r>
          </a:p>
        </p:txBody>
      </p:sp>
      <p:sp>
        <p:nvSpPr>
          <p:cNvPr id="9" name="Rectangle 8"/>
          <p:cNvSpPr/>
          <p:nvPr/>
        </p:nvSpPr>
        <p:spPr>
          <a:xfrm>
            <a:off x="3291839" y="1408176"/>
            <a:ext cx="5577840" cy="566928"/>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広島市モードのON／OFF初期設定ルール（郵便番号登録済・広島市内＝ON／市外＝OFF／未登録＝ユーザに確認）でよいか</a:t>
            </a:r>
          </a:p>
        </p:txBody>
      </p:sp>
      <p:sp>
        <p:nvSpPr>
          <p:cNvPr id="10" name="Rectangle 9"/>
          <p:cNvSpPr/>
          <p:nvPr/>
        </p:nvSpPr>
        <p:spPr>
          <a:xfrm>
            <a:off x="274320" y="1975104"/>
            <a:ext cx="68580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2</a:t>
            </a:r>
          </a:p>
        </p:txBody>
      </p:sp>
      <p:sp>
        <p:nvSpPr>
          <p:cNvPr id="11" name="Rectangle 10"/>
          <p:cNvSpPr/>
          <p:nvPr/>
        </p:nvSpPr>
        <p:spPr>
          <a:xfrm>
            <a:off x="960120" y="1975104"/>
            <a:ext cx="233172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A．広島市モード</a:t>
            </a:r>
          </a:p>
        </p:txBody>
      </p:sp>
      <p:sp>
        <p:nvSpPr>
          <p:cNvPr id="12" name="Rectangle 11"/>
          <p:cNvSpPr/>
          <p:nvPr/>
        </p:nvSpPr>
        <p:spPr>
          <a:xfrm>
            <a:off x="3291839" y="1975104"/>
            <a:ext cx="557784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お知らせのエリア区分（市全域／各区）とカテゴリ体系（子育て／保育／防災／健康／イベント／その他）の妥当性</a:t>
            </a:r>
          </a:p>
        </p:txBody>
      </p:sp>
      <p:sp>
        <p:nvSpPr>
          <p:cNvPr id="13" name="Rectangle 12"/>
          <p:cNvSpPr/>
          <p:nvPr/>
        </p:nvSpPr>
        <p:spPr>
          <a:xfrm>
            <a:off x="274320" y="2542032"/>
            <a:ext cx="685800" cy="43891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3</a:t>
            </a:r>
          </a:p>
        </p:txBody>
      </p:sp>
      <p:sp>
        <p:nvSpPr>
          <p:cNvPr id="14" name="Rectangle 13"/>
          <p:cNvSpPr/>
          <p:nvPr/>
        </p:nvSpPr>
        <p:spPr>
          <a:xfrm>
            <a:off x="960120" y="2542032"/>
            <a:ext cx="233172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B．電子申請</a:t>
            </a:r>
          </a:p>
        </p:txBody>
      </p:sp>
      <p:sp>
        <p:nvSpPr>
          <p:cNvPr id="15" name="Rectangle 14"/>
          <p:cNvSpPr/>
          <p:nvPr/>
        </p:nvSpPr>
        <p:spPr>
          <a:xfrm>
            <a:off x="3291839" y="2542032"/>
            <a:ext cx="557784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遷移先URLおよび遷移方式（外部ブラウザ起動）でよいか。認証連携の要否</a:t>
            </a:r>
          </a:p>
        </p:txBody>
      </p:sp>
      <p:sp>
        <p:nvSpPr>
          <p:cNvPr id="16" name="Rectangle 15"/>
          <p:cNvSpPr/>
          <p:nvPr/>
        </p:nvSpPr>
        <p:spPr>
          <a:xfrm>
            <a:off x="274320" y="2980944"/>
            <a:ext cx="685800" cy="56692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4</a:t>
            </a:r>
          </a:p>
        </p:txBody>
      </p:sp>
      <p:sp>
        <p:nvSpPr>
          <p:cNvPr id="17" name="Rectangle 16"/>
          <p:cNvSpPr/>
          <p:nvPr/>
        </p:nvSpPr>
        <p:spPr>
          <a:xfrm>
            <a:off x="960120" y="2980944"/>
            <a:ext cx="233172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C．広報</a:t>
            </a:r>
          </a:p>
        </p:txBody>
      </p:sp>
      <p:sp>
        <p:nvSpPr>
          <p:cNvPr id="18" name="Rectangle 17"/>
          <p:cNvSpPr/>
          <p:nvPr/>
        </p:nvSpPr>
        <p:spPr>
          <a:xfrm>
            <a:off x="3291839" y="2980944"/>
            <a:ext cx="5577840" cy="56692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対象とする広報紙（市民と市政／ひろしま市議会だより／区報／Hiroshima NOW 等）、発行元・対象区、バックナンバーの保持期間</a:t>
            </a:r>
          </a:p>
        </p:txBody>
      </p:sp>
      <p:sp>
        <p:nvSpPr>
          <p:cNvPr id="19" name="Rectangle 18"/>
          <p:cNvSpPr/>
          <p:nvPr/>
        </p:nvSpPr>
        <p:spPr>
          <a:xfrm>
            <a:off x="274320" y="3547872"/>
            <a:ext cx="685800" cy="43891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5</a:t>
            </a:r>
          </a:p>
        </p:txBody>
      </p:sp>
      <p:sp>
        <p:nvSpPr>
          <p:cNvPr id="20" name="Rectangle 19"/>
          <p:cNvSpPr/>
          <p:nvPr/>
        </p:nvSpPr>
        <p:spPr>
          <a:xfrm>
            <a:off x="960120" y="3547872"/>
            <a:ext cx="233172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C．広報</a:t>
            </a:r>
          </a:p>
        </p:txBody>
      </p:sp>
      <p:sp>
        <p:nvSpPr>
          <p:cNvPr id="21" name="Rectangle 20"/>
          <p:cNvSpPr/>
          <p:nvPr/>
        </p:nvSpPr>
        <p:spPr>
          <a:xfrm>
            <a:off x="3291839" y="3547872"/>
            <a:ext cx="557784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入稿・公開・配信承認フローの運用主体と権限（起案／承認）の設定</a:t>
            </a:r>
          </a:p>
        </p:txBody>
      </p:sp>
      <p:sp>
        <p:nvSpPr>
          <p:cNvPr id="22" name="Rectangle 21"/>
          <p:cNvSpPr/>
          <p:nvPr/>
        </p:nvSpPr>
        <p:spPr>
          <a:xfrm>
            <a:off x="274320" y="3986784"/>
            <a:ext cx="685800" cy="36576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6</a:t>
            </a:r>
          </a:p>
        </p:txBody>
      </p:sp>
      <p:sp>
        <p:nvSpPr>
          <p:cNvPr id="23" name="Rectangle 22"/>
          <p:cNvSpPr/>
          <p:nvPr/>
        </p:nvSpPr>
        <p:spPr>
          <a:xfrm>
            <a:off x="960120" y="3986784"/>
            <a:ext cx="2331720" cy="36576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D．防災</a:t>
            </a:r>
          </a:p>
        </p:txBody>
      </p:sp>
      <p:sp>
        <p:nvSpPr>
          <p:cNvPr id="24" name="Rectangle 23"/>
          <p:cNvSpPr/>
          <p:nvPr/>
        </p:nvSpPr>
        <p:spPr>
          <a:xfrm>
            <a:off x="3291839" y="3986784"/>
            <a:ext cx="5577840" cy="36576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「避難所へGo!」への遷移方式（アプリ起動／ストア誘導）でよいか</a:t>
            </a:r>
          </a:p>
        </p:txBody>
      </p:sp>
      <p:sp>
        <p:nvSpPr>
          <p:cNvPr id="25" name="Rectangle 24"/>
          <p:cNvSpPr/>
          <p:nvPr/>
        </p:nvSpPr>
        <p:spPr>
          <a:xfrm>
            <a:off x="274320" y="4352544"/>
            <a:ext cx="685800" cy="438912"/>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7</a:t>
            </a:r>
          </a:p>
        </p:txBody>
      </p:sp>
      <p:sp>
        <p:nvSpPr>
          <p:cNvPr id="26" name="Rectangle 25"/>
          <p:cNvSpPr/>
          <p:nvPr/>
        </p:nvSpPr>
        <p:spPr>
          <a:xfrm>
            <a:off x="960120" y="4352544"/>
            <a:ext cx="233172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D．防災</a:t>
            </a:r>
          </a:p>
        </p:txBody>
      </p:sp>
      <p:sp>
        <p:nvSpPr>
          <p:cNvPr id="27" name="Rectangle 26"/>
          <p:cNvSpPr/>
          <p:nvPr/>
        </p:nvSpPr>
        <p:spPr>
          <a:xfrm>
            <a:off x="3291839" y="4352544"/>
            <a:ext cx="5577840" cy="438912"/>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R9年度以降の機能拡張の優先順位、および関連市町への事前説明の進め方</a:t>
            </a:r>
          </a:p>
        </p:txBody>
      </p:sp>
      <p:sp>
        <p:nvSpPr>
          <p:cNvPr id="28" name="Rectangle 27"/>
          <p:cNvSpPr/>
          <p:nvPr/>
        </p:nvSpPr>
        <p:spPr>
          <a:xfrm>
            <a:off x="274320" y="4791456"/>
            <a:ext cx="685800" cy="36576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8</a:t>
            </a:r>
          </a:p>
        </p:txBody>
      </p:sp>
      <p:sp>
        <p:nvSpPr>
          <p:cNvPr id="29" name="Rectangle 28"/>
          <p:cNvSpPr/>
          <p:nvPr/>
        </p:nvSpPr>
        <p:spPr>
          <a:xfrm>
            <a:off x="960120" y="4791456"/>
            <a:ext cx="2331720" cy="36576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共通</a:t>
            </a:r>
          </a:p>
        </p:txBody>
      </p:sp>
      <p:sp>
        <p:nvSpPr>
          <p:cNvPr id="30" name="Rectangle 29"/>
          <p:cNvSpPr/>
          <p:nvPr/>
        </p:nvSpPr>
        <p:spPr>
          <a:xfrm>
            <a:off x="3291839" y="4791456"/>
            <a:ext cx="5577840" cy="36576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「休日保育予約」との連携範囲（別資料にて整理）</a:t>
            </a:r>
          </a:p>
        </p:txBody>
      </p:sp>
      <p:sp>
        <p:nvSpPr>
          <p:cNvPr id="31" name="TextBox 30"/>
          <p:cNvSpPr txBox="1"/>
          <p:nvPr/>
        </p:nvSpPr>
        <p:spPr>
          <a:xfrm>
            <a:off x="274320" y="6327648"/>
            <a:ext cx="8595360" cy="27432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900" b="0">
                <a:solidFill>
                  <a:srgbClr val="77888E"/>
                </a:solidFill>
                <a:latin typeface="Meiryo UI"/>
                <a:ea typeface="Meiryo UI"/>
                <a:cs typeface="Meiryo UI"/>
              </a:rPr>
              <a:t>※ ご回答内容を踏まえ、要求仕様書として整理のうえ改めてご提示いたします。</a:t>
            </a:r>
          </a:p>
        </p:txBody>
      </p:sp>
      <p:sp>
        <p:nvSpPr>
          <p:cNvPr id="32" name="TextBox 31"/>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869680" cy="347472"/>
          </a:xfrm>
          <a:prstGeom prst="rect">
            <a:avLst/>
          </a:prstGeom>
          <a:noFill/>
        </p:spPr>
        <p:txBody>
          <a:bodyPr wrap="square" anchor="ctr" lIns="45720" rIns="45720" tIns="18288" bIns="18288">
            <a:spAutoFit/>
          </a:bodyPr>
          <a:lstStyle/>
          <a:p>
            <a:pPr algn="l" marL="0" indent="0">
              <a:lnSpc>
                <a:spcPct val="112000"/>
              </a:lnSpc>
              <a:spcBef>
                <a:spcPts val="0"/>
              </a:spcBef>
              <a:spcAft>
                <a:spcPts val="300"/>
              </a:spcAft>
              <a:buNone/>
            </a:pPr>
            <a:r>
              <a:rPr sz="2000" b="0">
                <a:solidFill>
                  <a:srgbClr val="000000"/>
                </a:solidFill>
                <a:latin typeface="Meiryo UI"/>
                <a:ea typeface="Meiryo UI"/>
                <a:cs typeface="Meiryo UI"/>
              </a:rPr>
              <a:t>別紙一覧</a:t>
            </a:r>
          </a:p>
        </p:txBody>
      </p:sp>
      <p:sp>
        <p:nvSpPr>
          <p:cNvPr id="3" name="TextBox 2"/>
          <p:cNvSpPr txBox="1"/>
          <p:nvPr/>
        </p:nvSpPr>
        <p:spPr>
          <a:xfrm>
            <a:off x="274320" y="576072"/>
            <a:ext cx="8595360" cy="384048"/>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200" b="0">
                <a:solidFill>
                  <a:srgbClr val="262626"/>
                </a:solidFill>
                <a:latin typeface="Meiryo UI"/>
                <a:ea typeface="Meiryo UI"/>
                <a:cs typeface="Meiryo UI"/>
              </a:rPr>
              <a:t>本資料は、以下の別紙とあわせてご確認ください。</a:t>
            </a:r>
          </a:p>
        </p:txBody>
      </p:sp>
      <p:sp>
        <p:nvSpPr>
          <p:cNvPr id="4" name="Rectangle 3"/>
          <p:cNvSpPr/>
          <p:nvPr/>
        </p:nvSpPr>
        <p:spPr>
          <a:xfrm>
            <a:off x="274320" y="1143000"/>
            <a:ext cx="310896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資料名</a:t>
            </a:r>
          </a:p>
        </p:txBody>
      </p:sp>
      <p:sp>
        <p:nvSpPr>
          <p:cNvPr id="5" name="Rectangle 4"/>
          <p:cNvSpPr/>
          <p:nvPr/>
        </p:nvSpPr>
        <p:spPr>
          <a:xfrm>
            <a:off x="3383279" y="1143000"/>
            <a:ext cx="5486400" cy="310896"/>
          </a:xfrm>
          <a:prstGeom prst="rect">
            <a:avLst/>
          </a:prstGeom>
          <a:solidFill>
            <a:srgbClr val="0081A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100" b="0">
                <a:solidFill>
                  <a:srgbClr val="FFFFFF"/>
                </a:solidFill>
                <a:latin typeface="Meiryo UI"/>
                <a:ea typeface="Meiryo UI"/>
                <a:cs typeface="Meiryo UI"/>
              </a:rPr>
              <a:t>内容</a:t>
            </a:r>
          </a:p>
        </p:txBody>
      </p:sp>
      <p:sp>
        <p:nvSpPr>
          <p:cNvPr id="6" name="Rectangle 5"/>
          <p:cNvSpPr/>
          <p:nvPr/>
        </p:nvSpPr>
        <p:spPr>
          <a:xfrm>
            <a:off x="274320" y="1453896"/>
            <a:ext cx="3108960" cy="82296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アプリワイヤーフレーム</a:t>
            </a:r>
          </a:p>
          <a:p>
            <a:pPr algn="ctr" marL="0" indent="0">
              <a:lnSpc>
                <a:spcPct val="112000"/>
              </a:lnSpc>
              <a:spcBef>
                <a:spcPts val="0"/>
              </a:spcBef>
              <a:spcAft>
                <a:spcPts val="300"/>
              </a:spcAft>
              <a:buNone/>
            </a:pPr>
            <a:r>
              <a:rPr sz="1000" b="1">
                <a:solidFill>
                  <a:srgbClr val="00587A"/>
                </a:solidFill>
                <a:latin typeface="Meiryo UI"/>
                <a:ea typeface="Meiryo UI"/>
                <a:cs typeface="Meiryo UI"/>
              </a:rPr>
              <a:t>_draft1_20260824.pdf</a:t>
            </a:r>
          </a:p>
        </p:txBody>
      </p:sp>
      <p:sp>
        <p:nvSpPr>
          <p:cNvPr id="7" name="Rectangle 6"/>
          <p:cNvSpPr/>
          <p:nvPr/>
        </p:nvSpPr>
        <p:spPr>
          <a:xfrm>
            <a:off x="3383279" y="1453896"/>
            <a:ext cx="5486400" cy="82296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広島市モードホーム、電子申請、広報誌、防災アプリ連携、お知らせ、広島市モード表示設定のアプリUIイメージおよび要求仕様の注記</a:t>
            </a:r>
          </a:p>
        </p:txBody>
      </p:sp>
      <p:sp>
        <p:nvSpPr>
          <p:cNvPr id="8" name="Rectangle 7"/>
          <p:cNvSpPr/>
          <p:nvPr/>
        </p:nvSpPr>
        <p:spPr>
          <a:xfrm>
            <a:off x="274320" y="2276856"/>
            <a:ext cx="3108960" cy="658368"/>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管理画面ワイヤーフレーム</a:t>
            </a:r>
          </a:p>
          <a:p>
            <a:pPr algn="ctr" marL="0" indent="0">
              <a:lnSpc>
                <a:spcPct val="112000"/>
              </a:lnSpc>
              <a:spcBef>
                <a:spcPts val="0"/>
              </a:spcBef>
              <a:spcAft>
                <a:spcPts val="300"/>
              </a:spcAft>
              <a:buNone/>
            </a:pPr>
            <a:r>
              <a:rPr sz="1000" b="1">
                <a:solidFill>
                  <a:srgbClr val="00587A"/>
                </a:solidFill>
                <a:latin typeface="Meiryo UI"/>
                <a:ea typeface="Meiryo UI"/>
                <a:cs typeface="Meiryo UI"/>
              </a:rPr>
              <a:t>_draft1_20260824.pdf</a:t>
            </a:r>
          </a:p>
        </p:txBody>
      </p:sp>
      <p:sp>
        <p:nvSpPr>
          <p:cNvPr id="9" name="Rectangle 8"/>
          <p:cNvSpPr/>
          <p:nvPr/>
        </p:nvSpPr>
        <p:spPr>
          <a:xfrm>
            <a:off x="3383279" y="2276856"/>
            <a:ext cx="5486400" cy="658368"/>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広報誌管理一覧、号数管理（新しい号の登録・編集）、配信・承認管理の管理画面UIイメージ</a:t>
            </a:r>
          </a:p>
        </p:txBody>
      </p:sp>
      <p:sp>
        <p:nvSpPr>
          <p:cNvPr id="10" name="Rectangle 9"/>
          <p:cNvSpPr/>
          <p:nvPr/>
        </p:nvSpPr>
        <p:spPr>
          <a:xfrm>
            <a:off x="274320" y="2935224"/>
            <a:ext cx="3108960" cy="7315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20260824_現状機能概要まとめ.xlsx</a:t>
            </a:r>
          </a:p>
        </p:txBody>
      </p:sp>
      <p:sp>
        <p:nvSpPr>
          <p:cNvPr id="11" name="Rectangle 10"/>
          <p:cNvSpPr/>
          <p:nvPr/>
        </p:nvSpPr>
        <p:spPr>
          <a:xfrm>
            <a:off x="3383279" y="2935224"/>
            <a:ext cx="5486400" cy="7315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「避難所へGo!」の現行機能を項番単位で整理した一覧（仕様書該当内容・現行アプリ挙動確認結果・重要性評価）</a:t>
            </a:r>
          </a:p>
        </p:txBody>
      </p:sp>
      <p:sp>
        <p:nvSpPr>
          <p:cNvPr id="12" name="Rectangle 11"/>
          <p:cNvSpPr/>
          <p:nvPr/>
        </p:nvSpPr>
        <p:spPr>
          <a:xfrm>
            <a:off x="274320" y="3666744"/>
            <a:ext cx="3108960" cy="7315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（参考）追記_20260814_避難所へGo!</a:t>
            </a:r>
          </a:p>
          <a:p>
            <a:pPr algn="ctr" marL="0" indent="0">
              <a:lnSpc>
                <a:spcPct val="112000"/>
              </a:lnSpc>
              <a:spcBef>
                <a:spcPts val="0"/>
              </a:spcBef>
              <a:spcAft>
                <a:spcPts val="300"/>
              </a:spcAft>
              <a:buNone/>
            </a:pPr>
            <a:r>
              <a:rPr sz="1000" b="1">
                <a:solidFill>
                  <a:srgbClr val="00587A"/>
                </a:solidFill>
                <a:latin typeface="Meiryo UI"/>
                <a:ea typeface="Meiryo UI"/>
                <a:cs typeface="Meiryo UI"/>
              </a:rPr>
              <a:t>機能拡張ロードマップ(案).pptx</a:t>
            </a:r>
          </a:p>
        </p:txBody>
      </p:sp>
      <p:sp>
        <p:nvSpPr>
          <p:cNvPr id="13" name="Rectangle 12"/>
          <p:cNvSpPr/>
          <p:nvPr/>
        </p:nvSpPr>
        <p:spPr>
          <a:xfrm>
            <a:off x="3383279" y="3666744"/>
            <a:ext cx="5486400" cy="731520"/>
          </a:xfrm>
          <a:prstGeom prst="rect">
            <a:avLst/>
          </a:prstGeom>
          <a:solidFill>
            <a:srgbClr val="F7FAFB"/>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防災アプリの機能拡張ロードマップおよび防災×としポ企画案</a:t>
            </a:r>
          </a:p>
        </p:txBody>
      </p:sp>
      <p:sp>
        <p:nvSpPr>
          <p:cNvPr id="14" name="Rectangle 13"/>
          <p:cNvSpPr/>
          <p:nvPr/>
        </p:nvSpPr>
        <p:spPr>
          <a:xfrm>
            <a:off x="274320" y="4398264"/>
            <a:ext cx="3108960" cy="731520"/>
          </a:xfrm>
          <a:prstGeom prst="rect">
            <a:avLst/>
          </a:prstGeom>
          <a:solidFill>
            <a:srgbClr val="F0F5F7"/>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marL="0" indent="0">
              <a:lnSpc>
                <a:spcPct val="112000"/>
              </a:lnSpc>
              <a:spcBef>
                <a:spcPts val="0"/>
              </a:spcBef>
              <a:spcAft>
                <a:spcPts val="300"/>
              </a:spcAft>
              <a:buNone/>
            </a:pPr>
            <a:r>
              <a:rPr sz="1000" b="1">
                <a:solidFill>
                  <a:srgbClr val="00587A"/>
                </a:solidFill>
                <a:latin typeface="Meiryo UI"/>
                <a:ea typeface="Meiryo UI"/>
                <a:cs typeface="Meiryo UI"/>
              </a:rPr>
              <a:t>（参考）（修正版）20251126【広島市御中】</a:t>
            </a:r>
          </a:p>
          <a:p>
            <a:pPr algn="ctr" marL="0" indent="0">
              <a:lnSpc>
                <a:spcPct val="112000"/>
              </a:lnSpc>
              <a:spcBef>
                <a:spcPts val="0"/>
              </a:spcBef>
              <a:spcAft>
                <a:spcPts val="300"/>
              </a:spcAft>
              <a:buNone/>
            </a:pPr>
            <a:r>
              <a:rPr sz="1000" b="1">
                <a:solidFill>
                  <a:srgbClr val="00587A"/>
                </a:solidFill>
                <a:latin typeface="Meiryo UI"/>
                <a:ea typeface="Meiryo UI"/>
                <a:cs typeface="Meiryo UI"/>
              </a:rPr>
              <a:t>よむすび機能説明資料.pptx</a:t>
            </a:r>
          </a:p>
        </p:txBody>
      </p:sp>
      <p:sp>
        <p:nvSpPr>
          <p:cNvPr id="15" name="Rectangle 14"/>
          <p:cNvSpPr/>
          <p:nvPr/>
        </p:nvSpPr>
        <p:spPr>
          <a:xfrm>
            <a:off x="3383279" y="4398264"/>
            <a:ext cx="5486400" cy="731520"/>
          </a:xfrm>
          <a:prstGeom prst="rect">
            <a:avLst/>
          </a:prstGeom>
          <a:solidFill>
            <a:srgbClr val="FFFFFF"/>
          </a:solidFill>
          <a:ln w="6350">
            <a:solidFill>
              <a:srgbClr val="D8E2E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l" marL="0" indent="0">
              <a:lnSpc>
                <a:spcPct val="112000"/>
              </a:lnSpc>
              <a:spcBef>
                <a:spcPts val="0"/>
              </a:spcBef>
              <a:spcAft>
                <a:spcPts val="300"/>
              </a:spcAft>
              <a:buNone/>
            </a:pPr>
            <a:r>
              <a:rPr sz="1000" b="0">
                <a:solidFill>
                  <a:srgbClr val="262626"/>
                </a:solidFill>
                <a:latin typeface="Meiryo UI"/>
                <a:ea typeface="Meiryo UI"/>
                <a:cs typeface="Meiryo UI"/>
              </a:rPr>
              <a:t>スーパーアプリのコンセプト、ミニアプリ（電子申請・住民との連絡機能・各種防災機能）、分析機能</a:t>
            </a:r>
          </a:p>
        </p:txBody>
      </p:sp>
      <p:sp>
        <p:nvSpPr>
          <p:cNvPr id="16" name="TextBox 15"/>
          <p:cNvSpPr txBox="1"/>
          <p:nvPr/>
        </p:nvSpPr>
        <p:spPr>
          <a:xfrm>
            <a:off x="274320" y="5760720"/>
            <a:ext cx="8595360" cy="548640"/>
          </a:xfrm>
          <a:prstGeom prst="rect">
            <a:avLst/>
          </a:prstGeom>
          <a:noFill/>
        </p:spPr>
        <p:txBody>
          <a:bodyPr wrap="square" anchor="t" lIns="45720" rIns="45720" tIns="18288" bIns="18288">
            <a:spAutoFit/>
          </a:bodyPr>
          <a:lstStyle/>
          <a:p>
            <a:pPr algn="l" marL="0" indent="0">
              <a:lnSpc>
                <a:spcPct val="112000"/>
              </a:lnSpc>
              <a:spcBef>
                <a:spcPts val="0"/>
              </a:spcBef>
              <a:spcAft>
                <a:spcPts val="300"/>
              </a:spcAft>
              <a:buNone/>
            </a:pPr>
            <a:r>
              <a:rPr sz="1050" b="0">
                <a:solidFill>
                  <a:srgbClr val="00587A"/>
                </a:solidFill>
                <a:latin typeface="Meiryo UI"/>
                <a:ea typeface="Meiryo UI"/>
                <a:cs typeface="Meiryo UI"/>
              </a:rPr>
              <a:t>本ご提案に関するお問い合わせ先：フェリカポケットマーケティング株式会社</a:t>
            </a:r>
          </a:p>
        </p:txBody>
      </p:sp>
      <p:sp>
        <p:nvSpPr>
          <p:cNvPr id="17" name="TextBox 16"/>
          <p:cNvSpPr txBox="1"/>
          <p:nvPr/>
        </p:nvSpPr>
        <p:spPr>
          <a:xfrm>
            <a:off x="8275320" y="6446520"/>
            <a:ext cx="640080" cy="237744"/>
          </a:xfrm>
          <a:prstGeom prst="rect">
            <a:avLst/>
          </a:prstGeom>
          <a:noFill/>
        </p:spPr>
        <p:txBody>
          <a:bodyPr wrap="square" anchor="t" lIns="45720" rIns="45720" tIns="18288" bIns="18288">
            <a:spAutoFit/>
          </a:bodyPr>
          <a:lstStyle/>
          <a:p>
            <a:pPr algn="r" marL="0" indent="0">
              <a:lnSpc>
                <a:spcPct val="112000"/>
              </a:lnSpc>
              <a:spcBef>
                <a:spcPts val="0"/>
              </a:spcBef>
              <a:spcAft>
                <a:spcPts val="300"/>
              </a:spcAft>
              <a:buNone/>
            </a:pPr>
            <a:r>
              <a:rPr sz="900" b="0">
                <a:solidFill>
                  <a:srgbClr val="77888E"/>
                </a:solidFill>
                <a:latin typeface="Meiryo UI"/>
                <a:ea typeface="Meiryo UI"/>
                <a:cs typeface="Meiryo UI"/>
              </a:rPr>
              <a:t>26</a:t>
            </a: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olidFill>
            <a:srgbClr val="00B0F0"/>
          </a:solidFill>
          <a:headEnd type="none" w="lg" len="lg"/>
          <a:tailEnd type="arrow" w="lg" len="lg"/>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2_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accent5">
              <a:lumMod val="50000"/>
            </a:schemeClr>
          </a:solidFill>
          <a:headEnd type="triangle" w="lg" len="lg"/>
          <a:tailEnd type="none" w="lg" len="lg"/>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1_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14455</TotalTime>
  <Words>605</Words>
  <Application>Microsoft Macintosh PowerPoint</Application>
  <PresentationFormat>画面に合わせる (4:3)</PresentationFormat>
  <Paragraphs>143</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3</vt:i4>
      </vt:variant>
      <vt:variant>
        <vt:lpstr>スライド タイトル</vt:lpstr>
      </vt:variant>
      <vt:variant>
        <vt:i4>7</vt:i4>
      </vt:variant>
    </vt:vector>
  </HeadingPairs>
  <TitlesOfParts>
    <vt:vector size="14" baseType="lpstr">
      <vt:lpstr>Meiryo UI</vt:lpstr>
      <vt:lpstr>Arial</vt:lpstr>
      <vt:lpstr>Calibri</vt:lpstr>
      <vt:lpstr>Times New Roman</vt:lpstr>
      <vt:lpstr>Office ​​テーマ</vt:lpstr>
      <vt:lpstr>2_Office ​​テーマ</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aeon</dc:creator>
  <cp:lastModifiedBy>井出洋輔</cp:lastModifiedBy>
  <cp:revision>1929</cp:revision>
  <cp:lastPrinted>2023-07-11T00:31:26Z</cp:lastPrinted>
  <dcterms:modified xsi:type="dcterms:W3CDTF">2026-08-23T22:34:07Z</dcterms:modified>
</cp:coreProperties>
</file>